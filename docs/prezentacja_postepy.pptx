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prowadzenie" id="{9f792a53-830f-8634-4c6b-eb0cd7be41d9}">
          <p14:sldIdLst>
            <p14:sldId id="256"/>
            <p14:sldId id="257"/>
            <p14:sldId id="258"/>
            <p14:sldId id="259"/>
          </p14:sldIdLst>
        </p14:section>
        <p14:section name="Dane i etykiety" id="{c3531a53-bccc-b061-5d30-1e0ffb342f79}">
          <p14:sldIdLst>
            <p14:sldId id="260"/>
            <p14:sldId id="261"/>
            <p14:sldId id="262"/>
          </p14:sldIdLst>
        </p14:section>
        <p14:section name="Router" id="{6d8d1785-5f62-84ca-7ac3-1ea253b93b1d}">
          <p14:sldIdLst>
            <p14:sldId id="263"/>
            <p14:sldId id="264"/>
          </p14:sldIdLst>
        </p14:section>
        <p14:section name="Wyniki" id="{186936ac-1291-99a7-c4b4-8d6c00aaad95}">
          <p14:sldIdLst>
            <p14:sldId id="265"/>
            <p14:sldId id="266"/>
            <p14:sldId id="267"/>
            <p14:sldId id="268"/>
          </p14:sldIdLst>
        </p14:section>
        <p14:section name="Dalej" id="{c7214c98-ff16-45ce-0887-2f39a54d43d4}">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latin typeface="+mn-lt"/>
        <a:ea typeface="+mn-ea"/>
        <a:cs typeface="+mn-cs"/>
      </a:defRPr>
    </a:lvl1pPr>
    <a:lvl2pPr marL="457200" algn="l" defTabSz="914400" rtl="0" eaLnBrk="1" latinLnBrk="0" hangingPunct="1">
      <a:defRPr sz="1200" kern="1200">
        <a:latin typeface="+mn-lt"/>
        <a:ea typeface="+mn-ea"/>
        <a:cs typeface="+mn-cs"/>
      </a:defRPr>
    </a:lvl2pPr>
    <a:lvl3pPr marL="914400" algn="l" defTabSz="914400" rtl="0" eaLnBrk="1" latinLnBrk="0" hangingPunct="1">
      <a:defRPr sz="1200" kern="1200">
        <a:latin typeface="+mn-lt"/>
        <a:ea typeface="+mn-ea"/>
        <a:cs typeface="+mn-cs"/>
      </a:defRPr>
    </a:lvl3pPr>
    <a:lvl4pPr marL="1371600" algn="l" defTabSz="914400" rtl="0" eaLnBrk="1" latinLnBrk="0" hangingPunct="1">
      <a:defRPr sz="1200" kern="1200">
        <a:latin typeface="+mn-lt"/>
        <a:ea typeface="+mn-ea"/>
        <a:cs typeface="+mn-cs"/>
      </a:defRPr>
    </a:lvl4pPr>
    <a:lvl5pPr marL="1828800" algn="l" defTabSz="914400" rtl="0" eaLnBrk="1" latinLnBrk="0" hangingPunct="1">
      <a:defRPr sz="1200" kern="1200">
        <a:latin typeface="+mn-lt"/>
        <a:ea typeface="+mn-ea"/>
        <a:cs typeface="+mn-cs"/>
      </a:defRPr>
    </a:lvl5pPr>
    <a:lvl6pPr marL="2286000" algn="l" defTabSz="914400" rtl="0" eaLnBrk="1" latinLnBrk="0" hangingPunct="1">
      <a:defRPr sz="1200" kern="1200">
        <a:latin typeface="+mn-lt"/>
        <a:ea typeface="+mn-ea"/>
        <a:cs typeface="+mn-cs"/>
      </a:defRPr>
    </a:lvl6pPr>
    <a:lvl7pPr marL="2743200" algn="l" defTabSz="914400" rtl="0" eaLnBrk="1" latinLnBrk="0" hangingPunct="1">
      <a:defRPr sz="1200" kern="1200">
        <a:latin typeface="+mn-lt"/>
        <a:ea typeface="+mn-ea"/>
        <a:cs typeface="+mn-cs"/>
      </a:defRPr>
    </a:lvl7pPr>
    <a:lvl8pPr marL="3200400" algn="l" defTabSz="914400" rtl="0" eaLnBrk="1" latinLnBrk="0" hangingPunct="1">
      <a:defRPr sz="1200" kern="1200">
        <a:latin typeface="+mn-lt"/>
        <a:ea typeface="+mn-ea"/>
        <a:cs typeface="+mn-cs"/>
      </a:defRPr>
    </a:lvl8pPr>
    <a:lvl9pPr marL="3657600" algn="l" defTabSz="914400" rtl="0" eaLnBrk="1" latinLnBrk="0" hangingPunct="1">
      <a:defRPr sz="1200" kern="1200">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1400" b="1"/>
              <a:t>MÓW
</a:t>
            </a:r>
          </a:p>
          <a:p>
            <a:r>
              <a:rPr lang="pl-PL" sz="1400"/>
              <a:t>Dzień dobry. Temat mojej pracy to routing zapytań do modeli językowych według ich trudności.
</a:t>
            </a:r>
          </a:p>
          <a:p>
            <a:endParaRPr lang="pl-PL" sz="1400"/>
          </a:p>
          <a:p>
            <a:r>
              <a:rPr lang="pl-PL" sz="1400"/>
              <a:t>Najprościej: mam dwa modele, mały i duży. Duży odpowiada lepiej, ale kosztuje więcej czasu i mocy obliczeniowej. Zbudowałem system, który czyta pytanie i, zanim ktokolwiek odpowie, wybiera, do którego modelu je wysłać. Działa jako nowa usługa w DeepFellow Infra.
</a:t>
            </a:r>
          </a:p>
          <a:p>
            <a:endParaRPr lang="pl-PL" sz="1400"/>
          </a:p>
          <a:p>
            <a:r>
              <a:rPr lang="pl-PL" sz="1400"/>
              <a:t>Najpierw powiem, jaki jest problem i jak zmieniłem podejście do pracy. Potem pokażę, jak sprawdzam, czy pytanie jest trudne, jak działa system i jakie ma wyniki. Na końcu ograniczenia i jedna prośba o decyzję.
</a:t>
            </a:r>
          </a:p>
          <a:p>
            <a:endParaRPr lang="pl-PL" sz="1400"/>
          </a:p>
          <a:p>
            <a:r>
              <a:rPr lang="pl-PL" sz="1400" b="1"/>
              <a:t>WARTO WIEDZIEĆ
</a:t>
            </a:r>
          </a:p>
          <a:p>
            <a:r>
              <a:rPr lang="pl-PL" sz="1400"/>
              <a:t>Mały model to qwen3:8b, duży to Qwen3.8-27B. Liczby 8 i 27 to miliardy parametrów, czyli rozmiar modelu.
</a:t>
            </a:r>
          </a:p>
          <a:p>
            <a:r>
              <a:rPr lang="pl-PL" sz="1400"/>
              <a:t>W całej prezentacji „pytanie trudne” znaczy: duży model odpowiada na nie wyraźnie lepiej niż mały. „Pytanie łatwe” znaczy: mały wystarcza.
</a:t>
            </a:r>
          </a:p>
          <a:p>
            <a:r>
              <a:rPr lang="pl-PL" sz="1400"/>
              <a:t>Całość zajmie ok. 20 minut.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1400" b="1"/>
              <a:t>MÓW
</a:t>
            </a:r>
          </a:p>
          <a:p>
            <a:r>
              <a:rPr lang="pl-PL" sz="1400"/>
              <a:t>Duży model daje lepsze odpowiedzi, ale jest wolniejszy i potrzebuje mocniejszego sprzętu. Mały jest szybki, ale przy trudnych pytaniach bywa słaby.
</a:t>
            </a:r>
          </a:p>
          <a:p>
            <a:endParaRPr lang="pl-PL" sz="1400"/>
          </a:p>
          <a:p>
            <a:r>
              <a:rPr lang="pl-PL" sz="1400"/>
              <a:t>Administrator ma dziś dwa wyjścia. Wszystko do dużego modelu: drogo. Wszystko do małego: gorsza jakość tam, gdzie była potrzebna.
</a:t>
            </a:r>
          </a:p>
          <a:p>
            <a:endParaRPr lang="pl-PL" sz="1400"/>
          </a:p>
          <a:p>
            <a:r>
              <a:rPr lang="pl-PL" sz="1400"/>
              <a:t>Router ma wybierać osobno dla każdego pytania: proste do małego (qwen3:8b), trudne do dużego (Qwen 27B). Na rysunku pytanie wchodzi do routera i idzie w jedną z dwóch stron. Dla użytkownika nic się nie zmienia: w DeepFellow to po prostu model o nazwie router.
</a:t>
            </a:r>
          </a:p>
          <a:p>
            <a:endParaRPr lang="pl-PL" sz="1400"/>
          </a:p>
          <a:p>
            <a:r>
              <a:rPr lang="pl-PL" sz="1400"/>
              <a:t>Trudność jest taka: router musi zdecydować, zanim jakikolwiek model odpowie. Widzi więc tylko treść pytania. Cała praca jest o tym, ile można o trudności pytania wywnioskować z samego jego tekstu.
</a:t>
            </a:r>
          </a:p>
          <a:p>
            <a:endParaRPr lang="pl-PL" sz="1400"/>
          </a:p>
          <a:p>
            <a:r>
              <a:rPr lang="pl-PL" sz="1400"/>
              <a:t>Cel: jak najwięcej pytań do małego modelu przy prawie niezmienionej jakości.
</a:t>
            </a:r>
          </a:p>
          <a:p>
            <a:endParaRPr lang="pl-PL" sz="1400"/>
          </a:p>
          <a:p>
            <a:r>
              <a:rPr lang="pl-PL" sz="1400" b="1"/>
              <a:t>JEŚLI ZAPYTAJĄ
</a:t>
            </a:r>
          </a:p>
          <a:p>
            <a:r>
              <a:rPr lang="pl-PL" sz="1400"/>
              <a:t>Dlaczego nie zawsze duży model? Bo to najdroższe rozwiązanie. Pokażę, ile da się zaoszczędzić i jakim kosztem.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1400" b="1"/>
              <a:t>MÓW
</a:t>
            </a:r>
          </a:p>
          <a:p>
            <a:r>
              <a:rPr lang="pl-PL" sz="1400"/>
              <a:t>Zacznę od tego, jak wyglądała pierwsza wersja pracy.
</a:t>
            </a:r>
          </a:p>
          <a:p>
            <a:endParaRPr lang="pl-PL" sz="1400"/>
          </a:p>
          <a:p>
            <a:r>
              <a:rPr lang="pl-PL" sz="1400"/>
              <a:t>Informację, że pytanie jest łatwe albo trudne, czyli etykietę, brałem z gotowych danych: z głosowań w Chatbot Arena, gdzie ludzie wybierają lepszą z dwóch odpowiedzi, oraz z pytań wygenerowanych przez Gemini.
</a:t>
            </a:r>
          </a:p>
          <a:p>
            <a:endParaRPr lang="pl-PL" sz="1400"/>
          </a:p>
          <a:p>
            <a:r>
              <a:rPr lang="pl-PL" sz="1400"/>
              <a:t>Plan miał też trzy warstwy rozpoznawania trudności: proste heurystyki, porównanie z podobnymi pytaniami i mały model. Do tego konfigurację w pliku YAML, kategorie tematyczne i podział złożonych zadań na części (Map-Reduce). Odpowiedzi miałem oceniać między innymi miarą ROUGE.
</a:t>
            </a:r>
          </a:p>
          <a:p>
            <a:endParaRPr lang="pl-PL" sz="1400"/>
          </a:p>
          <a:p>
            <a:r>
              <a:rPr lang="pl-PL" sz="1400"/>
              <a:t>ROUGE liczy, ile słów wspólnych ma odpowiedź modelu z odpowiedzią wzorcową. Zrezygnowałem z niej, bo zbieżność słów nie mówi, czy odpowiedź jest poprawna: dobra odpowiedź może być napisana innymi słowami, a zła może mieć wiele wspólnych.
</a:t>
            </a:r>
          </a:p>
          <a:p>
            <a:endParaRPr lang="pl-PL" sz="1400"/>
          </a:p>
          <a:p>
            <a:r>
              <a:rPr lang="pl-PL" sz="1400"/>
              <a:t>To był rozsądny plan, bo opierał się na literaturze: znany system RouteLLM uczy się właśnie na głosach z Areny. Miał jednak jeden słaby punkt. Pokazuję go na następnym slajdzie.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1400" b="1"/>
              <a:t>MÓW
</a:t>
            </a:r>
          </a:p>
          <a:p>
            <a:r>
              <a:rPr lang="pl-PL" sz="1400"/>
              <a:t>Sprawdziłem, czy etykiety z Areny pasują do moich dwóch modeli.
</a:t>
            </a:r>
          </a:p>
          <a:p>
            <a:endParaRPr lang="pl-PL" sz="1400"/>
          </a:p>
          <a:p>
            <a:r>
              <a:rPr lang="pl-PL" sz="1400"/>
              <a:t>Z Areny mam stare etykiety: pytanie jest „trudne”, jeśli w głosowaniu wygrał mocniejszy model. Dla moich dwóch modeli zmierzyłem osobno, o ile duży jest lepszy od małego na każdym pytaniu.
</a:t>
            </a:r>
          </a:p>
          <a:p>
            <a:endParaRPr lang="pl-PL" sz="1400"/>
          </a:p>
          <a:p>
            <a:r>
              <a:rPr lang="pl-PL" sz="1400"/>
              <a:t>Porównałem jedno z drugim dla 1723 pytań. Wynik to 0,55. Mierzę to miarą o nazwie AUROC. Wyobraź sobie losowo wybraną parę pytań: jedno trudne według Areny, drugie nie. Para liczy się jako 1, gdy to pierwsze ma większą zmierzoną przewagę dużego modelu, jako 0, gdy mniejszą, i jako 0,5 przy remisie. AUROC to średnia z takich wyników po wszystkich parach, czyli w praktyce odsetek par ustawionych dobrze. Wynik 0,55 znaczy: w 55 parach na 100. Przy zwykłym rzucie monetą byłoby 50 na 100, a przy pełnej zgodności 100 na 100. Czyli zgodności prawie nie ma. Tej samej miary użyję później do oceny routera.
</a:t>
            </a:r>
          </a:p>
          <a:p>
            <a:endParaRPr lang="pl-PL" sz="1400"/>
          </a:p>
          <a:p>
            <a:r>
              <a:rPr lang="pl-PL" sz="1400"/>
              <a:t>Dlaczego tak wyszło? Arena porównywała inne modele, z innej epoki. Gdy gpt-4 wygrywa ze słabym modelem, to zwykle bez względu na pytanie. Stara etykieta mówi więc więcej o różnicy między modelami niż o trudności pytania.
</a:t>
            </a:r>
          </a:p>
          <a:p>
            <a:endParaRPr lang="pl-PL" sz="1400"/>
          </a:p>
          <a:p>
            <a:r>
              <a:rPr lang="pl-PL" sz="1400"/>
              <a:t>Wniosek: trudność zależy od konkretnej pary modeli. Dlatego sam ją mierzę na swoich dwóch modelach. Zaraz pokażę jak.
</a:t>
            </a:r>
          </a:p>
          <a:p>
            <a:endParaRPr lang="pl-PL" sz="1400"/>
          </a:p>
          <a:p>
            <a:r>
              <a:rPr lang="pl-PL" sz="1400" b="1"/>
              <a:t>UWAGA
</a:t>
            </a:r>
          </a:p>
          <a:p>
            <a:r>
              <a:rPr lang="pl-PL" sz="1400"/>
              <a:t>To jest analiza, a nie dowód, że moje etykiety są lepsze. Pokazuje tylko, że stare nie pasują do tych modeli.
</a:t>
            </a:r>
          </a:p>
          <a:p>
            <a:endParaRPr lang="pl-PL" sz="1400"/>
          </a:p>
          <a:p>
            <a:r>
              <a:rPr lang="pl-PL" sz="1400" b="1"/>
              <a:t>JEŚLI ZAPYTAJĄ
</a:t>
            </a:r>
          </a:p>
          <a:p>
            <a:r>
              <a:rPr lang="pl-PL" sz="1400"/>
              <a:t>Czy 0,55 to nie przypadek? Było 1723 pytań, a 0,55 jest bardzo blisko 0,5, więc wniosek jest ostrożny: stara etykieta słabo przewiduje wyniki naszych modeli.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1400" b="1"/>
              <a:t>MÓW
</a:t>
            </a:r>
          </a:p>
          <a:p>
            <a:r>
              <a:rPr lang="pl-PL" sz="1400"/>
              <a:t>Każde pytanie przechodzi cztery kroki.
</a:t>
            </a:r>
          </a:p>
          <a:p>
            <a:endParaRPr lang="pl-PL" sz="1400"/>
          </a:p>
          <a:p>
            <a:r>
              <a:rPr lang="pl-PL" sz="1400"/>
              <a:t>Mam 4313 pytań z ośmiu źródeł. Krok 1. Wysyłam każde do obu modeli: do małego trzy razy, do dużego raz. Odpowiedzi modeli są losowe, więc jedna próbka małego modelu byłaby za mało pewna.
</a:t>
            </a:r>
          </a:p>
          <a:p>
            <a:endParaRPr lang="pl-PL" sz="1400"/>
          </a:p>
          <a:p>
            <a:r>
              <a:rPr lang="pl-PL" sz="1400"/>
              <a:t>Krok 2. Oceniam odpowiedzi. Gdy znana jest poprawna odpowiedź, np. wynik zadania, sprawdza automat. W pozostałych przypadkach ocenia drugi model, Gemini, w skali od 1 do 5. Dostaje pytanie i wszystkie odpowiedzi w losowej kolejności i bez nazw modeli, żeby nikogo nie faworyzował.
</a:t>
            </a:r>
          </a:p>
          <a:p>
            <a:endParaRPr lang="pl-PL" sz="1400"/>
          </a:p>
          <a:p>
            <a:r>
              <a:rPr lang="pl-PL" sz="1400"/>
              <a:t>Krok 3. Liczę różnicę, oznaczoną Δ (delta): ocena dużego minus średnia ocena małego.
</a:t>
            </a:r>
          </a:p>
          <a:p>
            <a:endParaRPr lang="pl-PL" sz="1400"/>
          </a:p>
          <a:p>
            <a:r>
              <a:rPr lang="pl-PL" sz="1400"/>
              <a:t>Krok 4. Jeśli różnica jest większa niż jeden punkt w skali 1–5, pytanie jest TRUDNE (COMPLEX), czyli duży jest wyraźnie lepszy. W przeciwnym razie jest ŁATWE (SIMPLE).
</a:t>
            </a:r>
          </a:p>
          <a:p>
            <a:endParaRPr lang="pl-PL" sz="1400"/>
          </a:p>
          <a:p>
            <a:r>
              <a:rPr lang="pl-PL" sz="1400"/>
              <a:t>Przykład z rysunku. Duży dostał 5, mały 3, 3 i 4, średnio 3,3. Różnica to 1,7 punktu, więcej niż 1, więc pytanie jest trudne. Na slajdzie te oceny są przeliczone na skalę 0–1 (wzorem (ocena − 1) / 4): duży dostał 1,00, mały średnio 0,58, więc Δ = 0,42. Granica Δ &gt; 0,25 odpowiada więc jednemu punktowi. Nazywam ją progiem trudności, żeby nie mylić jej z progiem routera, o którym będzie mowa dalej.
</a:t>
            </a:r>
          </a:p>
          <a:p>
            <a:endParaRPr lang="pl-PL" sz="1400"/>
          </a:p>
          <a:p>
            <a:r>
              <a:rPr lang="pl-PL" sz="1400"/>
              <a:t>Jeśli oba modele odpowiedziały źle, pytanie zostaje łatwe, bo duży model nic by nie dał.
</a:t>
            </a:r>
          </a:p>
          <a:p>
            <a:endParaRPr lang="pl-PL" sz="1400"/>
          </a:p>
          <a:p>
            <a:r>
              <a:rPr lang="pl-PL" sz="1400" b="1"/>
              <a:t>JEŚLI ZAPYTAJĄ
</a:t>
            </a:r>
          </a:p>
          <a:p>
            <a:r>
              <a:rPr lang="pl-PL" sz="1400"/>
              <a:t>Dlaczego trzy próbki małego? Sprawdziłem, że jedna próbka dałaby tę samą klasę co wszystkie trzy tylko w 74% pytań otwartych. Średnia z trzech zmniejsza ten szum.
</a:t>
            </a:r>
          </a:p>
          <a:p>
            <a:r>
              <a:rPr lang="pl-PL" sz="1400"/>
              <a:t>Skąd próg jeden punkt? To mój wybór. Sprawdziłem też łagodniejszy i ostrzejszy (odsetek trudnych pytań: 51,5%, 35,4% i 27,6%). Wnioski o routerze są te same.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1400" b="1"/>
              <a:t>MÓW
</a:t>
            </a:r>
          </a:p>
          <a:p>
            <a:r>
              <a:rPr lang="pl-PL" sz="1400"/>
              <a:t>Mam 4313 pytań z ośmiu źródeł i 17 252 odpowiedzi obu modeli. Dwa źródła to zbiory prawdziwych rozmów z chatbotami: Arena i WildChat. Dalej pytania wygenerowane przez Gemini i zbiory z matematyki, wiedzy i programowania. Dzięki temu są i pytania otwarte, i takie ze znaną poprawną odpowiedzią.
</a:t>
            </a:r>
          </a:p>
          <a:p>
            <a:endParaRPr lang="pl-PL" sz="1400"/>
          </a:p>
          <a:p>
            <a:r>
              <a:rPr lang="pl-PL" sz="1400"/>
              <a:t>Podzieliłem je na trzy części: 50% do nauki routera, 20% do dostrajania i 30% do końcowego testu. Test jest zamknięty: otworzę go raz, na końcu, żeby nie dopasować routera do testu.
</a:t>
            </a:r>
          </a:p>
          <a:p>
            <a:endParaRPr lang="pl-PL" sz="1400"/>
          </a:p>
          <a:p>
            <a:r>
              <a:rPr lang="pl-PL" sz="1400"/>
              <a:t>Bardzo podobne pytania trafiają zawsze do jednej części. Inaczej router „znałby” pytania z testu, a wynik byłby zawyżony.
</a:t>
            </a:r>
          </a:p>
          <a:p>
            <a:endParaRPr lang="pl-PL" sz="1400"/>
          </a:p>
          <a:p>
            <a:r>
              <a:rPr lang="pl-PL" sz="1400"/>
              <a:t>Wynik pomiaru: 35,4% pytań jest trudnych. Ale bardzo różnie zależnie od źródła: w zadaniach matematycznych 4%, w rozmowach z WildChat 48%. Mały model dobrze liczy, a rozmowy otwarte są dla niego trudniejsze. Czyli „trudne” nie zawsze znaczy to, co podpowiada intuicja.
</a:t>
            </a:r>
          </a:p>
          <a:p>
            <a:endParaRPr lang="pl-PL" sz="1400"/>
          </a:p>
          <a:p>
            <a:r>
              <a:rPr lang="pl-PL" sz="1400" b="1"/>
              <a:t>JEŚLI ZAPYTAJĄ
</a:t>
            </a:r>
          </a:p>
          <a:p>
            <a:r>
              <a:rPr lang="pl-PL" sz="1400"/>
              <a:t>Skąd te źródła? Chciałem mieszankę: prawdziwe, niejednoznaczne rozmowy oraz zadania, w których poprawność da się sprawdzić automatem.
</a:t>
            </a:r>
          </a:p>
          <a:p>
            <a:r>
              <a:rPr lang="pl-PL" sz="1400"/>
              <a:t>Ograniczenie: to głównie publiczne czaty, więc brakuje zapytań z typowego użycia w firmie. Wracam do tego na końcu.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1400" b="1"/>
              <a:t>MÓW
</a:t>
            </a:r>
          </a:p>
          <a:p>
            <a:r>
              <a:rPr lang="pl-PL" sz="1400"/>
              <a:t>Etykiety ocenia model, więc sprawdziłem, ile można im ufać.
</a:t>
            </a:r>
          </a:p>
          <a:p>
            <a:endParaRPr lang="pl-PL" sz="1400"/>
          </a:p>
          <a:p>
            <a:r>
              <a:rPr lang="pl-PL" sz="1400"/>
              <a:t>Pierwsza liczba: 90%. Gdy zmienię kolejność odpowiedzi, ten sam sędzia daje tę samą klasę (trudne albo łatwe) w 90% pytań. Jest więc w miarę stabilny.
</a:t>
            </a:r>
          </a:p>
          <a:p>
            <a:endParaRPr lang="pl-PL" sz="1400"/>
          </a:p>
          <a:p>
            <a:r>
              <a:rPr lang="pl-PL" sz="1400"/>
              <a:t>Druga: 79%. Drugi, mocniejszy sędzia zgadza się z pierwszym co do klasy w 79% pytań.
</a:t>
            </a:r>
          </a:p>
          <a:p>
            <a:endParaRPr lang="pl-PL" sz="1400"/>
          </a:p>
          <a:p>
            <a:r>
              <a:rPr lang="pl-PL" sz="1400"/>
              <a:t>Trzecia: sam oceniłem 100 odpowiedzi, nie wiedząc, który model je napisał. Z sędzią zgadzam się umiarkowanie. Korelacja wynosi 0,59 (1 oznaczałaby identyczne uporządkowanie ocen, a 0 brak związku). Dodatkowo identyczną ocenę dałem w 43% przypadków, a różnicę nie większą niż jeden punkt w 77%.
</a:t>
            </a:r>
          </a:p>
          <a:p>
            <a:endParaRPr lang="pl-PL" sz="1400"/>
          </a:p>
          <a:p>
            <a:r>
              <a:rPr lang="pl-PL" sz="1400"/>
              <a:t>Czwarta: sędzia jest surowszy ode mnie średnio o 0,4 punktu (jego średnia ocena to 3,00, a moja 3,40).
</a:t>
            </a:r>
          </a:p>
          <a:p>
            <a:endParaRPr lang="pl-PL" sz="1400"/>
          </a:p>
          <a:p>
            <a:r>
              <a:rPr lang="pl-PL" sz="1400"/>
              <a:t>Wniosek: etykiety są użyteczne, ale nie idealne, i tak je opisuję w pracy. To nie przekreśla wyników, bo etykieta opiera się na różnicy ocen dwóch modeli, więc stała surowość sędziego się znosi.
</a:t>
            </a:r>
          </a:p>
          <a:p>
            <a:endParaRPr lang="pl-PL" sz="1400"/>
          </a:p>
          <a:p>
            <a:r>
              <a:rPr lang="pl-PL" sz="1400" b="1"/>
              <a:t>JEŚLI ZAPYTAJĄ
</a:t>
            </a:r>
          </a:p>
          <a:p>
            <a:r>
              <a:rPr lang="pl-PL" sz="1400"/>
              <a:t>Czy sędzia nie faworyzuje długich odpowiedzi? Sprawdziłem: korelacja z długością to 0,06, czyli prawie żadna.
</a:t>
            </a:r>
          </a:p>
          <a:p>
            <a:r>
              <a:rPr lang="pl-PL" sz="1400"/>
              <a:t>Który sędzia jest lepszy? Nie rozstrzygam. Używam tańszego, a drugi dostał tylko część pytań.</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1400" b="1"/>
              <a:t>MÓW
</a:t>
            </a:r>
          </a:p>
          <a:p>
            <a:r>
              <a:rPr lang="pl-PL" sz="1400"/>
              <a:t>Router ma trzy warstwy, od najtańszej do najdroższej. Zasada: warstwa zostaje tylko wtedy, gdy pokaże zysk.
</a:t>
            </a:r>
          </a:p>
          <a:p>
            <a:endParaRPr lang="pl-PL" sz="1400"/>
          </a:p>
          <a:p>
            <a:r>
              <a:rPr lang="pl-PL" sz="1400"/>
              <a:t>Warstwa 1: heurystyki, czyli punkty za proste cechy tekstu pytania. Pytanie dostaje plus jeden punkt za każdą frazę z listy zadań trudnych i minus jeden za każdą frazę z listy łatwych. Do tego plus jeden punkt, gdy jest dłuższe niż 400 znaków, kolejny plus jeden powyżej 1500, minus jeden, gdy ponad 10% znaków to cyfry, i plus jeden za adres internetowy. Administrator może zmienić wszystkie te punkty.
</a:t>
            </a:r>
          </a:p>
          <a:p>
            <a:r>
              <a:rPr lang="pl-PL" sz="1400"/>
              <a:t>Słowa pochodzą z literatury, a nie z moich danych, żeby ich nie dopasować do wyników. Pierwsze źródło to taksonomia Blooma (Anderson i Krathwohl, 2001), czyli hierarchia poziomów myślenia od zapamiętywania do tworzenia: słowa jak „analyze”, „compare”, „design” wskazują zadania trudniejsze, a „what is”, „define” łatwiejsze. Drugie źródło to lista fraz z AgentBus, praktycznego systemu routingu modeli: np. „debug”, „refactor”, „step by step”.
</a:t>
            </a:r>
          </a:p>
          <a:p>
            <a:r>
              <a:rPr lang="pl-PL" sz="1400"/>
              <a:t>Gdy suma punktów dojdzie do progu (domyślnie 2), pytanie idzie od razu do dużego modelu, bez dalszych warstw. Ta warstwa kieruje tylko do dużego, bo pomyłka w tę stronę kosztuje tylko pieniądze, a nie jakość. Jest opcjonalna: bez pliku z parametrami jest wyłączona. U nas próg 2 punkty obejmuje 6% pytań, z których 52% jest naprawdę trudnych (wśród wszystkich pytań 37%), więc heurystyki są lepsze od zgadywania o kilkanaście punktów procentowych i obejmują niewiele ruchu. W pomiarze nie zmieniają jakości całego routera.
</a:t>
            </a:r>
          </a:p>
          <a:p>
            <a:endParaRPr lang="pl-PL" sz="1400"/>
          </a:p>
          <a:p>
            <a:r>
              <a:rPr lang="pl-PL" sz="1400"/>
              <a:t>Warstwa 2: porównanie z podobnymi pytaniami (metoda kNN) na embeddingach, czyli na liczbowym opisie pytania. To główna część rozwiązania i wyjaśniam ją na następnym slajdzie.
</a:t>
            </a:r>
          </a:p>
          <a:p>
            <a:endParaRPr lang="pl-PL" sz="1400"/>
          </a:p>
          <a:p>
            <a:r>
              <a:rPr lang="pl-PL" sz="1400"/>
              <a:t>Warstwa 3: mały model sam ocenia, czy pytanie jest trudne. Jeszcze jej nie ma. Wejdzie, jeśli krótki test pokaże zysk. Ten test nazywa się go/no-go: jeśli pomaga, budujemy, jeśli nie, rezygnujemy. Nie chcę jej wywoływać dla każdego pytania, bo to wywołanie małego modelu i trwa sekundy. Będzie dotyczyć tylko pytań, przy których warstwa 2 jest niepewna. Wyjaśniam to niżej, po omówieniu wyniku routera.
</a:t>
            </a:r>
          </a:p>
          <a:p>
            <a:endParaRPr lang="pl-PL" sz="1400"/>
          </a:p>
          <a:p>
            <a:r>
              <a:rPr lang="pl-PL" sz="1400"/>
              <a:t>Na końcu router zwraca liczbę od 0 do 1. To jego wynik dla pytania: im wyższy, tym bardziej router uważa pytanie za trudne, czyli tym większa szansa, że duży model odpowie wyraźnie lepiej. Administrator ustawia próg: wynik powyżej idzie do dużego modelu, poniżej do małego. Gdy cokolwiek zawiedzie, pytanie idzie do dużego, bo to bezpieczniejsze.
</a:t>
            </a:r>
          </a:p>
          <a:p>
            <a:endParaRPr lang="pl-PL" sz="1400"/>
          </a:p>
          <a:p>
            <a:r>
              <a:rPr lang="pl-PL" sz="1400"/>
              <a:t>Teraz warstwa 3. Niepewna znaczy: wynik warstwy 2 jest w środku skali, między dwoma progami, a nie przy jej końcach. Przykład: poniżej 0,2 pytanie idzie do małego, powyżej 0,45 do dużego, a pomiędzy decyduje warstwa 3. W naszych danych to mniej więcej połowa pytań. Pozostałe, tak czy inaczej rozstrzyga sama warstwa 2. Granice dobiorę na danych do dostrajania tak, żeby jakość nie spadła poniżej ustalonego poziomu. Tego poziomu jeszcze nie ustaliłem.
</a:t>
            </a:r>
          </a:p>
          <a:p>
            <a:endParaRPr lang="pl-PL" sz="1400"/>
          </a:p>
          <a:p>
            <a:r>
              <a:rPr lang="pl-PL" sz="1400" b="1"/>
              <a:t>JEŚLI ZAPYTAJĄ
</a:t>
            </a:r>
          </a:p>
          <a:p>
            <a:r>
              <a:rPr lang="pl-PL" sz="1400"/>
              <a:t>Ile to trwa? Heurystyki ok. 0,3 ms, a warstwa 2 ok. 20 ms. Warstwa 3 byłaby wywołaniem małego modelu, czyli sekundami, dlatego jest ostatnia i tylko dla pytań w strefie niepewności.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1400" b="1"/>
              <a:t>MÓW
</a:t>
            </a:r>
          </a:p>
          <a:p>
            <a:r>
              <a:rPr lang="pl-PL" sz="1400"/>
              <a:t>Router dostaje tekst pytania, a ma zwrócić liczbę od 0 do 1. Robi to w czterech krokach.
</a:t>
            </a:r>
          </a:p>
          <a:p>
            <a:endParaRPr lang="pl-PL" sz="1400"/>
          </a:p>
          <a:p>
            <a:r>
              <a:rPr lang="pl-PL" sz="1400"/>
              <a:t>Krok 1. Zamienia pytanie na liczby. Komputer nie potrafi porównać dwóch zdań, więc zamieniam każde na listę 768 liczb. To się nazywa embedding. Pytania o podobnym znaczeniu dostają podobne listy, jak punkty leżące blisko siebie na mapie.
</a:t>
            </a:r>
          </a:p>
          <a:p>
            <a:endParaRPr lang="pl-PL" sz="1400"/>
          </a:p>
          <a:p>
            <a:r>
              <a:rPr lang="pl-PL" sz="1400"/>
              <a:t>Krok 2. Szuka 20 najbardziej podobnych pytań w mojej bazie, czyli takich, których trudność już zmierzyłem.
</a:t>
            </a:r>
          </a:p>
          <a:p>
            <a:endParaRPr lang="pl-PL" sz="1400"/>
          </a:p>
          <a:p>
            <a:r>
              <a:rPr lang="pl-PL" sz="1400"/>
              <a:t>Krok 3. Sprawdza, ile z tych 20 było trudnych. Wynik to ten odsetek, a podobniejsze pytania liczą się bardziej. Jeśli 14 z 20 było trudnych, wynik jest wysoki i pytanie idzie do dużego modelu.
</a:t>
            </a:r>
          </a:p>
          <a:p>
            <a:endParaRPr lang="pl-PL" sz="1400"/>
          </a:p>
          <a:p>
            <a:r>
              <a:rPr lang="pl-PL" sz="1400"/>
              <a:t>Krok 4. Porównuje wynik z progiem administratora.
</a:t>
            </a:r>
          </a:p>
          <a:p>
            <a:endParaRPr lang="pl-PL" sz="1400"/>
          </a:p>
          <a:p>
            <a:r>
              <a:rPr lang="pl-PL" sz="1400"/>
              <a:t>Dlaczego tak, a nie bardziej skomplikowanie? Po pierwsze, nie trzeba niczego trenować: baza to zapisane pytania, a nowe dane to dopisanie wierszy. Po drugie, wynik ma zrozumiałe znaczenie i można pokazać, które pytania były sąsiadami. Po trzecie, liczy się lokalnie w ok. 20 ms, więc pytania nie opuszczają serwera.
</a:t>
            </a:r>
          </a:p>
          <a:p>
            <a:endParaRPr lang="pl-PL" sz="1400"/>
          </a:p>
          <a:p>
            <a:r>
              <a:rPr lang="pl-PL" sz="1400"/>
              <a:t>A dlaczego kNN, a nie same embeddingi? Embedding to tylko lista liczb opisująca pytanie. Sama nie mówi, czy pytanie jest trudne. Potrzebna jest metoda, która z tych liczb zrobi wynik. Najprostsza to porównanie z pytaniami, których trudność już znam, czyli właśnie kNN.
</a:t>
            </a:r>
          </a:p>
          <a:p>
            <a:r>
              <a:rPr lang="pl-PL" sz="1400"/>
              <a:t>To nie jest mój wymysł. Wzorowałem się na metodzie „Similarity-Weighted Ranking” z artykułu RouteLLM (Ong i in., 2024). Tam nowe zapytanie też zamienia się na embedding, porównuje z 80 tysiącami pytań z Chatbot Arena przez podobieństwo i liczy ważoną sumę głosów ludzi. Ta metoda nie wymaga trenowania. Inne metody z tego artykułu (faktoryzacja macierzy, BERT, duży model językowy) wymagają trenowania albo fine-tuningu, którego mój plan nie przewiduje. Różnię się tym, że uśredniam etykiety zmierzone na własnych modelach, a nie głosy z Areny, i biorę tylko 20 najbliższych pytań, a nie całą historię. Wadą oryginału jest czas i koszt: przeszukuje całą bazę przy każdym zapytaniu (w ich zestawieniu ok. 39 USD za milion zapytań). U mnie baza ma ok. 3 tysięcy wektorów, a wyszukiwanie trwa ok. 1 ms.
</a:t>
            </a:r>
          </a:p>
          <a:p>
            <a:endParaRPr lang="pl-PL" sz="1400"/>
          </a:p>
          <a:p>
            <a:r>
              <a:rPr lang="pl-PL" sz="1400"/>
              <a:t>Co sprawdziłem. Wyniki routera liczę na pytaniach, których router nie widział w nauce (walidacja krzyżowa: dzielę dane na części, uczę na jednych, oceniam na pozostałych). Miara to AUROC, taka jak na slajdzie 4, tylko teraz pytam, czy router daje wyższy wynik pytaniom trudnym niż łatwym. Cztery modele zamieniające tekst na liczby dały AUROC od 0,679 do 0,709. Najlepszy, qwen3, jest trzy razy wolniejszy (52 ms wobec 17,6 ms) i ma niewielką przewagę, więc zostaje nomic. Dziewięć klasyfikatorów (regresja logistyczna, SVM, sieć MLP, boosting drzew i inne) dało od 0,662 do 0,691. Żaden nie jest istotnie lepszy od kNN. Wniosek: ok. 0,68–0,69 to sufit informacji, który mają w sobie embeddingi dla tych etykiet.
</a:t>
            </a:r>
          </a:p>
          <a:p>
            <a:endParaRPr lang="pl-PL" sz="1400"/>
          </a:p>
          <a:p>
            <a:r>
              <a:rPr lang="pl-PL" sz="1400" b="1"/>
              <a:t>JEŚLI ZAPYTAJĄ
</a:t>
            </a:r>
          </a:p>
          <a:p>
            <a:r>
              <a:rPr lang="pl-PL" sz="1400"/>
              <a:t>Dlaczego 20 sąsiadów? Przy jednym AUROC to 0,590, bo wynik jest zaszumiony, a od ok. 20 jest stabilny (0,682 przy 20, 0,689 przy 40). Więcej nie poprawia.
</a:t>
            </a:r>
          </a:p>
          <a:p>
            <a:r>
              <a:rPr lang="pl-PL" sz="1400"/>
              <a:t>Czy ważenie pomaga? Tak, trochę: równe wagi dają 0,677, a ważenie podobieństwem 0,682. Ostrzejsze ważenie daje do 0,702, ale wybrałem je spośród 30 wariantów na tych samych danych, więc nie przyjmuję tego bez potwierdzenia.
</a:t>
            </a:r>
          </a:p>
          <a:p>
            <a:r>
              <a:rPr lang="pl-PL" sz="1400"/>
              <a:t>Czy więcej danych pomoże? Niewiele: powyżej ok. 1200 pytań podwojenie bazy poprawia wynik o ok. 0,01.
</a:t>
            </a:r>
          </a:p>
          <a:p>
            <a:r>
              <a:rPr lang="pl-PL" sz="1400"/>
              <a:t>Ograniczenie: model liczący wektory czyta do 2048 tokenów, więc dłuższe pytania liczy z samego początku.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1400" b="1"/>
              <a:t>MÓW
</a:t>
            </a:r>
          </a:p>
          <a:p>
            <a:r>
              <a:rPr lang="pl-PL" sz="1400"/>
              <a:t>Teraz wyniki routera. Używam dwóch miar.
</a:t>
            </a:r>
          </a:p>
          <a:p>
            <a:endParaRPr lang="pl-PL" sz="1400"/>
          </a:p>
          <a:p>
            <a:r>
              <a:rPr lang="pl-PL" sz="1400"/>
              <a:t>Pierwsza to AUROC, znany już ze slajdu 4: dla losowej pary pytań, jedno trudne i jedno łatwe, odsetek par, w których router dał trudnemu wyższy wynik. Wynik routera to ta liczba od 0 do 1 ze slajdu 9: im wyższa, tym bardziej router uważa pytanie za trudne (np. 0,7, gdy 14 z 20 podobnych pytań było trudnych). 0,5 to zgadywanie, 1,0 to bezbłędny router. Mój router ma 0,682, czyli w 68 parach na 100 ustawia je dobrze. AUROC nie zależy od progu: ocenia sam wynik routera.
</a:t>
            </a:r>
          </a:p>
          <a:p>
            <a:r>
              <a:rPr lang="pl-PL" sz="1400"/>
              <a:t>Jak liczy się jedną parę: jeśli trudne pytanie dostało wyższy wynik niż łatwe, para daje 1. Jeśli niższy, 0. Jeśli wyniki są równe, 0,5. Np. trudne dostało 0,70, a łatwe 0,40: wynik pary to 1. AUROC to średnia z wyników wszystkich takich par. U nas jest ok. 1130 trudnych i 1880 łatwych pytań, czyli ponad 2 miliony par.
</a:t>
            </a:r>
          </a:p>
          <a:p>
            <a:endParaRPr lang="pl-PL" sz="1400"/>
          </a:p>
          <a:p>
            <a:r>
              <a:rPr lang="pl-PL" sz="1400"/>
              <a:t>Druga to APGR. Najpierw „jakość”: to średnia ocena odpowiedzi w skali od 0 do 1. Gdy wszystko idzie do małego, jakość to 0,625, a gdy wszystko do dużego, 0,846. Cały możliwy zysk to więc 0,221. Router, który przy pewnym progu daje jakość 0,777, odzyskuje 0,152 z 0,221, czyli 0,69. To odzyskana część zysku dla jednego progu. Takich punktów jest wiele, po jednym dla każdego progu. APGR to średnia z nich wszystkich, czyli jedna liczba opisująca cały router. Zobaczysz te punkty jako wykres na następnym slajdzie. Losowe wysyłanie daje APGR 0,5, a idealny router 0,91. Mój ma 0,605.
</a:t>
            </a:r>
          </a:p>
          <a:p>
            <a:endParaRPr lang="pl-PL" sz="1400"/>
          </a:p>
          <a:p>
            <a:r>
              <a:rPr lang="pl-PL" sz="1400"/>
              <a:t>Uwaga, co dokładnie mierzą te liczby: to wynik warstwy 2 (kNN), bo tylko ona daje liczbę od 0 do 1 dla każdego pytania. Warstwę 1 sprawdziłem osobno (ok. 0,55) oraz razem z kNN: kaskada nie zmienia jakości. Warstwy 3 jeszcze nie ma, więc nie ma czego mierzyć. Cały router, ze wszystkimi warstwami, ocenię na zbiorze testowym.
</a:t>
            </a:r>
          </a:p>
          <a:p>
            <a:r>
              <a:rPr lang="pl-PL" sz="1400"/>
              <a:t>Słupki na wykresie to AUROC. Losowy: 0,5. Sama długość pytania: 0,525, czyli prawie nic nie mówi. „Samo źródło”: 0,631. To router, który w ogóle nie czyta pytania, tylko wie, z jakiego zbioru pochodzi, i daje każdemu pytaniu wynik równy odsetkowi trudnych pytań w tym zbiorze (4% dla zadań matematycznych, 48% dla WildChat). W praktyce źródła nie znamy, więc to tylko poprzeczka. Pytam: czy router wie coś więcej niż rodzaj pytania? Wie, ale niewiele więcej: różnica to 0,05 w AUROC i 0,023 w APGR (0,605 wobec 0,582), istotna statystycznie.
</a:t>
            </a:r>
          </a:p>
          <a:p>
            <a:endParaRPr lang="pl-PL" sz="1400"/>
          </a:p>
          <a:p>
            <a:r>
              <a:rPr lang="pl-PL" sz="1400"/>
              <a:t>Uczciwie: dużą część skuteczności daje samo rozpoznanie rodzaju pytania. Wewnątrz jednego źródła wynik jest słabszy: dla Areny 0,60, a dla pytań o wiedzę (TriviaQA) ok. 0,50, czyli nic. Heurystyki z warstwy 1 dają same ok. 0,55, więc nie poprawiają kNN.
</a:t>
            </a:r>
          </a:p>
          <a:p>
            <a:endParaRPr lang="pl-PL" sz="1400"/>
          </a:p>
          <a:p>
            <a:r>
              <a:rPr lang="pl-PL" sz="1400" b="1"/>
              <a:t>JEŚLI ZAPYTAJĄ
</a:t>
            </a:r>
          </a:p>
          <a:p>
            <a:r>
              <a:rPr lang="pl-PL" sz="1400"/>
              <a:t>Czy da się lepiej? Z samego tekstu raczej nie: różne metody dają podobny wynik. Potrzebny byłby inny sygnał, np. warstwa 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1400" b="1"/>
              <a:t>MÓW
</a:t>
            </a:r>
          </a:p>
          <a:p>
            <a:r>
              <a:rPr lang="pl-PL" sz="1400"/>
              <a:t>Ten slajd pokazuje dwie różne rzeczy: po lewej wykres, po prawej tabelę. Wyjaśniam je po kolei, a na końcu, jak się do siebie mają.
</a:t>
            </a:r>
          </a:p>
          <a:p>
            <a:endParaRPr lang="pl-PL" sz="1400"/>
          </a:p>
          <a:p>
            <a:r>
              <a:rPr lang="pl-PL" sz="1400" b="1"/>
              <a:t>LEWA STRONA: </a:t>
            </a:r>
            <a:r>
              <a:rPr lang="pl-PL" sz="1400"/>
              <a:t>WYKRES (to jest obraz APGR)
</a:t>
            </a:r>
          </a:p>
          <a:p>
            <a:r>
              <a:rPr lang="pl-PL" sz="1400"/>
              <a:t>Oś pozioma to odsetek pytań, które wysyłam do dużego modelu, od 0% do 100%. Oś pionowa to jakość, czyli średnia ocena odpowiedzi w skali 0–1. Liczę ją tak: dla każdego pytania biorę ocenę modelu, do którego poszło, i uśredniam po wszystkich pytaniach.
</a:t>
            </a:r>
          </a:p>
          <a:p>
            <a:r>
              <a:rPr lang="pl-PL" sz="1400"/>
              <a:t>Wszystko do małego daje 0,625, a wszystko do dużego 0,846. Szara linia to wysyłanie losowe: jakość rośnie po prostu proporcjonalnie do udziału dużego. Pomarańczowa linia to router. Jest wyżej, czyli przy tym samym udziale dużego modelu daje lepszą jakość.
</a:t>
            </a:r>
          </a:p>
          <a:p>
            <a:r>
              <a:rPr lang="pl-PL" sz="1400"/>
              <a:t>Ten wykres to właśnie te punkty, z których APGR jest średnią. Przy 54% do dużego jakość routera to 0,777, czyli odzyskuję 0,69 luki między 0,625 a 0,846, a przy wysyłaniu losowym byłoby to 0,54. APGR (0,605 wobec 0,5 losowo) mierzy odstęp między liniami.
</a:t>
            </a:r>
          </a:p>
          <a:p>
            <a:r>
              <a:rPr lang="pl-PL" sz="1400"/>
              <a:t>Jeden punkt jako przykład, próg 0,3: do dużego idzie 54% pytań, jakość to 0,777. To ok. 46% mniej wywołań dużego modelu (100% minus 54%) za ok. 8% niższą jakość (0,846 spada do 0,777). Uwaga: te dwie liczby, 46% i 8%, to odczyt z jednego punktu wykresu, a nie APGR. APGR jest jedną liczbą opisującą całą linię.
</a:t>
            </a:r>
          </a:p>
          <a:p>
            <a:endParaRPr lang="pl-PL" sz="1400"/>
          </a:p>
          <a:p>
            <a:r>
              <a:rPr lang="pl-PL" sz="1400" b="1"/>
              <a:t>PRAWA STRONA: </a:t>
            </a:r>
            <a:r>
              <a:rPr lang="pl-PL" sz="1400"/>
              <a:t>TABELA (to jest inna miara, nie APGR)
</a:t>
            </a:r>
          </a:p>
          <a:p>
            <a:r>
              <a:rPr lang="pl-PL" sz="1400"/>
              <a:t>Średnia jakość nie pokazuje najgorszych przypadków. Pytanie poważnie błędne to takie, na które duży model odpowiedziałby wyraźnie lepiej (o ponad 2 punkty w skali 1–5), a które poszło do małego. Takich pytań jest 15,9% wszystkich.
</a:t>
            </a:r>
          </a:p>
          <a:p>
            <a:r>
              <a:rPr lang="pl-PL" sz="1400"/>
              <a:t>Tabela mówi: jeśli akceptuję do 12% poważnych błędów wśród pytań wysłanych do małego, to do małego idzie 47% pytań. Przy 10% idzie 22%, przy 15% aż 90%. Poniżej ok. 8% żaden próg nie daje gwarancji z 95% pewnością.
</a:t>
            </a:r>
          </a:p>
          <a:p>
            <a:endParaRPr lang="pl-PL" sz="1400"/>
          </a:p>
          <a:p>
            <a:r>
              <a:rPr lang="pl-PL" sz="1400" b="1"/>
              <a:t>JAK SIĘ TE DWA OBRAZY DO SIEBIE MAJĄ
</a:t>
            </a:r>
          </a:p>
          <a:p>
            <a:r>
              <a:rPr lang="pl-PL" sz="1400"/>
              <a:t>To ten sam router i te same progi, oglądane z dwóch stron. Wykres odpowiada na pytanie „ile średnio stracę na jakości”, tabela na pytanie „jak często popełnię poważny błąd”. Np. próg 0,3: z wykresu 54% do dużego i jakość 0,777, z tabeli do małego idzie ok. 47% pytań, a wśród nich ok. 11% to poważne błędy.
</a:t>
            </a:r>
          </a:p>
          <a:p>
            <a:r>
              <a:rPr lang="pl-PL" sz="1400"/>
              <a:t>Do oceny routera służą AUROC i APGR (nie zależą od progu). Wykres i tabela pomagają administratorowi wybrać jeden próg: albo patrząc na koszt (wykres), albo na ryzyko (tabela).
</a:t>
            </a:r>
          </a:p>
          <a:p>
            <a:endParaRPr lang="pl-PL" sz="1400"/>
          </a:p>
          <a:p>
            <a:r>
              <a:rPr lang="pl-PL" sz="1400" b="1"/>
              <a:t>JEŚLI ZAPYTAJĄ
</a:t>
            </a:r>
          </a:p>
          <a:p>
            <a:r>
              <a:rPr lang="pl-PL" sz="1400"/>
              <a:t>Jak liczona jest tabela? Próg wyznaczam na jednej części danych, a sprawdzam na drugiej. Pewność 95% liczę metodą Clopper–Pearsona.
</a:t>
            </a:r>
          </a:p>
          <a:p>
            <a:r>
              <a:rPr lang="pl-PL" sz="1400"/>
              <a:t>Czy 46% oszczędności jest warte 8% jakości? To zależy od administratora, dlatego to on wybiera próg.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1400" b="1"/>
              <a:t>MÓW
</a:t>
            </a:r>
          </a:p>
          <a:p>
            <a:r>
              <a:rPr lang="pl-PL" sz="1400"/>
              <a:t>Na poprzednim slajdzie pokazałem, że router czasem popełnia poważny błąd: wysyła do małego modelu pytanie, na które duży odpowiedziałby wyraźnie lepiej (o ponad 2 punkty w skali 1–5). Takich pytań jest 15,9% wszystkich.
</a:t>
            </a:r>
          </a:p>
          <a:p>
            <a:endParaRPr lang="pl-PL" sz="1400"/>
          </a:p>
          <a:p>
            <a:r>
              <a:rPr lang="pl-PL" sz="1400"/>
              <a:t>Wyobraź sobie 100 takich pytań. Przy progu 0,3 router wysyła do dużego modelu 70 z nich i to jest dobrze. Pozostałe 30 trafia do małego, więc użytkownik dostaje gorszą odpowiedź, niż mógł dostać. Stąd 30%. Gdyby router niczego nie umiał i losowo kierował do małego tyle samo pytań co teraz (ok. 46% wszystkich), do małego trafiłoby 46 z tych 100. Router jest więc lepszy od losowania, ale nie bezbłędny.
</a:t>
            </a:r>
          </a:p>
          <a:p>
            <a:endParaRPr lang="pl-PL" sz="1400"/>
          </a:p>
          <a:p>
            <a:r>
              <a:rPr lang="pl-PL" sz="1400"/>
              <a:t>Wykres pokazuje to osobno dla każdego źródła. Biorę 100 pytań trudnych z danego źródła i liczę, ile z nich router wysłał do małego, czyli w ilu przypadkach się pomylił:
</a:t>
            </a:r>
          </a:p>
          <a:p>
            <a:r>
              <a:rPr lang="pl-PL" sz="1400"/>
              <a:t>• Arena: 25 ze 100.
</a:t>
            </a:r>
          </a:p>
          <a:p>
            <a:r>
              <a:rPr lang="pl-PL" sz="1400"/>
              <a:t>• WildChat: 17 ze 100.
</a:t>
            </a:r>
          </a:p>
          <a:p>
            <a:r>
              <a:rPr lang="pl-PL" sz="1400"/>
              <a:t>• TriviaQA, pytania o fakty: 81 ze 100.
</a:t>
            </a:r>
          </a:p>
          <a:p>
            <a:r>
              <a:rPr lang="pl-PL" sz="1400"/>
              <a:t>• HumanEval, zadania programistyczne: 84 ze 100.
</a:t>
            </a:r>
          </a:p>
          <a:p>
            <a:r>
              <a:rPr lang="pl-PL" sz="1400"/>
              <a:t>Przy pytaniach otwartych router myli się więc rzadziej, a przy faktach i programowaniu myli się prawie za każdym razem, gdy pytanie jest trudne.
</a:t>
            </a:r>
          </a:p>
          <a:p>
            <a:endParaRPr lang="pl-PL" sz="1400"/>
          </a:p>
          <a:p>
            <a:r>
              <a:rPr lang="pl-PL" sz="1400"/>
              <a:t>Dlaczego tak jest? Router widzi tylko tekst pytania, a nie to, co wie mały model. Dwa pytania o fakty wyglądają podobnie, ale mały model może znać odpowiedź na jedno i nie znać drugiej. W tekście tego nie widać.
</a:t>
            </a:r>
          </a:p>
          <a:p>
            <a:r>
              <a:rPr lang="pl-PL" sz="1400"/>
              <a:t>Przy programowaniu tylko 18% zadań jest trudnych. Sąsiedzi nowego zadania są więc zwykle łatwi, wynik jest niski i zadanie idzie do małego. Te trudne wyglądają tak samo jak łatwe.
</a:t>
            </a:r>
          </a:p>
          <a:p>
            <a:endParaRPr lang="pl-PL" sz="1400"/>
          </a:p>
          <a:p>
            <a:r>
              <a:rPr lang="pl-PL" sz="1400"/>
              <a:t>To nie jest błąd metody, tylko brak informacji w samym tekście. Dlatego rozważam warstwę 3: może sam mały model „czuje”, czy da radę. To hipoteza do sprawdzenia, a nie obietnica.
</a:t>
            </a:r>
          </a:p>
          <a:p>
            <a:endParaRPr lang="pl-PL" sz="1400"/>
          </a:p>
          <a:p>
            <a:r>
              <a:rPr lang="pl-PL" sz="1400" b="1"/>
              <a:t>UWAGA
</a:t>
            </a:r>
          </a:p>
          <a:p>
            <a:r>
              <a:rPr lang="pl-PL" sz="1400"/>
              <a:t>Próbki są małe: 42 pytania trudne z TriviaQA i 19 z HumanEval. Wnioski ostrożnie.
</a:t>
            </a:r>
          </a:p>
          <a:p>
            <a:endParaRPr lang="pl-PL" sz="1400"/>
          </a:p>
          <a:p>
            <a:r>
              <a:rPr lang="pl-PL" sz="1400" b="1"/>
              <a:t>JEŚLI ZAPYTAJĄ
</a:t>
            </a:r>
          </a:p>
          <a:p>
            <a:r>
              <a:rPr lang="pl-PL" sz="1400"/>
              <a:t>Czemu zadania z kodu nie są częściej trudne? Mały model rozwiązuje 83% zadań, duży 94%. Różnica jest niewielka.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1400" b="1"/>
              <a:t>MÓW
</a:t>
            </a:r>
          </a:p>
          <a:p>
            <a:r>
              <a:rPr lang="pl-PL" sz="1400"/>
              <a:t>Do tej pory wszystkie wyniki liczyłem na zapisanych danych. Teraz pokazuję pierwsze uruchomienie całego systemu na prawdziwych modelach: małym qwen3:8b, uruchomionym w programie Ollama, i dużym Qwen 27B, uruchomionym przez vLLM. Oba podłączone przez DeepFellow. Zrobiłem to 20 października na komputerze służbowym i wysłałem do modelu o nazwie router cztery pytania.
</a:t>
            </a:r>
          </a:p>
          <a:p>
            <a:endParaRPr lang="pl-PL" sz="1400"/>
          </a:p>
          <a:p>
            <a:r>
              <a:rPr lang="pl-PL" sz="1400"/>
              <a:t>Router dopisuje do każdej odpowiedzi trzy nagłówki: który model odpowiedział, która warstwa podjęła decyzję i jaki był wynik kNN, czyli ta liczba od 0 do 1 ze slajdu 9. Dzięki temu decyzję widać bez zaglądania do logów.
</a:t>
            </a:r>
          </a:p>
          <a:p>
            <a:endParaRPr lang="pl-PL" sz="1400"/>
          </a:p>
          <a:p>
            <a:r>
              <a:rPr lang="pl-PL" sz="1400"/>
              <a:t>Pierwsze pytanie, o stolicę Francji: wynik 0,19, poniżej progu 0,3, więc odpowiada mały model. Drugie, prośba o opowiadanie o smoku i rycerzu: wynik 0,70, powyżej progu, więc odpowiada duży i pisze całe opowiadanie. Trzecie to polecenie „przeanalizuj i porównaj dwa projekty, oceń kompromisy krok po kroku”. Zawiera pięć fraz z listy zadań trudnych, czyli pięć punktów heurystyk przy progu dwóch. Decyduje więc warstwa 1: pytanie idzie od razu do dużego i nawet nie liczę embeddingu, dlatego nie ma wyniku kNN. Przy opowiadaniu heurystyki dały tylko jeden punkt, więc decyzja przeszła do warstwy 2. Czwarte to mnożenie 17 razy 23 wysłane w trybie strumieniowym, czyli odpowiedź przychodzi kawałkami: wynik 0,10, odpowiada mały, a nagłówki z decyzją dochodzą przed pierwszym kawałkiem odpowiedzi.
</a:t>
            </a:r>
          </a:p>
          <a:p>
            <a:endParaRPr lang="pl-PL" sz="1400"/>
          </a:p>
          <a:p>
            <a:r>
              <a:rPr lang="pl-PL" sz="1400"/>
              <a:t>Potem zmierzyłem, ile czasu dokłada sam router. To samo proste pytanie wysłałem pięć razy przez router i pięć razy bezpośrednio do małego modelu. Średni czas to 0,376 s wobec 0,363 s, czyli router dodaje ok. 13 ms. Cel z planu to mniej niż 50 ms.
</a:t>
            </a:r>
          </a:p>
          <a:p>
            <a:endParaRPr lang="pl-PL" sz="1400"/>
          </a:p>
          <a:p>
            <a:r>
              <a:rPr lang="pl-PL" sz="1400"/>
              <a:t>Czego jeszcze nie sprawdziłem: przełączenia na duży model, gdy router ulegnie awarii, oraz tego, że po restarcie DeepFellow usługa wraca sama. To zrobię w następnej kolejności.
</a:t>
            </a:r>
          </a:p>
          <a:p>
            <a:endParaRPr lang="pl-PL" sz="1400"/>
          </a:p>
          <a:p>
            <a:r>
              <a:rPr lang="pl-PL" sz="1400" b="1"/>
              <a:t>UWAGA
</a:t>
            </a:r>
          </a:p>
          <a:p>
            <a:r>
              <a:rPr lang="pl-PL" sz="1400"/>
              <a:t>Pięć pomiarów to mało, a czasy bezpośrednie wahają się o ok. 27 ms, czyli więcej niż sama różnica. Wniosek brzmi więc: narzut to kilka do kilkunastu milisekund i na pewno poniżej 50, a nie dokładnie 13.
</a:t>
            </a:r>
          </a:p>
          <a:p>
            <a:r>
              <a:rPr lang="pl-PL" sz="1400"/>
              <a:t>Cztery pytania pokazują, że mechanizm działa. Nie mówią, jak dobrze router wybiera. Jakość wyboru pokazują wyniki na zbiorze danych z wcześniejszych slajdów.
</a:t>
            </a:r>
          </a:p>
          <a:p>
            <a:endParaRPr lang="pl-PL" sz="1400"/>
          </a:p>
          <a:p>
            <a:r>
              <a:rPr lang="pl-PL" sz="1400" b="1"/>
              <a:t>JEŚLI ZAPYTAJĄ
</a:t>
            </a:r>
          </a:p>
          <a:p>
            <a:r>
              <a:rPr lang="pl-PL" sz="1400"/>
              <a:t>Czemu to nie jest to samo co 20,6 ms z następnego slajdu? To dwa różne pomiary: tamten dotyczył samej decyzji routera na moim komputerze, bez DeepFellow, a ten całej drogi przez DeepFellow na komputerze służbowym, jako różnica czasów. Obie liczby są poniżej 50 ms.
</a:t>
            </a:r>
          </a:p>
          <a:p>
            <a:r>
              <a:rPr lang="pl-PL" sz="1400"/>
              <a:t>Jak rozumieć wynik 0,19? Jako w przybliżeniu odsetek trudnych pytań wśród 20 podobnych z bazy, z większą wagą dla bardziej podobnych.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1400" b="1"/>
              <a:t>MÓW
</a:t>
            </a:r>
          </a:p>
          <a:p>
            <a:r>
              <a:rPr lang="pl-PL" sz="1400"/>
              <a:t>Implementacja. Usługa RouterService działa w DeepFellow Infra w wersji 0.34. Napisałem 57 nowych testów, a cały zestaw testów (5157) przechodzi. Sprawdziłem ją od początku do końca na osobnej instancji z modelami Gemini: wybór modelu, nagłówki z decyzją, strumieniowanie i przełączenie na duży model przy błędzie (po angielsku fallback). Test wykrył błąd: wycofany model zwracał 404 jako zwykłą odpowiedź i omijał to przełączenie. Naprawiłem. Z modelami Qwen 8B i 27B uruchomiłem ją już na komputerze służbowym i pokazałem to na poprzednim slajdzie. Zostały dwa sprawdzenia: przełączenie na duży model przy awarii i restart usługi.
</a:t>
            </a:r>
          </a:p>
          <a:p>
            <a:endParaRPr lang="pl-PL" sz="1400"/>
          </a:p>
          <a:p>
            <a:r>
              <a:rPr lang="pl-PL" sz="1400"/>
              <a:t>Sprawdziłem też dwie rzeczy. Czas: mediana 20,6 ms, a 90% zapytań w mniej niż 65 ms (cel poniżej 50 ms spełniony dla mediany). Odporność: po literówkach, parafrazach i zamianie na synonimy decyzja zmienia się tylko w 6–10% pytań. Losowo byłoby 42–48%. Router nie jest więc wrażliwy na drobne zmiany sformułowania.
</a:t>
            </a:r>
          </a:p>
          <a:p>
            <a:endParaRPr lang="pl-PL" sz="1400"/>
          </a:p>
          <a:p>
            <a:r>
              <a:rPr lang="pl-PL" sz="1400"/>
              <a:t>Ograniczenia, które nazywam wprost. Jedna para modeli. Jeden sędzia, a zgodność z człowiekiem jest umiarkowana. Duży model ma jedną próbkę na pytanie. Dane są mało „firmowe”: 63% to publiczne czaty. Wiedza i kod są słabo wykrywane. Warstwa 1 (heurystyki) jest na naszych danych słaba (AUROC ok. 0,55), dlatego jest opcjonalna. Możliwe, że na danych firmowych wypadnie lepiej, ale to hipoteza do sprawdzenia.
</a:t>
            </a:r>
          </a:p>
          <a:p>
            <a:endParaRPr lang="pl-PL" sz="1400"/>
          </a:p>
          <a:p>
            <a:r>
              <a:rPr lang="pl-PL" sz="1400" b="1"/>
              <a:t>JEŚLI ZAPYTAJĄ
</a:t>
            </a:r>
          </a:p>
          <a:p>
            <a:r>
              <a:rPr lang="pl-PL" sz="1400"/>
              <a:t>Czy zadziała na innych modelach? Router tak, ale etykiety trzeba zmierzyć od nowa: ok. 1,5 doby generowania i ok. 8 USD za sędziego.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sz="1400" b="1"/>
              <a:t>MÓW
</a:t>
            </a:r>
          </a:p>
          <a:p>
            <a:r>
              <a:rPr lang="pl-PL" sz="1400"/>
              <a:t>Co dalej. Po pierwsze, dokończyć test z modelami Qwen 8B i 27B na komputerze służbowym: awaria i restart usługi, a opóźnienie zmierzyć dokładniej, na większej liczbie pomiarów. Po drugie, sprawdzić warstwę 3 (test go/no-go): czy mały model oceniający pytanie poprawia wynik routera, i to tylko w strefie niepewności, czyli tam, gdzie warstwa 2 nie jest pewna. Granice strefy dobiorę tak, żeby jakość nie spadła poniżej ustalonego poziomu, który jeszcze trzeba ustalić. Po trzecie, dodać dane bliższe wdrożeniu, np. własne zapytania, zadania SQL, polecenia biurowe. To wymaga ponownego pomiaru, ale pozwoli też sprawdzić, czy heurystyki warstwy 1 działają lepiej na takich danych. Po czwarte, otworzyć zbiór testowy raz i zrobić ocenę końcową.
</a:t>
            </a:r>
          </a:p>
          <a:p>
            <a:endParaRPr lang="pl-PL" sz="1400"/>
          </a:p>
          <a:p>
            <a:r>
              <a:rPr lang="pl-PL" sz="1400"/>
              <a:t>Prośba. Proszę o zatwierdzenie celów liczbowych przed otwarciem testu. Po otwarciu nie będę ich zmieniał, a wyniki podam niezależnie od tego, czy cele są spełnione. To zabezpiecza przed dopasowaniem wymagań do wyniku.
</a:t>
            </a:r>
          </a:p>
          <a:p>
            <a:endParaRPr lang="pl-PL" sz="1400"/>
          </a:p>
          <a:p>
            <a:r>
              <a:rPr lang="pl-PL" sz="1400"/>
              <a:t>Moja propozycja celów:
</a:t>
            </a:r>
          </a:p>
          <a:p>
            <a:r>
              <a:rPr lang="pl-PL" sz="1400"/>
              <a:t>• router lepszy od „samego źródła” w sposób istotny statystycznie,
</a:t>
            </a:r>
          </a:p>
          <a:p>
            <a:r>
              <a:rPr lang="pl-PL" sz="1400"/>
              <a:t>• AUROC co najmniej 0,64 (w badaniach 0,68),
</a:t>
            </a:r>
          </a:p>
          <a:p>
            <a:r>
              <a:rPr lang="pl-PL" sz="1400"/>
              <a:t>• żeby odzyskać 80% możliwego zysku jakości, wysyłam do dużego nie więcej niż 72% pytań (losowo byłoby 80%),
</a:t>
            </a:r>
          </a:p>
          <a:p>
            <a:r>
              <a:rPr lang="pl-PL" sz="1400"/>
              <a:t>• po literówkach i parafrazach decyzja zmienia się w najwyżej 15% pytań,
</a:t>
            </a:r>
          </a:p>
          <a:p>
            <a:r>
              <a:rPr lang="pl-PL" sz="1400"/>
              <a:t>• mediana czasu decyzji poniżej 50 ms,
</a:t>
            </a:r>
          </a:p>
          <a:p>
            <a:r>
              <a:rPr lang="pl-PL" sz="1400"/>
              <a:t>• pytania spoza dziedziny (MMLU, MT-Bench) tylko raportuję, bez progu.
</a:t>
            </a:r>
          </a:p>
          <a:p>
            <a:endParaRPr lang="pl-PL" sz="1400"/>
          </a:p>
          <a:p>
            <a:r>
              <a:rPr lang="pl-PL" sz="1400"/>
              <a:t>Podsumowanie. Etykiety mierzę z prawdziwych odpowiedzi modeli. Router oparty na podobieństwie pytań daje realny, ale umiarkowany zysk, jest szybki i stabilny. Nie przewidzi tylko tego, czy mały model zna konkretny fakt.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1F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640080" y="3017520"/>
            <a:ext cx="7863840" cy="1097280"/>
          </a:xfrm>
          <a:prstGeom prst="rect">
            <a:avLst/>
          </a:prstGeom>
          <a:noFill/>
          <a:ln/>
        </p:spPr>
        <p:txBody>
          <a:bodyPr wrap="square" rtlCol="0"/>
          <a:lstStyle>
            <a:lvl1pPr indent="0" marL="0">
              <a:buNone/>
              <a:defRPr lang="en-US" sz="1800" dirty="0">
                <a:solidFill>
                  <a:srgbClr val="C7CEDB"/>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rgbClr val="1B1F2A"/>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BB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BB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463040"/>
          </a:xfrm>
          <a:prstGeom prst="rect">
            <a:avLst/>
          </a:prstGeom>
          <a:noFill/>
          <a:ln/>
        </p:spPr>
        <p:txBody>
          <a:bodyPr wrap="square" lIns="0" tIns="0" rIns="0" bIns="0" rtlCol="0" anchor="t"/>
          <a:lstStyle/>
          <a:p>
            <a:pPr algn="l" indent="0" marL="0">
              <a:buNone/>
            </a:pPr>
            <a:r>
              <a:rPr lang="en-US" sz="4000" b="1" dirty="0">
                <a:solidFill>
                  <a:srgbClr val="FFFFFF"/>
                </a:solidFill>
              </a:rPr>
              <a:t>Routing zapytań według złożoności</a:t>
            </a:r>
            <a:endParaRPr lang="en-US" sz="4000" dirty="0"/>
          </a:p>
        </p:txBody>
      </p:sp>
      <p:sp>
        <p:nvSpPr>
          <p:cNvPr id="3" name="Text 0"/>
          <p:cNvSpPr/>
          <p:nvPr>
            <p:ph idx="101" type="body" hasCustomPrompt="1"/>
          </p:nvPr>
        </p:nvSpPr>
        <p:spPr>
          <a:xfrm>
            <a:off x="640080" y="3017520"/>
            <a:ext cx="7863840" cy="1097280"/>
          </a:xfrm>
          <a:prstGeom prst="rect">
            <a:avLst/>
          </a:prstGeom>
          <a:noFill/>
          <a:ln/>
        </p:spPr>
        <p:txBody>
          <a:bodyPr wrap="square" lIns="0" tIns="0" rIns="0" bIns="0" rtlCol="0" anchor="t"/>
          <a:lstStyle/>
          <a:p>
            <a:pPr indent="0" marL="0">
              <a:buNone/>
            </a:pPr>
            <a:r>
              <a:rPr lang="en-US" sz="1800" dirty="0">
                <a:solidFill>
                  <a:srgbClr val="C7CEDB"/>
                </a:solidFill>
              </a:rPr>
              <a:t>Praca inżynierska · RouterService w DeepFellow Infra</a:t>
            </a:r>
            <a:endParaRPr lang="en-US" sz="1800" dirty="0"/>
          </a:p>
          <a:p>
            <a:pPr indent="0" marL="0">
              <a:buNone/>
            </a:pPr>
            <a:r>
              <a:rPr lang="en-US" sz="1800" dirty="0">
                <a:solidFill>
                  <a:srgbClr val="C7CEDB"/>
                </a:solidFill>
              </a:rPr>
              <a:t>Philip Melkowski · postępy pracy, październik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B1F2A"/>
                </a:solidFill>
              </a:rPr>
              <a:t>Problem i cel</a:t>
            </a:r>
            <a:endParaRPr lang="en-US" sz="3200" dirty="0"/>
          </a:p>
        </p:txBody>
      </p:sp>
      <p:sp>
        <p:nvSpPr>
          <p:cNvPr id="3" name="Opis problemu"/>
          <p:cNvSpPr txBox="1"/>
          <p:nvPr/>
        </p:nvSpPr>
        <p:spPr>
          <a:xfrm>
            <a:off x="457200" y="1280160"/>
            <a:ext cx="3931920" cy="3108960"/>
          </a:xfrm>
          <a:prstGeom prst="rect">
            <a:avLst/>
          </a:prstGeom>
          <a:noFill/>
          <a:ln/>
        </p:spPr>
        <p:txBody>
          <a:bodyPr wrap="square" lIns="0" tIns="0" rIns="0" bIns="0" rtlCol="0" anchor="t"/>
          <a:lstStyle/>
          <a:p>
            <a:pPr indent="0" marL="0">
              <a:spcAft>
                <a:spcPts val="1000"/>
              </a:spcAft>
              <a:buNone/>
            </a:pPr>
            <a:r>
              <a:rPr lang="en-US" sz="1600" dirty="0">
                <a:solidFill>
                  <a:schemeClr val="tx1"/>
                </a:solidFill>
              </a:rPr>
              <a:t>Nie każde zapytanie wymaga dużego modelu, a jego użycie kosztuje czas i zasoby.</a:t>
            </a:r>
            <a:endParaRPr lang="en-US" sz="1600" dirty="0"/>
          </a:p>
          <a:p>
            <a:pPr indent="0" marL="0">
              <a:spcAft>
                <a:spcPts val="1000"/>
              </a:spcAft>
              <a:buNone/>
            </a:pPr>
            <a:r>
              <a:rPr lang="en-US" sz="1600" dirty="0">
                <a:solidFill>
                  <a:schemeClr val="tx1"/>
                </a:solidFill>
              </a:rPr>
              <a:t>Cel: wybierać model przed odpowiedzią i oszczędzić wywołania dużego modelu przy małej utracie jakości.</a:t>
            </a:r>
            <a:endParaRPr lang="en-US" sz="1600" dirty="0"/>
          </a:p>
          <a:p>
            <a:pPr indent="0" marL="0">
              <a:buNone/>
            </a:pPr>
            <a:r>
              <a:rPr lang="en-US" sz="1600" dirty="0">
                <a:solidFill>
                  <a:schemeClr val="tx1"/>
                </a:solidFill>
              </a:rPr>
              <a:t>Realizacja: usługa w DeepFellow Infra, dostępna jako model=router w /v1/chat/completions.</a:t>
            </a:r>
            <a:endParaRPr lang="en-US" sz="1600" dirty="0"/>
          </a:p>
        </p:txBody>
      </p:sp>
      <p:sp>
        <p:nvSpPr>
          <p:cNvPr id="4" name="Zapytanie"/>
          <p:cNvSpPr/>
          <p:nvPr/>
        </p:nvSpPr>
        <p:spPr>
          <a:xfrm>
            <a:off x="4754880" y="2148840"/>
            <a:ext cx="1234440" cy="731520"/>
          </a:xfrm>
          <a:prstGeom prst="roundRect">
            <a:avLst>
              <a:gd name="adj" fmla="val 10000"/>
            </a:avLst>
          </a:prstGeom>
          <a:solidFill>
            <a:schemeClr val="bg2"/>
          </a:solidFill>
          <a:ln w="12700">
            <a:solidFill>
              <a:schemeClr val="accent6"/>
            </a:solidFill>
            <a:prstDash val="solid"/>
          </a:ln>
        </p:spPr>
      </p:sp>
      <p:sp>
        <p:nvSpPr>
          <p:cNvPr id="5" name="Zapytanie tekst"/>
          <p:cNvSpPr txBox="1"/>
          <p:nvPr/>
        </p:nvSpPr>
        <p:spPr>
          <a:xfrm>
            <a:off x="4754880" y="2148840"/>
            <a:ext cx="1234440" cy="731520"/>
          </a:xfrm>
          <a:prstGeom prst="rect">
            <a:avLst/>
          </a:prstGeom>
          <a:noFill/>
          <a:ln/>
        </p:spPr>
        <p:txBody>
          <a:bodyPr wrap="square" lIns="0" tIns="0" rIns="0" bIns="0" rtlCol="0" anchor="ctr"/>
          <a:lstStyle/>
          <a:p>
            <a:pPr algn="ctr" indent="0" marL="0">
              <a:buNone/>
            </a:pPr>
            <a:r>
              <a:rPr lang="en-US" sz="1400" b="1" dirty="0">
                <a:solidFill>
                  <a:schemeClr val="tx1"/>
                </a:solidFill>
              </a:rPr>
              <a:t>Zapytanie</a:t>
            </a:r>
            <a:endParaRPr lang="en-US" sz="1400" dirty="0"/>
          </a:p>
        </p:txBody>
      </p:sp>
      <p:sp>
        <p:nvSpPr>
          <p:cNvPr id="6" name="Strzałka 1"/>
          <p:cNvSpPr/>
          <p:nvPr/>
        </p:nvSpPr>
        <p:spPr>
          <a:xfrm>
            <a:off x="5989320" y="2514600"/>
            <a:ext cx="411480" cy="0"/>
          </a:xfrm>
          <a:prstGeom prst="line">
            <a:avLst/>
          </a:prstGeom>
          <a:noFill/>
          <a:ln w="25400">
            <a:solidFill>
              <a:schemeClr val="accent4"/>
            </a:solidFill>
            <a:prstDash val="solid"/>
            <a:tailEnd type="triangle"/>
          </a:ln>
        </p:spPr>
      </p:sp>
      <p:sp>
        <p:nvSpPr>
          <p:cNvPr id="7" name="Router"/>
          <p:cNvSpPr/>
          <p:nvPr/>
        </p:nvSpPr>
        <p:spPr>
          <a:xfrm>
            <a:off x="6400800" y="2148840"/>
            <a:ext cx="1097280" cy="731520"/>
          </a:xfrm>
          <a:prstGeom prst="roundRect">
            <a:avLst>
              <a:gd name="adj" fmla="val 10000"/>
            </a:avLst>
          </a:prstGeom>
          <a:solidFill>
            <a:schemeClr val="tx1"/>
          </a:solidFill>
          <a:ln w="12700">
            <a:solidFill>
              <a:schemeClr val="tx1"/>
            </a:solidFill>
            <a:prstDash val="solid"/>
          </a:ln>
        </p:spPr>
      </p:sp>
      <p:sp>
        <p:nvSpPr>
          <p:cNvPr id="8" name="Router tekst"/>
          <p:cNvSpPr txBox="1"/>
          <p:nvPr/>
        </p:nvSpPr>
        <p:spPr>
          <a:xfrm>
            <a:off x="6400800" y="2148840"/>
            <a:ext cx="1097280" cy="731520"/>
          </a:xfrm>
          <a:prstGeom prst="rect">
            <a:avLst/>
          </a:prstGeom>
          <a:noFill/>
          <a:ln/>
        </p:spPr>
        <p:txBody>
          <a:bodyPr wrap="square" lIns="0" tIns="0" rIns="0" bIns="0" rtlCol="0" anchor="ctr"/>
          <a:lstStyle/>
          <a:p>
            <a:pPr algn="ctr" indent="0" marL="0">
              <a:buNone/>
            </a:pPr>
            <a:r>
              <a:rPr lang="en-US" sz="1400" b="1" dirty="0">
                <a:solidFill>
                  <a:schemeClr val="bg1"/>
                </a:solidFill>
              </a:rPr>
              <a:t>Router</a:t>
            </a:r>
            <a:endParaRPr lang="en-US" sz="1400" dirty="0"/>
          </a:p>
        </p:txBody>
      </p:sp>
      <p:sp>
        <p:nvSpPr>
          <p:cNvPr id="9" name="Strzałka mały"/>
          <p:cNvSpPr/>
          <p:nvPr/>
        </p:nvSpPr>
        <p:spPr>
          <a:xfrm flipV="1">
            <a:off x="7498080" y="1737360"/>
            <a:ext cx="320040" cy="594360"/>
          </a:xfrm>
          <a:prstGeom prst="line">
            <a:avLst/>
          </a:prstGeom>
          <a:noFill/>
          <a:ln w="25400">
            <a:solidFill>
              <a:schemeClr val="accent4"/>
            </a:solidFill>
            <a:prstDash val="solid"/>
            <a:tailEnd type="triangle"/>
          </a:ln>
        </p:spPr>
      </p:sp>
      <p:sp>
        <p:nvSpPr>
          <p:cNvPr id="10" name="Strzałka duży"/>
          <p:cNvSpPr/>
          <p:nvPr/>
        </p:nvSpPr>
        <p:spPr>
          <a:xfrm>
            <a:off x="7498080" y="2697480"/>
            <a:ext cx="320040" cy="594360"/>
          </a:xfrm>
          <a:prstGeom prst="line">
            <a:avLst/>
          </a:prstGeom>
          <a:noFill/>
          <a:ln w="25400">
            <a:solidFill>
              <a:schemeClr val="accent4"/>
            </a:solidFill>
            <a:prstDash val="solid"/>
            <a:tailEnd type="triangle"/>
          </a:ln>
        </p:spPr>
      </p:sp>
      <p:sp>
        <p:nvSpPr>
          <p:cNvPr id="11" name="Mały model"/>
          <p:cNvSpPr/>
          <p:nvPr/>
        </p:nvSpPr>
        <p:spPr>
          <a:xfrm>
            <a:off x="7818120" y="1325880"/>
            <a:ext cx="914400" cy="822960"/>
          </a:xfrm>
          <a:prstGeom prst="roundRect">
            <a:avLst>
              <a:gd name="adj" fmla="val 8889"/>
            </a:avLst>
          </a:prstGeom>
          <a:solidFill>
            <a:schemeClr val="accent2"/>
          </a:solidFill>
          <a:ln w="12700">
            <a:solidFill>
              <a:schemeClr val="accent2"/>
            </a:solidFill>
            <a:prstDash val="solid"/>
          </a:ln>
        </p:spPr>
      </p:sp>
      <p:sp>
        <p:nvSpPr>
          <p:cNvPr id="12" name="Mały model tekst"/>
          <p:cNvSpPr txBox="1"/>
          <p:nvPr/>
        </p:nvSpPr>
        <p:spPr>
          <a:xfrm>
            <a:off x="7818120" y="1325880"/>
            <a:ext cx="914400" cy="822960"/>
          </a:xfrm>
          <a:prstGeom prst="rect">
            <a:avLst/>
          </a:prstGeom>
          <a:noFill/>
          <a:ln/>
        </p:spPr>
        <p:txBody>
          <a:bodyPr wrap="square" lIns="0" tIns="0" rIns="0" bIns="0" rtlCol="0" anchor="ctr"/>
          <a:lstStyle/>
          <a:p>
            <a:pPr algn="ctr" indent="0" marL="0">
              <a:buNone/>
            </a:pPr>
            <a:r>
              <a:rPr lang="en-US" sz="1200" b="1" dirty="0">
                <a:solidFill>
                  <a:schemeClr val="bg1"/>
                </a:solidFill>
              </a:rPr>
              <a:t>Mały</a:t>
            </a:r>
            <a:endParaRPr lang="en-US" sz="1200" dirty="0"/>
          </a:p>
          <a:p>
            <a:pPr algn="ctr" indent="0" marL="0">
              <a:buNone/>
            </a:pPr>
            <a:r>
              <a:rPr lang="en-US" sz="1200" b="1" dirty="0">
                <a:solidFill>
                  <a:schemeClr val="bg1"/>
                </a:solidFill>
              </a:rPr>
              <a:t>qwen3:8b</a:t>
            </a:r>
            <a:endParaRPr lang="en-US" sz="1200" dirty="0"/>
          </a:p>
        </p:txBody>
      </p:sp>
      <p:sp>
        <p:nvSpPr>
          <p:cNvPr id="13" name="Duży model"/>
          <p:cNvSpPr/>
          <p:nvPr/>
        </p:nvSpPr>
        <p:spPr>
          <a:xfrm>
            <a:off x="7818120" y="2880360"/>
            <a:ext cx="914400" cy="822960"/>
          </a:xfrm>
          <a:prstGeom prst="roundRect">
            <a:avLst>
              <a:gd name="adj" fmla="val 8889"/>
            </a:avLst>
          </a:prstGeom>
          <a:solidFill>
            <a:schemeClr val="accent1"/>
          </a:solidFill>
          <a:ln w="12700">
            <a:solidFill>
              <a:schemeClr val="accent1"/>
            </a:solidFill>
            <a:prstDash val="solid"/>
          </a:ln>
        </p:spPr>
      </p:sp>
      <p:sp>
        <p:nvSpPr>
          <p:cNvPr id="14" name="Duży model tekst"/>
          <p:cNvSpPr txBox="1"/>
          <p:nvPr/>
        </p:nvSpPr>
        <p:spPr>
          <a:xfrm>
            <a:off x="7818120" y="2880360"/>
            <a:ext cx="914400" cy="822960"/>
          </a:xfrm>
          <a:prstGeom prst="rect">
            <a:avLst/>
          </a:prstGeom>
          <a:noFill/>
          <a:ln/>
        </p:spPr>
        <p:txBody>
          <a:bodyPr wrap="square" lIns="0" tIns="0" rIns="0" bIns="0" rtlCol="0" anchor="ctr"/>
          <a:lstStyle/>
          <a:p>
            <a:pPr algn="ctr" indent="0" marL="0">
              <a:buNone/>
            </a:pPr>
            <a:r>
              <a:rPr lang="en-US" sz="1200" b="1" dirty="0">
                <a:solidFill>
                  <a:schemeClr val="bg1"/>
                </a:solidFill>
              </a:rPr>
              <a:t>Duży</a:t>
            </a:r>
            <a:endParaRPr lang="en-US" sz="1200" dirty="0"/>
          </a:p>
          <a:p>
            <a:pPr algn="ctr" indent="0" marL="0">
              <a:buNone/>
            </a:pPr>
            <a:r>
              <a:rPr lang="en-US" sz="1200" b="1" dirty="0">
                <a:solidFill>
                  <a:schemeClr val="bg1"/>
                </a:solidFill>
              </a:rPr>
              <a:t>Qwen 27B</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BB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B1F2A"/>
                </a:solidFill>
              </a:rPr>
              <a:t>Jak było na początku</a:t>
            </a:r>
            <a:endParaRPr lang="en-US" sz="3200" dirty="0"/>
          </a:p>
        </p:txBody>
      </p:sp>
      <p:sp>
        <p:nvSpPr>
          <p:cNvPr id="3" name="Numer 1"/>
          <p:cNvSpPr/>
          <p:nvPr/>
        </p:nvSpPr>
        <p:spPr>
          <a:xfrm>
            <a:off x="457200" y="1280160"/>
            <a:ext cx="548640" cy="548640"/>
          </a:xfrm>
          <a:prstGeom prst="ellipse">
            <a:avLst/>
          </a:prstGeom>
          <a:solidFill>
            <a:schemeClr val="accent4"/>
          </a:solidFill>
          <a:ln w="12700">
            <a:solidFill>
              <a:schemeClr val="accent4"/>
            </a:solidFill>
            <a:prstDash val="solid"/>
          </a:ln>
        </p:spPr>
      </p:sp>
      <p:sp>
        <p:nvSpPr>
          <p:cNvPr id="4" name="Numer tekst 1"/>
          <p:cNvSpPr txBox="1"/>
          <p:nvPr/>
        </p:nvSpPr>
        <p:spPr>
          <a:xfrm>
            <a:off x="457200" y="12801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Wiersz tytuł 1"/>
          <p:cNvSpPr txBox="1"/>
          <p:nvPr/>
        </p:nvSpPr>
        <p:spPr>
          <a:xfrm>
            <a:off x="1234440" y="1234440"/>
            <a:ext cx="7132320" cy="320040"/>
          </a:xfrm>
          <a:prstGeom prst="rect">
            <a:avLst/>
          </a:prstGeom>
          <a:noFill/>
          <a:ln/>
        </p:spPr>
        <p:txBody>
          <a:bodyPr wrap="square" lIns="0" tIns="0" rIns="0" bIns="0" rtlCol="0" anchor="t"/>
          <a:lstStyle/>
          <a:p>
            <a:pPr indent="0" marL="0">
              <a:buNone/>
            </a:pPr>
            <a:r>
              <a:rPr lang="en-US" sz="1800" b="1" dirty="0">
                <a:solidFill>
                  <a:schemeClr val="tx1"/>
                </a:solidFill>
              </a:rPr>
              <a:t>Etykiety z cudzych danych</a:t>
            </a:r>
            <a:endParaRPr lang="en-US" sz="1800" dirty="0"/>
          </a:p>
        </p:txBody>
      </p:sp>
      <p:sp>
        <p:nvSpPr>
          <p:cNvPr id="6" name="Wiersz opis 1"/>
          <p:cNvSpPr txBox="1"/>
          <p:nvPr/>
        </p:nvSpPr>
        <p:spPr>
          <a:xfrm>
            <a:off x="1234440" y="1554480"/>
            <a:ext cx="7132320" cy="365760"/>
          </a:xfrm>
          <a:prstGeom prst="rect">
            <a:avLst/>
          </a:prstGeom>
          <a:noFill/>
          <a:ln/>
        </p:spPr>
        <p:txBody>
          <a:bodyPr wrap="square" lIns="0" tIns="0" rIns="0" bIns="0" rtlCol="0" anchor="t"/>
          <a:lstStyle/>
          <a:p>
            <a:pPr indent="0" marL="0">
              <a:buNone/>
            </a:pPr>
            <a:r>
              <a:rPr lang="en-US" sz="1400" dirty="0">
                <a:solidFill>
                  <a:schemeClr val="tx2"/>
                </a:solidFill>
              </a:rPr>
              <a:t>głosowania Chatbot Arena oraz pytania wygenerowane przez Gemini</a:t>
            </a:r>
            <a:endParaRPr lang="en-US" sz="1400" dirty="0"/>
          </a:p>
        </p:txBody>
      </p:sp>
      <p:sp>
        <p:nvSpPr>
          <p:cNvPr id="7" name="Numer 2"/>
          <p:cNvSpPr/>
          <p:nvPr/>
        </p:nvSpPr>
        <p:spPr>
          <a:xfrm>
            <a:off x="457200" y="2148840"/>
            <a:ext cx="548640" cy="548640"/>
          </a:xfrm>
          <a:prstGeom prst="ellipse">
            <a:avLst/>
          </a:prstGeom>
          <a:solidFill>
            <a:schemeClr val="accent4"/>
          </a:solidFill>
          <a:ln w="12700">
            <a:solidFill>
              <a:schemeClr val="accent4"/>
            </a:solidFill>
            <a:prstDash val="solid"/>
          </a:ln>
        </p:spPr>
      </p:sp>
      <p:sp>
        <p:nvSpPr>
          <p:cNvPr id="8" name="Numer tekst 2"/>
          <p:cNvSpPr txBox="1"/>
          <p:nvPr/>
        </p:nvSpPr>
        <p:spPr>
          <a:xfrm>
            <a:off x="457200" y="21488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Wiersz tytuł 2"/>
          <p:cNvSpPr txBox="1"/>
          <p:nvPr/>
        </p:nvSpPr>
        <p:spPr>
          <a:xfrm>
            <a:off x="1234440" y="2103120"/>
            <a:ext cx="7132320" cy="320040"/>
          </a:xfrm>
          <a:prstGeom prst="rect">
            <a:avLst/>
          </a:prstGeom>
          <a:noFill/>
          <a:ln/>
        </p:spPr>
        <p:txBody>
          <a:bodyPr wrap="square" lIns="0" tIns="0" rIns="0" bIns="0" rtlCol="0" anchor="t"/>
          <a:lstStyle/>
          <a:p>
            <a:pPr indent="0" marL="0">
              <a:buNone/>
            </a:pPr>
            <a:r>
              <a:rPr lang="en-US" sz="1800" b="1" dirty="0">
                <a:solidFill>
                  <a:schemeClr val="tx1"/>
                </a:solidFill>
              </a:rPr>
              <a:t>Trzy warstwy</a:t>
            </a:r>
            <a:endParaRPr lang="en-US" sz="1800" dirty="0"/>
          </a:p>
        </p:txBody>
      </p:sp>
      <p:sp>
        <p:nvSpPr>
          <p:cNvPr id="10" name="Wiersz opis 2"/>
          <p:cNvSpPr txBox="1"/>
          <p:nvPr/>
        </p:nvSpPr>
        <p:spPr>
          <a:xfrm>
            <a:off x="1234440" y="2423160"/>
            <a:ext cx="7132320" cy="365760"/>
          </a:xfrm>
          <a:prstGeom prst="rect">
            <a:avLst/>
          </a:prstGeom>
          <a:noFill/>
          <a:ln/>
        </p:spPr>
        <p:txBody>
          <a:bodyPr wrap="square" lIns="0" tIns="0" rIns="0" bIns="0" rtlCol="0" anchor="t"/>
          <a:lstStyle/>
          <a:p>
            <a:pPr indent="0" marL="0">
              <a:buNone/>
            </a:pPr>
            <a:r>
              <a:rPr lang="en-US" sz="1400" dirty="0">
                <a:solidFill>
                  <a:schemeClr val="tx2"/>
                </a:solidFill>
              </a:rPr>
              <a:t>heurystyki, porównanie z podobnymi pytaniami, mały model</a:t>
            </a:r>
            <a:endParaRPr lang="en-US" sz="1400" dirty="0"/>
          </a:p>
        </p:txBody>
      </p:sp>
      <p:sp>
        <p:nvSpPr>
          <p:cNvPr id="11" name="Numer 3"/>
          <p:cNvSpPr/>
          <p:nvPr/>
        </p:nvSpPr>
        <p:spPr>
          <a:xfrm>
            <a:off x="457200" y="3017520"/>
            <a:ext cx="548640" cy="548640"/>
          </a:xfrm>
          <a:prstGeom prst="ellipse">
            <a:avLst/>
          </a:prstGeom>
          <a:solidFill>
            <a:schemeClr val="accent4"/>
          </a:solidFill>
          <a:ln w="12700">
            <a:solidFill>
              <a:schemeClr val="accent4"/>
            </a:solidFill>
            <a:prstDash val="solid"/>
          </a:ln>
        </p:spPr>
      </p:sp>
      <p:sp>
        <p:nvSpPr>
          <p:cNvPr id="12" name="Numer tekst 3"/>
          <p:cNvSpPr txBox="1"/>
          <p:nvPr/>
        </p:nvSpPr>
        <p:spPr>
          <a:xfrm>
            <a:off x="457200" y="30175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Wiersz tytuł 3"/>
          <p:cNvSpPr txBox="1"/>
          <p:nvPr/>
        </p:nvSpPr>
        <p:spPr>
          <a:xfrm>
            <a:off x="1234440" y="2971800"/>
            <a:ext cx="7132320" cy="320040"/>
          </a:xfrm>
          <a:prstGeom prst="rect">
            <a:avLst/>
          </a:prstGeom>
          <a:noFill/>
          <a:ln/>
        </p:spPr>
        <p:txBody>
          <a:bodyPr wrap="square" lIns="0" tIns="0" rIns="0" bIns="0" rtlCol="0" anchor="t"/>
          <a:lstStyle/>
          <a:p>
            <a:pPr indent="0" marL="0">
              <a:buNone/>
            </a:pPr>
            <a:r>
              <a:rPr lang="en-US" sz="1800" b="1" dirty="0">
                <a:solidFill>
                  <a:schemeClr val="tx1"/>
                </a:solidFill>
              </a:rPr>
              <a:t>Rozbudowany system</a:t>
            </a:r>
            <a:endParaRPr lang="en-US" sz="1800" dirty="0"/>
          </a:p>
        </p:txBody>
      </p:sp>
      <p:sp>
        <p:nvSpPr>
          <p:cNvPr id="14" name="Wiersz opis 3"/>
          <p:cNvSpPr txBox="1"/>
          <p:nvPr/>
        </p:nvSpPr>
        <p:spPr>
          <a:xfrm>
            <a:off x="1234440" y="3291840"/>
            <a:ext cx="7132320" cy="365760"/>
          </a:xfrm>
          <a:prstGeom prst="rect">
            <a:avLst/>
          </a:prstGeom>
          <a:noFill/>
          <a:ln/>
        </p:spPr>
        <p:txBody>
          <a:bodyPr wrap="square" lIns="0" tIns="0" rIns="0" bIns="0" rtlCol="0" anchor="t"/>
          <a:lstStyle/>
          <a:p>
            <a:pPr indent="0" marL="0">
              <a:buNone/>
            </a:pPr>
            <a:r>
              <a:rPr lang="en-US" sz="1400" dirty="0">
                <a:solidFill>
                  <a:schemeClr val="tx2"/>
                </a:solidFill>
              </a:rPr>
              <a:t>konfiguracja w YAML, kategorie tematyczne, Map-Reduce w rdzeniu</a:t>
            </a:r>
            <a:endParaRPr lang="en-US" sz="1400" dirty="0"/>
          </a:p>
        </p:txBody>
      </p:sp>
      <p:sp>
        <p:nvSpPr>
          <p:cNvPr id="15" name="Numer 4"/>
          <p:cNvSpPr/>
          <p:nvPr/>
        </p:nvSpPr>
        <p:spPr>
          <a:xfrm>
            <a:off x="457200" y="3886200"/>
            <a:ext cx="548640" cy="548640"/>
          </a:xfrm>
          <a:prstGeom prst="ellipse">
            <a:avLst/>
          </a:prstGeom>
          <a:solidFill>
            <a:schemeClr val="accent4"/>
          </a:solidFill>
          <a:ln w="12700">
            <a:solidFill>
              <a:schemeClr val="accent4"/>
            </a:solidFill>
            <a:prstDash val="solid"/>
          </a:ln>
        </p:spPr>
      </p:sp>
      <p:sp>
        <p:nvSpPr>
          <p:cNvPr id="16" name="Numer tekst 4"/>
          <p:cNvSpPr txBox="1"/>
          <p:nvPr/>
        </p:nvSpPr>
        <p:spPr>
          <a:xfrm>
            <a:off x="457200" y="3886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Wiersz tytuł 4"/>
          <p:cNvSpPr txBox="1"/>
          <p:nvPr/>
        </p:nvSpPr>
        <p:spPr>
          <a:xfrm>
            <a:off x="1234440" y="3840480"/>
            <a:ext cx="7132320" cy="320040"/>
          </a:xfrm>
          <a:prstGeom prst="rect">
            <a:avLst/>
          </a:prstGeom>
          <a:noFill/>
          <a:ln/>
        </p:spPr>
        <p:txBody>
          <a:bodyPr wrap="square" lIns="0" tIns="0" rIns="0" bIns="0" rtlCol="0" anchor="t"/>
          <a:lstStyle/>
          <a:p>
            <a:pPr indent="0" marL="0">
              <a:buNone/>
            </a:pPr>
            <a:r>
              <a:rPr lang="en-US" sz="1800" b="1" dirty="0">
                <a:solidFill>
                  <a:schemeClr val="tx1"/>
                </a:solidFill>
              </a:rPr>
              <a:t>Inne metryki</a:t>
            </a:r>
            <a:endParaRPr lang="en-US" sz="1800" dirty="0"/>
          </a:p>
        </p:txBody>
      </p:sp>
      <p:sp>
        <p:nvSpPr>
          <p:cNvPr id="18" name="Wiersz opis 4"/>
          <p:cNvSpPr txBox="1"/>
          <p:nvPr/>
        </p:nvSpPr>
        <p:spPr>
          <a:xfrm>
            <a:off x="1234440" y="4160520"/>
            <a:ext cx="7132320" cy="365760"/>
          </a:xfrm>
          <a:prstGeom prst="rect">
            <a:avLst/>
          </a:prstGeom>
          <a:noFill/>
          <a:ln/>
        </p:spPr>
        <p:txBody>
          <a:bodyPr wrap="square" lIns="0" tIns="0" rIns="0" bIns="0" rtlCol="0" anchor="t"/>
          <a:lstStyle/>
          <a:p>
            <a:pPr indent="0" marL="0">
              <a:buNone/>
            </a:pPr>
            <a:r>
              <a:rPr lang="en-US" sz="1400" dirty="0">
                <a:solidFill>
                  <a:schemeClr val="tx2"/>
                </a:solidFill>
              </a:rPr>
              <a:t>m.in. ROUGE do porównania odpowiedzi</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BB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B1F2A"/>
                </a:solidFill>
              </a:rPr>
              <a:t>Dlaczego zmieniłem podejście</a:t>
            </a:r>
            <a:endParaRPr lang="en-US" sz="3200" dirty="0"/>
          </a:p>
        </p:txBody>
      </p:sp>
      <p:sp>
        <p:nvSpPr>
          <p:cNvPr id="3" name="Karta statystyki"/>
          <p:cNvSpPr/>
          <p:nvPr/>
        </p:nvSpPr>
        <p:spPr>
          <a:xfrm>
            <a:off x="457200" y="1280160"/>
            <a:ext cx="3840480" cy="3108960"/>
          </a:xfrm>
          <a:prstGeom prst="rect">
            <a:avLst/>
          </a:prstGeom>
          <a:solidFill>
            <a:schemeClr val="bg2"/>
          </a:solidFill>
          <a:ln w="12700">
            <a:solidFill>
              <a:schemeClr val="bg2"/>
            </a:solidFill>
            <a:prstDash val="solid"/>
          </a:ln>
        </p:spPr>
      </p:sp>
      <p:sp>
        <p:nvSpPr>
          <p:cNvPr id="4" name="Liczba 0,55"/>
          <p:cNvSpPr txBox="1"/>
          <p:nvPr/>
        </p:nvSpPr>
        <p:spPr>
          <a:xfrm>
            <a:off x="640080" y="1554480"/>
            <a:ext cx="3474720" cy="1188720"/>
          </a:xfrm>
          <a:prstGeom prst="rect">
            <a:avLst/>
          </a:prstGeom>
          <a:noFill/>
          <a:ln/>
        </p:spPr>
        <p:txBody>
          <a:bodyPr wrap="square" lIns="0" tIns="0" rIns="0" bIns="0" rtlCol="0" anchor="ctr"/>
          <a:lstStyle/>
          <a:p>
            <a:pPr indent="0" marL="0">
              <a:buNone/>
            </a:pPr>
            <a:r>
              <a:rPr lang="en-US" sz="7200" b="1" dirty="0">
                <a:solidFill>
                  <a:schemeClr val="accent1"/>
                </a:solidFill>
              </a:rPr>
              <a:t>0,55</a:t>
            </a:r>
            <a:endParaRPr lang="en-US" sz="7200" dirty="0"/>
          </a:p>
        </p:txBody>
      </p:sp>
      <p:sp>
        <p:nvSpPr>
          <p:cNvPr id="5" name="Opis 0,55"/>
          <p:cNvSpPr txBox="1"/>
          <p:nvPr/>
        </p:nvSpPr>
        <p:spPr>
          <a:xfrm>
            <a:off x="640080" y="2788920"/>
            <a:ext cx="3474720" cy="1508760"/>
          </a:xfrm>
          <a:prstGeom prst="rect">
            <a:avLst/>
          </a:prstGeom>
          <a:noFill/>
          <a:ln/>
        </p:spPr>
        <p:txBody>
          <a:bodyPr wrap="square" lIns="0" tIns="0" rIns="0" bIns="0" rtlCol="0" anchor="t"/>
          <a:lstStyle/>
          <a:p>
            <a:pPr indent="0" marL="0">
              <a:spcAft>
                <a:spcPts val="800"/>
              </a:spcAft>
              <a:buNone/>
            </a:pPr>
            <a:r>
              <a:rPr lang="en-US" sz="1400" dirty="0">
                <a:solidFill>
                  <a:schemeClr val="tx2"/>
                </a:solidFill>
              </a:rPr>
              <a:t>Czy pytania trudne wg Areny są trudne też dla naszych modeli? Prawie nie.</a:t>
            </a:r>
            <a:endParaRPr lang="en-US" sz="1400" dirty="0"/>
          </a:p>
          <a:p>
            <a:pPr indent="0" marL="0">
              <a:buNone/>
            </a:pPr>
            <a:r>
              <a:rPr lang="en-US" sz="1400" dirty="0">
                <a:solidFill>
                  <a:schemeClr val="tx2"/>
                </a:solidFill>
              </a:rPr>
              <a:t>AUROC 0,55 znaczy: w 55 z 100 losowych par (trudne i łatwe wg Areny) trudne ma też większą przewagę dużego modelu. Rzut monetą to 50.</a:t>
            </a:r>
            <a:endParaRPr lang="en-US" sz="1400" dirty="0"/>
          </a:p>
        </p:txBody>
      </p:sp>
      <p:sp>
        <p:nvSpPr>
          <p:cNvPr id="6" name="Wnioski"/>
          <p:cNvSpPr txBox="1"/>
          <p:nvPr/>
        </p:nvSpPr>
        <p:spPr>
          <a:xfrm>
            <a:off x="4663440" y="1371600"/>
            <a:ext cx="4023360" cy="29260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Arena porównuje inne modele z innej epoki</a:t>
            </a:r>
            <a:endParaRPr lang="en-US" sz="1800" dirty="0"/>
          </a:p>
          <a:p>
            <a:pPr marL="342900" indent="-342900">
              <a:spcAft>
                <a:spcPts val="1000"/>
              </a:spcAft>
              <a:buSzPct val="100000"/>
              <a:buChar char="•"/>
            </a:pPr>
            <a:r>
              <a:rPr lang="en-US" sz="1800" dirty="0">
                <a:solidFill>
                  <a:schemeClr val="tx1"/>
                </a:solidFill>
              </a:rPr>
              <a:t>Etykietę trzeba zmierzyć dla konkretnej pary modeli</a:t>
            </a:r>
            <a:endParaRPr lang="en-US" sz="1800" dirty="0"/>
          </a:p>
          <a:p>
            <a:pPr marL="342900" indent="-342900">
              <a:buSzPct val="100000"/>
              <a:buChar char="•"/>
            </a:pPr>
            <a:r>
              <a:rPr lang="en-US" sz="1800" dirty="0">
                <a:solidFill>
                  <a:schemeClr val="tx1"/>
                </a:solidFill>
              </a:rPr>
              <a:t>Nowe podejście: mierzę trudność z prawdziwych odpowiedzi małego i dużego modelu</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BB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B1F2A"/>
                </a:solidFill>
              </a:rPr>
              <a:t>Jak mierzę trudność</a:t>
            </a:r>
            <a:endParaRPr lang="en-US" sz="3200" dirty="0"/>
          </a:p>
        </p:txBody>
      </p:sp>
      <p:sp>
        <p:nvSpPr>
          <p:cNvPr id="3" name="Krok 1"/>
          <p:cNvSpPr/>
          <p:nvPr/>
        </p:nvSpPr>
        <p:spPr>
          <a:xfrm>
            <a:off x="457200" y="1280160"/>
            <a:ext cx="1828800" cy="1554480"/>
          </a:xfrm>
          <a:prstGeom prst="rect">
            <a:avLst/>
          </a:prstGeom>
          <a:solidFill>
            <a:schemeClr val="bg2"/>
          </a:solidFill>
          <a:ln w="12700">
            <a:solidFill>
              <a:schemeClr val="bg2"/>
            </a:solidFill>
            <a:prstDash val="solid"/>
          </a:ln>
        </p:spPr>
      </p:sp>
      <p:sp>
        <p:nvSpPr>
          <p:cNvPr id="4" name="Krok tytuł 1"/>
          <p:cNvSpPr txBox="1"/>
          <p:nvPr/>
        </p:nvSpPr>
        <p:spPr>
          <a:xfrm>
            <a:off x="594360" y="1371600"/>
            <a:ext cx="1554480" cy="365760"/>
          </a:xfrm>
          <a:prstGeom prst="rect">
            <a:avLst/>
          </a:prstGeom>
          <a:noFill/>
          <a:ln/>
        </p:spPr>
        <p:txBody>
          <a:bodyPr wrap="square" lIns="0" tIns="0" rIns="0" bIns="0" rtlCol="0" anchor="t"/>
          <a:lstStyle/>
          <a:p>
            <a:pPr indent="0" marL="0">
              <a:buNone/>
            </a:pPr>
            <a:r>
              <a:rPr lang="en-US" sz="1800" b="1" dirty="0">
                <a:solidFill>
                  <a:schemeClr val="tx1"/>
                </a:solidFill>
              </a:rPr>
              <a:t>Pytanie</a:t>
            </a:r>
            <a:endParaRPr lang="en-US" sz="1800" dirty="0"/>
          </a:p>
        </p:txBody>
      </p:sp>
      <p:sp>
        <p:nvSpPr>
          <p:cNvPr id="5" name="Krok opis 1"/>
          <p:cNvSpPr txBox="1"/>
          <p:nvPr/>
        </p:nvSpPr>
        <p:spPr>
          <a:xfrm>
            <a:off x="594360" y="1783080"/>
            <a:ext cx="1554480" cy="960120"/>
          </a:xfrm>
          <a:prstGeom prst="rect">
            <a:avLst/>
          </a:prstGeom>
          <a:noFill/>
          <a:ln/>
        </p:spPr>
        <p:txBody>
          <a:bodyPr wrap="square" lIns="0" tIns="0" rIns="0" bIns="0" rtlCol="0" anchor="t"/>
          <a:lstStyle/>
          <a:p>
            <a:pPr indent="0" marL="0">
              <a:buNone/>
            </a:pPr>
            <a:r>
              <a:rPr lang="en-US" sz="1400" dirty="0">
                <a:solidFill>
                  <a:schemeClr val="tx2"/>
                </a:solidFill>
              </a:rPr>
              <a:t>4313 pytań z 8 źródeł</a:t>
            </a:r>
            <a:endParaRPr lang="en-US" sz="1400" dirty="0"/>
          </a:p>
        </p:txBody>
      </p:sp>
      <p:sp>
        <p:nvSpPr>
          <p:cNvPr id="6" name="Strzałka 1"/>
          <p:cNvSpPr/>
          <p:nvPr/>
        </p:nvSpPr>
        <p:spPr>
          <a:xfrm>
            <a:off x="2286000" y="2057400"/>
            <a:ext cx="320040" cy="0"/>
          </a:xfrm>
          <a:prstGeom prst="line">
            <a:avLst/>
          </a:prstGeom>
          <a:noFill/>
          <a:ln w="25400">
            <a:solidFill>
              <a:schemeClr val="accent4"/>
            </a:solidFill>
            <a:prstDash val="solid"/>
            <a:tailEnd type="triangle"/>
          </a:ln>
        </p:spPr>
      </p:sp>
      <p:sp>
        <p:nvSpPr>
          <p:cNvPr id="7" name="Krok 2"/>
          <p:cNvSpPr/>
          <p:nvPr/>
        </p:nvSpPr>
        <p:spPr>
          <a:xfrm>
            <a:off x="2606040" y="1280160"/>
            <a:ext cx="1828800" cy="1554480"/>
          </a:xfrm>
          <a:prstGeom prst="rect">
            <a:avLst/>
          </a:prstGeom>
          <a:solidFill>
            <a:schemeClr val="bg2"/>
          </a:solidFill>
          <a:ln w="12700">
            <a:solidFill>
              <a:schemeClr val="bg2"/>
            </a:solidFill>
            <a:prstDash val="solid"/>
          </a:ln>
        </p:spPr>
      </p:sp>
      <p:sp>
        <p:nvSpPr>
          <p:cNvPr id="8" name="Krok tytuł 2"/>
          <p:cNvSpPr txBox="1"/>
          <p:nvPr/>
        </p:nvSpPr>
        <p:spPr>
          <a:xfrm>
            <a:off x="2743200" y="1371600"/>
            <a:ext cx="1554480" cy="365760"/>
          </a:xfrm>
          <a:prstGeom prst="rect">
            <a:avLst/>
          </a:prstGeom>
          <a:noFill/>
          <a:ln/>
        </p:spPr>
        <p:txBody>
          <a:bodyPr wrap="square" lIns="0" tIns="0" rIns="0" bIns="0" rtlCol="0" anchor="t"/>
          <a:lstStyle/>
          <a:p>
            <a:pPr indent="0" marL="0">
              <a:buNone/>
            </a:pPr>
            <a:r>
              <a:rPr lang="en-US" sz="1800" b="1" dirty="0">
                <a:solidFill>
                  <a:schemeClr val="tx1"/>
                </a:solidFill>
              </a:rPr>
              <a:t>Odpowiedzi</a:t>
            </a:r>
            <a:endParaRPr lang="en-US" sz="1800" dirty="0"/>
          </a:p>
        </p:txBody>
      </p:sp>
      <p:sp>
        <p:nvSpPr>
          <p:cNvPr id="9" name="Krok opis 2"/>
          <p:cNvSpPr txBox="1"/>
          <p:nvPr/>
        </p:nvSpPr>
        <p:spPr>
          <a:xfrm>
            <a:off x="2743200" y="1783080"/>
            <a:ext cx="1554480" cy="960120"/>
          </a:xfrm>
          <a:prstGeom prst="rect">
            <a:avLst/>
          </a:prstGeom>
          <a:noFill/>
          <a:ln/>
        </p:spPr>
        <p:txBody>
          <a:bodyPr wrap="square" lIns="0" tIns="0" rIns="0" bIns="0" rtlCol="0" anchor="t"/>
          <a:lstStyle/>
          <a:p>
            <a:pPr indent="0" marL="0">
              <a:buNone/>
            </a:pPr>
            <a:r>
              <a:rPr lang="en-US" sz="1400" dirty="0">
                <a:solidFill>
                  <a:schemeClr val="tx2"/>
                </a:solidFill>
              </a:rPr>
              <a:t>mały 3 razy, duży 1 raz</a:t>
            </a:r>
            <a:endParaRPr lang="en-US" sz="1400" dirty="0"/>
          </a:p>
        </p:txBody>
      </p:sp>
      <p:sp>
        <p:nvSpPr>
          <p:cNvPr id="10" name="Strzałka 2"/>
          <p:cNvSpPr/>
          <p:nvPr/>
        </p:nvSpPr>
        <p:spPr>
          <a:xfrm>
            <a:off x="4434840" y="2057400"/>
            <a:ext cx="320040" cy="0"/>
          </a:xfrm>
          <a:prstGeom prst="line">
            <a:avLst/>
          </a:prstGeom>
          <a:noFill/>
          <a:ln w="25400">
            <a:solidFill>
              <a:schemeClr val="accent4"/>
            </a:solidFill>
            <a:prstDash val="solid"/>
            <a:tailEnd type="triangle"/>
          </a:ln>
        </p:spPr>
      </p:sp>
      <p:sp>
        <p:nvSpPr>
          <p:cNvPr id="11" name="Krok 3"/>
          <p:cNvSpPr/>
          <p:nvPr/>
        </p:nvSpPr>
        <p:spPr>
          <a:xfrm>
            <a:off x="4754880" y="1280160"/>
            <a:ext cx="1828800" cy="1554480"/>
          </a:xfrm>
          <a:prstGeom prst="rect">
            <a:avLst/>
          </a:prstGeom>
          <a:solidFill>
            <a:schemeClr val="bg2"/>
          </a:solidFill>
          <a:ln w="12700">
            <a:solidFill>
              <a:schemeClr val="bg2"/>
            </a:solidFill>
            <a:prstDash val="solid"/>
          </a:ln>
        </p:spPr>
      </p:sp>
      <p:sp>
        <p:nvSpPr>
          <p:cNvPr id="12" name="Krok tytuł 3"/>
          <p:cNvSpPr txBox="1"/>
          <p:nvPr/>
        </p:nvSpPr>
        <p:spPr>
          <a:xfrm>
            <a:off x="4892040" y="1371600"/>
            <a:ext cx="1554480" cy="365760"/>
          </a:xfrm>
          <a:prstGeom prst="rect">
            <a:avLst/>
          </a:prstGeom>
          <a:noFill/>
          <a:ln/>
        </p:spPr>
        <p:txBody>
          <a:bodyPr wrap="square" lIns="0" tIns="0" rIns="0" bIns="0" rtlCol="0" anchor="t"/>
          <a:lstStyle/>
          <a:p>
            <a:pPr indent="0" marL="0">
              <a:buNone/>
            </a:pPr>
            <a:r>
              <a:rPr lang="en-US" sz="1800" b="1" dirty="0">
                <a:solidFill>
                  <a:schemeClr val="tx1"/>
                </a:solidFill>
              </a:rPr>
              <a:t>Ocena</a:t>
            </a:r>
            <a:endParaRPr lang="en-US" sz="1800" dirty="0"/>
          </a:p>
        </p:txBody>
      </p:sp>
      <p:sp>
        <p:nvSpPr>
          <p:cNvPr id="13" name="Krok opis 3"/>
          <p:cNvSpPr txBox="1"/>
          <p:nvPr/>
        </p:nvSpPr>
        <p:spPr>
          <a:xfrm>
            <a:off x="4892040" y="1783080"/>
            <a:ext cx="1554480" cy="960120"/>
          </a:xfrm>
          <a:prstGeom prst="rect">
            <a:avLst/>
          </a:prstGeom>
          <a:noFill/>
          <a:ln/>
        </p:spPr>
        <p:txBody>
          <a:bodyPr wrap="square" lIns="0" tIns="0" rIns="0" bIns="0" rtlCol="0" anchor="t"/>
          <a:lstStyle/>
          <a:p>
            <a:pPr indent="0" marL="0">
              <a:buNone/>
            </a:pPr>
            <a:r>
              <a:rPr lang="en-US" sz="1400" dirty="0">
                <a:solidFill>
                  <a:schemeClr val="tx2"/>
                </a:solidFill>
              </a:rPr>
              <a:t>automat albo sędzia Gemini (skala 1–5)</a:t>
            </a:r>
            <a:endParaRPr lang="en-US" sz="1400" dirty="0"/>
          </a:p>
        </p:txBody>
      </p:sp>
      <p:sp>
        <p:nvSpPr>
          <p:cNvPr id="14" name="Strzałka 3"/>
          <p:cNvSpPr/>
          <p:nvPr/>
        </p:nvSpPr>
        <p:spPr>
          <a:xfrm>
            <a:off x="6583680" y="2057400"/>
            <a:ext cx="320040" cy="0"/>
          </a:xfrm>
          <a:prstGeom prst="line">
            <a:avLst/>
          </a:prstGeom>
          <a:noFill/>
          <a:ln w="25400">
            <a:solidFill>
              <a:schemeClr val="accent4"/>
            </a:solidFill>
            <a:prstDash val="solid"/>
            <a:tailEnd type="triangle"/>
          </a:ln>
        </p:spPr>
      </p:sp>
      <p:sp>
        <p:nvSpPr>
          <p:cNvPr id="15" name="Krok 4"/>
          <p:cNvSpPr/>
          <p:nvPr/>
        </p:nvSpPr>
        <p:spPr>
          <a:xfrm>
            <a:off x="6903720" y="1280160"/>
            <a:ext cx="1828800" cy="1554480"/>
          </a:xfrm>
          <a:prstGeom prst="rect">
            <a:avLst/>
          </a:prstGeom>
          <a:solidFill>
            <a:schemeClr val="bg2"/>
          </a:solidFill>
          <a:ln w="12700">
            <a:solidFill>
              <a:schemeClr val="bg2"/>
            </a:solidFill>
            <a:prstDash val="solid"/>
          </a:ln>
        </p:spPr>
      </p:sp>
      <p:sp>
        <p:nvSpPr>
          <p:cNvPr id="16" name="Krok tytuł 4"/>
          <p:cNvSpPr txBox="1"/>
          <p:nvPr/>
        </p:nvSpPr>
        <p:spPr>
          <a:xfrm>
            <a:off x="7040880" y="1371600"/>
            <a:ext cx="1554480" cy="365760"/>
          </a:xfrm>
          <a:prstGeom prst="rect">
            <a:avLst/>
          </a:prstGeom>
          <a:noFill/>
          <a:ln/>
        </p:spPr>
        <p:txBody>
          <a:bodyPr wrap="square" lIns="0" tIns="0" rIns="0" bIns="0" rtlCol="0" anchor="t"/>
          <a:lstStyle/>
          <a:p>
            <a:pPr indent="0" marL="0">
              <a:buNone/>
            </a:pPr>
            <a:r>
              <a:rPr lang="en-US" sz="1800" b="1" dirty="0">
                <a:solidFill>
                  <a:schemeClr val="tx1"/>
                </a:solidFill>
              </a:rPr>
              <a:t>Różnica Δ</a:t>
            </a:r>
            <a:endParaRPr lang="en-US" sz="1800" dirty="0"/>
          </a:p>
        </p:txBody>
      </p:sp>
      <p:sp>
        <p:nvSpPr>
          <p:cNvPr id="17" name="Krok opis 4"/>
          <p:cNvSpPr txBox="1"/>
          <p:nvPr/>
        </p:nvSpPr>
        <p:spPr>
          <a:xfrm>
            <a:off x="7040880" y="1783080"/>
            <a:ext cx="1554480" cy="960120"/>
          </a:xfrm>
          <a:prstGeom prst="rect">
            <a:avLst/>
          </a:prstGeom>
          <a:noFill/>
          <a:ln/>
        </p:spPr>
        <p:txBody>
          <a:bodyPr wrap="square" lIns="0" tIns="0" rIns="0" bIns="0" rtlCol="0" anchor="t"/>
          <a:lstStyle/>
          <a:p>
            <a:pPr indent="0" marL="0">
              <a:buNone/>
            </a:pPr>
            <a:r>
              <a:rPr lang="en-US" sz="1400" dirty="0">
                <a:solidFill>
                  <a:schemeClr val="tx2"/>
                </a:solidFill>
              </a:rPr>
              <a:t>ocena dużego − średnia małego</a:t>
            </a:r>
            <a:endParaRPr lang="en-US" sz="1400" dirty="0"/>
          </a:p>
        </p:txBody>
      </p:sp>
      <p:sp>
        <p:nvSpPr>
          <p:cNvPr id="18" name="Przykład"/>
          <p:cNvSpPr/>
          <p:nvPr/>
        </p:nvSpPr>
        <p:spPr>
          <a:xfrm>
            <a:off x="457200" y="3108960"/>
            <a:ext cx="8229600" cy="1325880"/>
          </a:xfrm>
          <a:prstGeom prst="rect">
            <a:avLst/>
          </a:prstGeom>
          <a:solidFill>
            <a:schemeClr val="bg2"/>
          </a:solidFill>
          <a:ln w="12700">
            <a:solidFill>
              <a:schemeClr val="bg2"/>
            </a:solidFill>
            <a:prstDash val="solid"/>
          </a:ln>
        </p:spPr>
      </p:sp>
      <p:sp>
        <p:nvSpPr>
          <p:cNvPr id="19" name="Przykład tekst"/>
          <p:cNvSpPr txBox="1"/>
          <p:nvPr/>
        </p:nvSpPr>
        <p:spPr>
          <a:xfrm>
            <a:off x="640080" y="3200400"/>
            <a:ext cx="7863840" cy="114300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COMPLEX gdy Δ &gt; 0,25, czyli duży lepszy o więcej niż 1 punkt w skali 1–5</a:t>
            </a:r>
            <a:endParaRPr lang="en-US" sz="1600" dirty="0"/>
          </a:p>
          <a:p>
            <a:pPr indent="0" marL="0">
              <a:buNone/>
            </a:pPr>
            <a:r>
              <a:rPr lang="en-US" sz="1600" dirty="0">
                <a:solidFill>
                  <a:schemeClr val="tx1"/>
                </a:solidFill>
              </a:rPr>
              <a:t>Przykład: duży dostał 5 (1,00), mały 3, 3, 4 (średnio 0,58), więc Δ = 0,42 i pytanie jest COMPLEX. Gdy oba modele zawiodły, pytanie zostaje SIMPLE.</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BB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B1F2A"/>
                </a:solidFill>
              </a:rPr>
              <a:t>Dane i wynik pomiaru</a:t>
            </a:r>
            <a:endParaRPr lang="en-US" sz="3200" dirty="0"/>
          </a:p>
        </p:txBody>
      </p:sp>
      <p:pic>
        <p:nvPicPr>
          <p:cNvPr id="3" name="Wykres complex_zrodlo" descr="Wykres słupkowy: udział pytań COMPLEX wg źródła">    </p:cNvPr>
          <p:cNvPicPr>
            <a:picLocks noChangeAspect="1"/>
          </p:cNvPicPr>
          <p:nvPr/>
        </p:nvPicPr>
        <p:blipFill>
          <a:blip r:embed="rId1"/>
          <a:stretch>
            <a:fillRect/>
          </a:stretch>
        </p:blipFill>
        <p:spPr>
          <a:xfrm>
            <a:off x="365760" y="1143000"/>
            <a:ext cx="4937760" cy="3383280"/>
          </a:xfrm>
          <a:prstGeom prst="rect">
            <a:avLst/>
          </a:prstGeom>
        </p:spPr>
      </p:pic>
      <p:sp>
        <p:nvSpPr>
          <p:cNvPr id="4" name="Statystyka pytania karta"/>
          <p:cNvSpPr/>
          <p:nvPr/>
        </p:nvSpPr>
        <p:spPr>
          <a:xfrm>
            <a:off x="5577840" y="1097280"/>
            <a:ext cx="3108960" cy="1097280"/>
          </a:xfrm>
          <a:prstGeom prst="rect">
            <a:avLst/>
          </a:prstGeom>
          <a:solidFill>
            <a:schemeClr val="bg2"/>
          </a:solidFill>
          <a:ln w="12700">
            <a:solidFill>
              <a:schemeClr val="bg2"/>
            </a:solidFill>
            <a:prstDash val="solid"/>
          </a:ln>
        </p:spPr>
      </p:sp>
      <p:sp>
        <p:nvSpPr>
          <p:cNvPr id="5" name="Statystyka pytania liczba"/>
          <p:cNvSpPr txBox="1"/>
          <p:nvPr/>
        </p:nvSpPr>
        <p:spPr>
          <a:xfrm>
            <a:off x="5760720" y="1170432"/>
            <a:ext cx="2743200" cy="640080"/>
          </a:xfrm>
          <a:prstGeom prst="rect">
            <a:avLst/>
          </a:prstGeom>
          <a:noFill/>
          <a:ln/>
        </p:spPr>
        <p:txBody>
          <a:bodyPr wrap="square" lIns="0" tIns="0" rIns="0" bIns="0" rtlCol="0" anchor="ctr"/>
          <a:lstStyle/>
          <a:p>
            <a:pPr indent="0" marL="0">
              <a:buNone/>
            </a:pPr>
            <a:r>
              <a:rPr lang="en-US" sz="3600" b="1" dirty="0">
                <a:solidFill>
                  <a:schemeClr val="tx1"/>
                </a:solidFill>
              </a:rPr>
              <a:t>4313</a:t>
            </a:r>
            <a:endParaRPr lang="en-US" sz="3600" dirty="0"/>
          </a:p>
        </p:txBody>
      </p:sp>
      <p:sp>
        <p:nvSpPr>
          <p:cNvPr id="6" name="Statystyka pytania opis"/>
          <p:cNvSpPr txBox="1"/>
          <p:nvPr/>
        </p:nvSpPr>
        <p:spPr>
          <a:xfrm>
            <a:off x="5760720" y="1828800"/>
            <a:ext cx="2743200" cy="274320"/>
          </a:xfrm>
          <a:prstGeom prst="rect">
            <a:avLst/>
          </a:prstGeom>
          <a:noFill/>
          <a:ln/>
        </p:spPr>
        <p:txBody>
          <a:bodyPr wrap="square" lIns="0" tIns="0" rIns="0" bIns="0" rtlCol="0" anchor="t"/>
          <a:lstStyle/>
          <a:p>
            <a:pPr indent="0" marL="0">
              <a:buNone/>
            </a:pPr>
            <a:r>
              <a:rPr lang="en-US" sz="1400" dirty="0">
                <a:solidFill>
                  <a:schemeClr val="tx2"/>
                </a:solidFill>
              </a:rPr>
              <a:t>pytań z ośmiu źródeł</a:t>
            </a:r>
            <a:endParaRPr lang="en-US" sz="1400" dirty="0"/>
          </a:p>
        </p:txBody>
      </p:sp>
      <p:sp>
        <p:nvSpPr>
          <p:cNvPr id="7" name="Statystyka odpowiedzi karta"/>
          <p:cNvSpPr/>
          <p:nvPr/>
        </p:nvSpPr>
        <p:spPr>
          <a:xfrm>
            <a:off x="5577840" y="2377440"/>
            <a:ext cx="3108960" cy="1097280"/>
          </a:xfrm>
          <a:prstGeom prst="rect">
            <a:avLst/>
          </a:prstGeom>
          <a:solidFill>
            <a:schemeClr val="bg2"/>
          </a:solidFill>
          <a:ln w="12700">
            <a:solidFill>
              <a:schemeClr val="bg2"/>
            </a:solidFill>
            <a:prstDash val="solid"/>
          </a:ln>
        </p:spPr>
      </p:sp>
      <p:sp>
        <p:nvSpPr>
          <p:cNvPr id="8" name="Statystyka odpowiedzi liczba"/>
          <p:cNvSpPr txBox="1"/>
          <p:nvPr/>
        </p:nvSpPr>
        <p:spPr>
          <a:xfrm>
            <a:off x="5760720" y="2450592"/>
            <a:ext cx="2743200" cy="640080"/>
          </a:xfrm>
          <a:prstGeom prst="rect">
            <a:avLst/>
          </a:prstGeom>
          <a:noFill/>
          <a:ln/>
        </p:spPr>
        <p:txBody>
          <a:bodyPr wrap="square" lIns="0" tIns="0" rIns="0" bIns="0" rtlCol="0" anchor="ctr"/>
          <a:lstStyle/>
          <a:p>
            <a:pPr indent="0" marL="0">
              <a:buNone/>
            </a:pPr>
            <a:r>
              <a:rPr lang="en-US" sz="3600" b="1" dirty="0">
                <a:solidFill>
                  <a:schemeClr val="tx1"/>
                </a:solidFill>
              </a:rPr>
              <a:t>17 252</a:t>
            </a:r>
            <a:endParaRPr lang="en-US" sz="3600" dirty="0"/>
          </a:p>
        </p:txBody>
      </p:sp>
      <p:sp>
        <p:nvSpPr>
          <p:cNvPr id="9" name="Statystyka odpowiedzi opis"/>
          <p:cNvSpPr txBox="1"/>
          <p:nvPr/>
        </p:nvSpPr>
        <p:spPr>
          <a:xfrm>
            <a:off x="5760720" y="3108960"/>
            <a:ext cx="2743200" cy="274320"/>
          </a:xfrm>
          <a:prstGeom prst="rect">
            <a:avLst/>
          </a:prstGeom>
          <a:noFill/>
          <a:ln/>
        </p:spPr>
        <p:txBody>
          <a:bodyPr wrap="square" lIns="0" tIns="0" rIns="0" bIns="0" rtlCol="0" anchor="t"/>
          <a:lstStyle/>
          <a:p>
            <a:pPr indent="0" marL="0">
              <a:buNone/>
            </a:pPr>
            <a:r>
              <a:rPr lang="en-US" sz="1400" dirty="0">
                <a:solidFill>
                  <a:schemeClr val="tx2"/>
                </a:solidFill>
              </a:rPr>
              <a:t>odpowiedzi obu modeli</a:t>
            </a:r>
            <a:endParaRPr lang="en-US" sz="1400" dirty="0"/>
          </a:p>
        </p:txBody>
      </p:sp>
      <p:sp>
        <p:nvSpPr>
          <p:cNvPr id="10" name="Statystyka COMPLEX karta"/>
          <p:cNvSpPr/>
          <p:nvPr/>
        </p:nvSpPr>
        <p:spPr>
          <a:xfrm>
            <a:off x="5577840" y="3657600"/>
            <a:ext cx="3108960" cy="1097280"/>
          </a:xfrm>
          <a:prstGeom prst="rect">
            <a:avLst/>
          </a:prstGeom>
          <a:solidFill>
            <a:schemeClr val="bg2"/>
          </a:solidFill>
          <a:ln w="12700">
            <a:solidFill>
              <a:schemeClr val="bg2"/>
            </a:solidFill>
            <a:prstDash val="solid"/>
          </a:ln>
        </p:spPr>
      </p:sp>
      <p:sp>
        <p:nvSpPr>
          <p:cNvPr id="11" name="Statystyka COMPLEX liczba"/>
          <p:cNvSpPr txBox="1"/>
          <p:nvPr/>
        </p:nvSpPr>
        <p:spPr>
          <a:xfrm>
            <a:off x="5760720" y="3730752"/>
            <a:ext cx="2743200" cy="640080"/>
          </a:xfrm>
          <a:prstGeom prst="rect">
            <a:avLst/>
          </a:prstGeom>
          <a:noFill/>
          <a:ln/>
        </p:spPr>
        <p:txBody>
          <a:bodyPr wrap="square" lIns="0" tIns="0" rIns="0" bIns="0" rtlCol="0" anchor="ctr"/>
          <a:lstStyle/>
          <a:p>
            <a:pPr indent="0" marL="0">
              <a:buNone/>
            </a:pPr>
            <a:r>
              <a:rPr lang="en-US" sz="3600" b="1" dirty="0">
                <a:solidFill>
                  <a:schemeClr val="accent1"/>
                </a:solidFill>
              </a:rPr>
              <a:t>35,4%</a:t>
            </a:r>
            <a:endParaRPr lang="en-US" sz="3600" dirty="0"/>
          </a:p>
        </p:txBody>
      </p:sp>
      <p:sp>
        <p:nvSpPr>
          <p:cNvPr id="12" name="Statystyka COMPLEX opis"/>
          <p:cNvSpPr txBox="1"/>
          <p:nvPr/>
        </p:nvSpPr>
        <p:spPr>
          <a:xfrm>
            <a:off x="5760720" y="4389120"/>
            <a:ext cx="2743200" cy="274320"/>
          </a:xfrm>
          <a:prstGeom prst="rect">
            <a:avLst/>
          </a:prstGeom>
          <a:noFill/>
          <a:ln/>
        </p:spPr>
        <p:txBody>
          <a:bodyPr wrap="square" lIns="0" tIns="0" rIns="0" bIns="0" rtlCol="0" anchor="t"/>
          <a:lstStyle/>
          <a:p>
            <a:pPr indent="0" marL="0">
              <a:buNone/>
            </a:pPr>
            <a:r>
              <a:rPr lang="en-US" sz="1400" dirty="0">
                <a:solidFill>
                  <a:schemeClr val="tx2"/>
                </a:solidFill>
              </a:rPr>
              <a:t>pytań to COMPLEX</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BB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B1F2A"/>
                </a:solidFill>
              </a:rPr>
              <a:t>Czy etykietom można ufać</a:t>
            </a:r>
            <a:endParaRPr lang="en-US" sz="3200" dirty="0"/>
          </a:p>
        </p:txBody>
      </p:sp>
      <p:sp>
        <p:nvSpPr>
          <p:cNvPr id="3" name="Stabilność sędziego karta"/>
          <p:cNvSpPr/>
          <p:nvPr/>
        </p:nvSpPr>
        <p:spPr>
          <a:xfrm>
            <a:off x="457200" y="1188720"/>
            <a:ext cx="3977640" cy="1417320"/>
          </a:xfrm>
          <a:prstGeom prst="rect">
            <a:avLst/>
          </a:prstGeom>
          <a:solidFill>
            <a:schemeClr val="bg2"/>
          </a:solidFill>
          <a:ln w="12700">
            <a:solidFill>
              <a:schemeClr val="bg2"/>
            </a:solidFill>
            <a:prstDash val="solid"/>
          </a:ln>
        </p:spPr>
      </p:sp>
      <p:sp>
        <p:nvSpPr>
          <p:cNvPr id="4" name="Stabilność sędziego liczba"/>
          <p:cNvSpPr txBox="1"/>
          <p:nvPr/>
        </p:nvSpPr>
        <p:spPr>
          <a:xfrm>
            <a:off x="640080" y="1261872"/>
            <a:ext cx="3611880" cy="685800"/>
          </a:xfrm>
          <a:prstGeom prst="rect">
            <a:avLst/>
          </a:prstGeom>
          <a:noFill/>
          <a:ln/>
        </p:spPr>
        <p:txBody>
          <a:bodyPr wrap="square" lIns="0" tIns="0" rIns="0" bIns="0" rtlCol="0" anchor="ctr"/>
          <a:lstStyle/>
          <a:p>
            <a:pPr indent="0" marL="0">
              <a:buNone/>
            </a:pPr>
            <a:r>
              <a:rPr lang="en-US" sz="4400" b="1" dirty="0">
                <a:solidFill>
                  <a:schemeClr val="tx1"/>
                </a:solidFill>
              </a:rPr>
              <a:t>90%</a:t>
            </a:r>
            <a:endParaRPr lang="en-US" sz="4400" dirty="0"/>
          </a:p>
        </p:txBody>
      </p:sp>
      <p:sp>
        <p:nvSpPr>
          <p:cNvPr id="5" name="Stabilność sędziego opis"/>
          <p:cNvSpPr txBox="1"/>
          <p:nvPr/>
        </p:nvSpPr>
        <p:spPr>
          <a:xfrm>
            <a:off x="640080" y="1965960"/>
            <a:ext cx="3611880" cy="548640"/>
          </a:xfrm>
          <a:prstGeom prst="rect">
            <a:avLst/>
          </a:prstGeom>
          <a:noFill/>
          <a:ln/>
        </p:spPr>
        <p:txBody>
          <a:bodyPr wrap="square" lIns="0" tIns="0" rIns="0" bIns="0" rtlCol="0" anchor="t"/>
          <a:lstStyle/>
          <a:p>
            <a:pPr indent="0" marL="0">
              <a:buNone/>
            </a:pPr>
            <a:r>
              <a:rPr lang="en-US" sz="1400" dirty="0">
                <a:solidFill>
                  <a:schemeClr val="tx2"/>
                </a:solidFill>
              </a:rPr>
              <a:t>ta sama klasa po zmianie kolejności odpowiedzi dla sędziego</a:t>
            </a:r>
            <a:endParaRPr lang="en-US" sz="1400" dirty="0"/>
          </a:p>
        </p:txBody>
      </p:sp>
      <p:sp>
        <p:nvSpPr>
          <p:cNvPr id="6" name="Drugi sędzia karta"/>
          <p:cNvSpPr/>
          <p:nvPr/>
        </p:nvSpPr>
        <p:spPr>
          <a:xfrm>
            <a:off x="4709160" y="1188720"/>
            <a:ext cx="3977640" cy="1417320"/>
          </a:xfrm>
          <a:prstGeom prst="rect">
            <a:avLst/>
          </a:prstGeom>
          <a:solidFill>
            <a:schemeClr val="bg2"/>
          </a:solidFill>
          <a:ln w="12700">
            <a:solidFill>
              <a:schemeClr val="bg2"/>
            </a:solidFill>
            <a:prstDash val="solid"/>
          </a:ln>
        </p:spPr>
      </p:sp>
      <p:sp>
        <p:nvSpPr>
          <p:cNvPr id="7" name="Drugi sędzia liczba"/>
          <p:cNvSpPr txBox="1"/>
          <p:nvPr/>
        </p:nvSpPr>
        <p:spPr>
          <a:xfrm>
            <a:off x="4892040" y="1261872"/>
            <a:ext cx="3611880" cy="685800"/>
          </a:xfrm>
          <a:prstGeom prst="rect">
            <a:avLst/>
          </a:prstGeom>
          <a:noFill/>
          <a:ln/>
        </p:spPr>
        <p:txBody>
          <a:bodyPr wrap="square" lIns="0" tIns="0" rIns="0" bIns="0" rtlCol="0" anchor="ctr"/>
          <a:lstStyle/>
          <a:p>
            <a:pPr indent="0" marL="0">
              <a:buNone/>
            </a:pPr>
            <a:r>
              <a:rPr lang="en-US" sz="4400" b="1" dirty="0">
                <a:solidFill>
                  <a:schemeClr val="tx1"/>
                </a:solidFill>
              </a:rPr>
              <a:t>79%</a:t>
            </a:r>
            <a:endParaRPr lang="en-US" sz="4400" dirty="0"/>
          </a:p>
        </p:txBody>
      </p:sp>
      <p:sp>
        <p:nvSpPr>
          <p:cNvPr id="8" name="Drugi sędzia opis"/>
          <p:cNvSpPr txBox="1"/>
          <p:nvPr/>
        </p:nvSpPr>
        <p:spPr>
          <a:xfrm>
            <a:off x="4892040" y="1965960"/>
            <a:ext cx="3611880" cy="548640"/>
          </a:xfrm>
          <a:prstGeom prst="rect">
            <a:avLst/>
          </a:prstGeom>
          <a:noFill/>
          <a:ln/>
        </p:spPr>
        <p:txBody>
          <a:bodyPr wrap="square" lIns="0" tIns="0" rIns="0" bIns="0" rtlCol="0" anchor="t"/>
          <a:lstStyle/>
          <a:p>
            <a:pPr indent="0" marL="0">
              <a:buNone/>
            </a:pPr>
            <a:r>
              <a:rPr lang="en-US" sz="1400" dirty="0">
                <a:solidFill>
                  <a:schemeClr val="tx2"/>
                </a:solidFill>
              </a:rPr>
              <a:t>zgodność klasy z drugim sędzią (Gemini Pro)</a:t>
            </a:r>
            <a:endParaRPr lang="en-US" sz="1400" dirty="0"/>
          </a:p>
        </p:txBody>
      </p:sp>
      <p:sp>
        <p:nvSpPr>
          <p:cNvPr id="9" name="Ocena człowieka karta"/>
          <p:cNvSpPr/>
          <p:nvPr/>
        </p:nvSpPr>
        <p:spPr>
          <a:xfrm>
            <a:off x="457200" y="2697480"/>
            <a:ext cx="3977640" cy="1417320"/>
          </a:xfrm>
          <a:prstGeom prst="rect">
            <a:avLst/>
          </a:prstGeom>
          <a:solidFill>
            <a:schemeClr val="bg2"/>
          </a:solidFill>
          <a:ln w="12700">
            <a:solidFill>
              <a:schemeClr val="bg2"/>
            </a:solidFill>
            <a:prstDash val="solid"/>
          </a:ln>
        </p:spPr>
      </p:sp>
      <p:sp>
        <p:nvSpPr>
          <p:cNvPr id="10" name="Ocena człowieka liczba"/>
          <p:cNvSpPr txBox="1"/>
          <p:nvPr/>
        </p:nvSpPr>
        <p:spPr>
          <a:xfrm>
            <a:off x="640080" y="2770632"/>
            <a:ext cx="3611880" cy="685800"/>
          </a:xfrm>
          <a:prstGeom prst="rect">
            <a:avLst/>
          </a:prstGeom>
          <a:noFill/>
          <a:ln/>
        </p:spPr>
        <p:txBody>
          <a:bodyPr wrap="square" lIns="0" tIns="0" rIns="0" bIns="0" rtlCol="0" anchor="ctr"/>
          <a:lstStyle/>
          <a:p>
            <a:pPr indent="0" marL="0">
              <a:buNone/>
            </a:pPr>
            <a:r>
              <a:rPr lang="en-US" sz="4400" b="1" dirty="0">
                <a:solidFill>
                  <a:schemeClr val="accent2"/>
                </a:solidFill>
              </a:rPr>
              <a:t>0,59</a:t>
            </a:r>
            <a:endParaRPr lang="en-US" sz="4400" dirty="0"/>
          </a:p>
        </p:txBody>
      </p:sp>
      <p:sp>
        <p:nvSpPr>
          <p:cNvPr id="11" name="Ocena człowieka opis"/>
          <p:cNvSpPr txBox="1"/>
          <p:nvPr/>
        </p:nvSpPr>
        <p:spPr>
          <a:xfrm>
            <a:off x="640080" y="3474720"/>
            <a:ext cx="3611880" cy="548640"/>
          </a:xfrm>
          <a:prstGeom prst="rect">
            <a:avLst/>
          </a:prstGeom>
          <a:noFill/>
          <a:ln/>
        </p:spPr>
        <p:txBody>
          <a:bodyPr wrap="square" lIns="0" tIns="0" rIns="0" bIns="0" rtlCol="0" anchor="t"/>
          <a:lstStyle/>
          <a:p>
            <a:pPr indent="0" marL="0">
              <a:buNone/>
            </a:pPr>
            <a:r>
              <a:rPr lang="en-US" sz="1400" dirty="0">
                <a:solidFill>
                  <a:schemeClr val="tx2"/>
                </a:solidFill>
              </a:rPr>
              <a:t>korelacja sędziego z moją oceną 100 odpowiedzi</a:t>
            </a:r>
            <a:endParaRPr lang="en-US" sz="1400" dirty="0"/>
          </a:p>
        </p:txBody>
      </p:sp>
      <p:sp>
        <p:nvSpPr>
          <p:cNvPr id="12" name="Surowość sędziego karta"/>
          <p:cNvSpPr/>
          <p:nvPr/>
        </p:nvSpPr>
        <p:spPr>
          <a:xfrm>
            <a:off x="4709160" y="2697480"/>
            <a:ext cx="3977640" cy="1417320"/>
          </a:xfrm>
          <a:prstGeom prst="rect">
            <a:avLst/>
          </a:prstGeom>
          <a:solidFill>
            <a:schemeClr val="bg2"/>
          </a:solidFill>
          <a:ln w="12700">
            <a:solidFill>
              <a:schemeClr val="bg2"/>
            </a:solidFill>
            <a:prstDash val="solid"/>
          </a:ln>
        </p:spPr>
      </p:sp>
      <p:sp>
        <p:nvSpPr>
          <p:cNvPr id="13" name="Surowość sędziego liczba"/>
          <p:cNvSpPr txBox="1"/>
          <p:nvPr/>
        </p:nvSpPr>
        <p:spPr>
          <a:xfrm>
            <a:off x="4892040" y="2770632"/>
            <a:ext cx="3611880" cy="685800"/>
          </a:xfrm>
          <a:prstGeom prst="rect">
            <a:avLst/>
          </a:prstGeom>
          <a:noFill/>
          <a:ln/>
        </p:spPr>
        <p:txBody>
          <a:bodyPr wrap="square" lIns="0" tIns="0" rIns="0" bIns="0" rtlCol="0" anchor="ctr"/>
          <a:lstStyle/>
          <a:p>
            <a:pPr indent="0" marL="0">
              <a:buNone/>
            </a:pPr>
            <a:r>
              <a:rPr lang="en-US" sz="4400" b="1" dirty="0">
                <a:solidFill>
                  <a:schemeClr val="accent2"/>
                </a:solidFill>
              </a:rPr>
              <a:t>−0,4</a:t>
            </a:r>
            <a:endParaRPr lang="en-US" sz="4400" dirty="0"/>
          </a:p>
        </p:txBody>
      </p:sp>
      <p:sp>
        <p:nvSpPr>
          <p:cNvPr id="14" name="Surowość sędziego opis"/>
          <p:cNvSpPr txBox="1"/>
          <p:nvPr/>
        </p:nvSpPr>
        <p:spPr>
          <a:xfrm>
            <a:off x="4892040" y="3474720"/>
            <a:ext cx="3611880" cy="548640"/>
          </a:xfrm>
          <a:prstGeom prst="rect">
            <a:avLst/>
          </a:prstGeom>
          <a:noFill/>
          <a:ln/>
        </p:spPr>
        <p:txBody>
          <a:bodyPr wrap="square" lIns="0" tIns="0" rIns="0" bIns="0" rtlCol="0" anchor="t"/>
          <a:lstStyle/>
          <a:p>
            <a:pPr indent="0" marL="0">
              <a:buNone/>
            </a:pPr>
            <a:r>
              <a:rPr lang="en-US" sz="1400" dirty="0">
                <a:solidFill>
                  <a:schemeClr val="tx2"/>
                </a:solidFill>
              </a:rPr>
              <a:t>sędzia jest surowszy (średnia 3,00 wobec 3,40)</a:t>
            </a:r>
            <a:endParaRPr lang="en-US" sz="1400" dirty="0"/>
          </a:p>
        </p:txBody>
      </p:sp>
      <p:sp>
        <p:nvSpPr>
          <p:cNvPr id="15" name="Wniosek wiarygodność"/>
          <p:cNvSpPr txBox="1"/>
          <p:nvPr/>
        </p:nvSpPr>
        <p:spPr>
          <a:xfrm>
            <a:off x="457200" y="4297680"/>
            <a:ext cx="8229600" cy="411480"/>
          </a:xfrm>
          <a:prstGeom prst="rect">
            <a:avLst/>
          </a:prstGeom>
          <a:noFill/>
          <a:ln/>
        </p:spPr>
        <p:txBody>
          <a:bodyPr wrap="square" lIns="0" tIns="0" rIns="0" bIns="0" rtlCol="0" anchor="ctr"/>
          <a:lstStyle/>
          <a:p>
            <a:pPr indent="0" marL="0">
              <a:buNone/>
            </a:pPr>
            <a:r>
              <a:rPr lang="en-US" sz="1600" b="1" dirty="0">
                <a:solidFill>
                  <a:schemeClr val="tx1"/>
                </a:solidFill>
              </a:rPr>
              <a:t>Zgodność jest umiarkowana i tak ją opisuję w pracy.</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BB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B1F2A"/>
                </a:solidFill>
              </a:rPr>
              <a:t>Router: trzy warstwy</a:t>
            </a:r>
            <a:endParaRPr lang="en-US" sz="3200" dirty="0"/>
          </a:p>
        </p:txBody>
      </p:sp>
      <p:sp>
        <p:nvSpPr>
          <p:cNvPr id="3" name="Warstwa 1 nagłówek"/>
          <p:cNvSpPr/>
          <p:nvPr/>
        </p:nvSpPr>
        <p:spPr>
          <a:xfrm>
            <a:off x="457200" y="1234440"/>
            <a:ext cx="2651760" cy="502920"/>
          </a:xfrm>
          <a:prstGeom prst="rect">
            <a:avLst/>
          </a:prstGeom>
          <a:solidFill>
            <a:schemeClr val="accent4"/>
          </a:solidFill>
          <a:ln w="12700">
            <a:solidFill>
              <a:schemeClr val="accent4"/>
            </a:solidFill>
            <a:prstDash val="solid"/>
          </a:ln>
        </p:spPr>
      </p:sp>
      <p:sp>
        <p:nvSpPr>
          <p:cNvPr id="4" name="Warstwa 1 nagłówek tekst"/>
          <p:cNvSpPr txBox="1"/>
          <p:nvPr/>
        </p:nvSpPr>
        <p:spPr>
          <a:xfrm>
            <a:off x="457200" y="1234440"/>
            <a:ext cx="2651760" cy="502920"/>
          </a:xfrm>
          <a:prstGeom prst="rect">
            <a:avLst/>
          </a:prstGeom>
          <a:noFill/>
          <a:ln/>
        </p:spPr>
        <p:txBody>
          <a:bodyPr wrap="square" lIns="0" tIns="0" rIns="0" bIns="0" rtlCol="0" anchor="ctr"/>
          <a:lstStyle/>
          <a:p>
            <a:pPr algn="ctr" indent="0" marL="0">
              <a:buNone/>
            </a:pPr>
            <a:r>
              <a:rPr lang="en-US" sz="1600" b="1" dirty="0">
                <a:solidFill>
                  <a:schemeClr val="bg1"/>
                </a:solidFill>
              </a:rPr>
              <a:t>Warstwa 1</a:t>
            </a:r>
            <a:endParaRPr lang="en-US" sz="1600" dirty="0"/>
          </a:p>
        </p:txBody>
      </p:sp>
      <p:sp>
        <p:nvSpPr>
          <p:cNvPr id="5" name="Warstwa 1 karta"/>
          <p:cNvSpPr/>
          <p:nvPr/>
        </p:nvSpPr>
        <p:spPr>
          <a:xfrm>
            <a:off x="457200" y="1737360"/>
            <a:ext cx="2651760" cy="2011680"/>
          </a:xfrm>
          <a:prstGeom prst="rect">
            <a:avLst/>
          </a:prstGeom>
          <a:solidFill>
            <a:schemeClr val="bg2"/>
          </a:solidFill>
          <a:ln w="12700">
            <a:solidFill>
              <a:schemeClr val="bg2"/>
            </a:solidFill>
            <a:prstDash val="solid"/>
          </a:ln>
        </p:spPr>
      </p:sp>
      <p:sp>
        <p:nvSpPr>
          <p:cNvPr id="6" name="Warstwa 1 tytuł"/>
          <p:cNvSpPr txBox="1"/>
          <p:nvPr/>
        </p:nvSpPr>
        <p:spPr>
          <a:xfrm>
            <a:off x="594360" y="1828800"/>
            <a:ext cx="2377440" cy="594360"/>
          </a:xfrm>
          <a:prstGeom prst="rect">
            <a:avLst/>
          </a:prstGeom>
          <a:noFill/>
          <a:ln/>
        </p:spPr>
        <p:txBody>
          <a:bodyPr wrap="square" lIns="0" tIns="0" rIns="0" bIns="0" rtlCol="0" anchor="t"/>
          <a:lstStyle/>
          <a:p>
            <a:pPr indent="0" marL="0">
              <a:buNone/>
            </a:pPr>
            <a:r>
              <a:rPr lang="en-US" sz="1600" b="1" dirty="0">
                <a:solidFill>
                  <a:schemeClr val="tx1"/>
                </a:solidFill>
              </a:rPr>
              <a:t>Heurystyki (opcjonalna)</a:t>
            </a:r>
            <a:endParaRPr lang="en-US" sz="1600" dirty="0"/>
          </a:p>
        </p:txBody>
      </p:sp>
      <p:sp>
        <p:nvSpPr>
          <p:cNvPr id="7" name="Warstwa 1 opis"/>
          <p:cNvSpPr txBox="1"/>
          <p:nvPr/>
        </p:nvSpPr>
        <p:spPr>
          <a:xfrm>
            <a:off x="594360" y="2468880"/>
            <a:ext cx="2377440" cy="1188720"/>
          </a:xfrm>
          <a:prstGeom prst="rect">
            <a:avLst/>
          </a:prstGeom>
          <a:noFill/>
          <a:ln/>
        </p:spPr>
        <p:txBody>
          <a:bodyPr wrap="square" lIns="0" tIns="0" rIns="0" bIns="0" rtlCol="0" anchor="t"/>
          <a:lstStyle/>
          <a:p>
            <a:pPr indent="0" marL="0">
              <a:buNone/>
            </a:pPr>
            <a:r>
              <a:rPr lang="en-US" sz="1400" dirty="0">
                <a:solidFill>
                  <a:schemeClr val="tx2"/>
                </a:solidFill>
              </a:rPr>
              <a:t>Punkty za frazy z list z literatury i cechy tekstu. Po przekroczeniu progu: duży model.</a:t>
            </a:r>
            <a:endParaRPr lang="en-US" sz="1400" dirty="0"/>
          </a:p>
        </p:txBody>
      </p:sp>
      <p:sp>
        <p:nvSpPr>
          <p:cNvPr id="8" name="Warstwa 2 nagłówek"/>
          <p:cNvSpPr/>
          <p:nvPr/>
        </p:nvSpPr>
        <p:spPr>
          <a:xfrm>
            <a:off x="3246120" y="1234440"/>
            <a:ext cx="2651760" cy="502920"/>
          </a:xfrm>
          <a:prstGeom prst="rect">
            <a:avLst/>
          </a:prstGeom>
          <a:solidFill>
            <a:schemeClr val="accent1"/>
          </a:solidFill>
          <a:ln w="12700">
            <a:solidFill>
              <a:schemeClr val="accent1"/>
            </a:solidFill>
            <a:prstDash val="solid"/>
          </a:ln>
        </p:spPr>
      </p:sp>
      <p:sp>
        <p:nvSpPr>
          <p:cNvPr id="9" name="Warstwa 2 nagłówek tekst"/>
          <p:cNvSpPr txBox="1"/>
          <p:nvPr/>
        </p:nvSpPr>
        <p:spPr>
          <a:xfrm>
            <a:off x="3246120" y="1234440"/>
            <a:ext cx="2651760" cy="502920"/>
          </a:xfrm>
          <a:prstGeom prst="rect">
            <a:avLst/>
          </a:prstGeom>
          <a:noFill/>
          <a:ln/>
        </p:spPr>
        <p:txBody>
          <a:bodyPr wrap="square" lIns="0" tIns="0" rIns="0" bIns="0" rtlCol="0" anchor="ctr"/>
          <a:lstStyle/>
          <a:p>
            <a:pPr algn="ctr" indent="0" marL="0">
              <a:buNone/>
            </a:pPr>
            <a:r>
              <a:rPr lang="en-US" sz="1600" b="1" dirty="0">
                <a:solidFill>
                  <a:schemeClr val="bg1"/>
                </a:solidFill>
              </a:rPr>
              <a:t>Warstwa 2</a:t>
            </a:r>
            <a:endParaRPr lang="en-US" sz="1600" dirty="0"/>
          </a:p>
        </p:txBody>
      </p:sp>
      <p:sp>
        <p:nvSpPr>
          <p:cNvPr id="10" name="Warstwa 2 karta"/>
          <p:cNvSpPr/>
          <p:nvPr/>
        </p:nvSpPr>
        <p:spPr>
          <a:xfrm>
            <a:off x="3246120" y="1737360"/>
            <a:ext cx="2651760" cy="2011680"/>
          </a:xfrm>
          <a:prstGeom prst="rect">
            <a:avLst/>
          </a:prstGeom>
          <a:solidFill>
            <a:schemeClr val="bg2"/>
          </a:solidFill>
          <a:ln w="12700">
            <a:solidFill>
              <a:schemeClr val="bg2"/>
            </a:solidFill>
            <a:prstDash val="solid"/>
          </a:ln>
        </p:spPr>
      </p:sp>
      <p:sp>
        <p:nvSpPr>
          <p:cNvPr id="11" name="Warstwa 2 tytuł"/>
          <p:cNvSpPr txBox="1"/>
          <p:nvPr/>
        </p:nvSpPr>
        <p:spPr>
          <a:xfrm>
            <a:off x="3383280" y="1828800"/>
            <a:ext cx="2377440" cy="594360"/>
          </a:xfrm>
          <a:prstGeom prst="rect">
            <a:avLst/>
          </a:prstGeom>
          <a:noFill/>
          <a:ln/>
        </p:spPr>
        <p:txBody>
          <a:bodyPr wrap="square" lIns="0" tIns="0" rIns="0" bIns="0" rtlCol="0" anchor="t"/>
          <a:lstStyle/>
          <a:p>
            <a:pPr indent="0" marL="0">
              <a:buNone/>
            </a:pPr>
            <a:r>
              <a:rPr lang="en-US" sz="1600" b="1" dirty="0">
                <a:solidFill>
                  <a:schemeClr val="tx1"/>
                </a:solidFill>
              </a:rPr>
              <a:t>kNN na embeddingach</a:t>
            </a:r>
            <a:endParaRPr lang="en-US" sz="1600" dirty="0"/>
          </a:p>
        </p:txBody>
      </p:sp>
      <p:sp>
        <p:nvSpPr>
          <p:cNvPr id="12" name="Warstwa 2 opis"/>
          <p:cNvSpPr txBox="1"/>
          <p:nvPr/>
        </p:nvSpPr>
        <p:spPr>
          <a:xfrm>
            <a:off x="3383280" y="2468880"/>
            <a:ext cx="2377440" cy="1188720"/>
          </a:xfrm>
          <a:prstGeom prst="rect">
            <a:avLst/>
          </a:prstGeom>
          <a:noFill/>
          <a:ln/>
        </p:spPr>
        <p:txBody>
          <a:bodyPr wrap="square" lIns="0" tIns="0" rIns="0" bIns="0" rtlCol="0" anchor="t"/>
          <a:lstStyle/>
          <a:p>
            <a:pPr indent="0" marL="0">
              <a:buNone/>
            </a:pPr>
            <a:r>
              <a:rPr lang="en-US" sz="1400" dirty="0">
                <a:solidFill>
                  <a:schemeClr val="tx2"/>
                </a:solidFill>
              </a:rPr>
              <a:t>20 najbardziej podobnych pytań, średnia ich etykiet. Rdzeń rozwiązania.</a:t>
            </a:r>
            <a:endParaRPr lang="en-US" sz="1400" dirty="0"/>
          </a:p>
        </p:txBody>
      </p:sp>
      <p:sp>
        <p:nvSpPr>
          <p:cNvPr id="13" name="Warstwa 3 nagłówek"/>
          <p:cNvSpPr/>
          <p:nvPr/>
        </p:nvSpPr>
        <p:spPr>
          <a:xfrm>
            <a:off x="6035040" y="1234440"/>
            <a:ext cx="2651760" cy="502920"/>
          </a:xfrm>
          <a:prstGeom prst="rect">
            <a:avLst/>
          </a:prstGeom>
          <a:solidFill>
            <a:schemeClr val="accent5"/>
          </a:solidFill>
          <a:ln w="12700">
            <a:solidFill>
              <a:schemeClr val="accent5"/>
            </a:solidFill>
            <a:prstDash val="solid"/>
          </a:ln>
        </p:spPr>
      </p:sp>
      <p:sp>
        <p:nvSpPr>
          <p:cNvPr id="14" name="Warstwa 3 nagłówek tekst"/>
          <p:cNvSpPr txBox="1"/>
          <p:nvPr/>
        </p:nvSpPr>
        <p:spPr>
          <a:xfrm>
            <a:off x="6035040" y="1234440"/>
            <a:ext cx="2651760" cy="502920"/>
          </a:xfrm>
          <a:prstGeom prst="rect">
            <a:avLst/>
          </a:prstGeom>
          <a:noFill/>
          <a:ln/>
        </p:spPr>
        <p:txBody>
          <a:bodyPr wrap="square" lIns="0" tIns="0" rIns="0" bIns="0" rtlCol="0" anchor="ctr"/>
          <a:lstStyle/>
          <a:p>
            <a:pPr algn="ctr" indent="0" marL="0">
              <a:buNone/>
            </a:pPr>
            <a:r>
              <a:rPr lang="en-US" sz="1600" b="1" dirty="0">
                <a:solidFill>
                  <a:schemeClr val="bg1"/>
                </a:solidFill>
              </a:rPr>
              <a:t>Warstwa 3</a:t>
            </a:r>
            <a:endParaRPr lang="en-US" sz="1600" dirty="0"/>
          </a:p>
        </p:txBody>
      </p:sp>
      <p:sp>
        <p:nvSpPr>
          <p:cNvPr id="15" name="Warstwa 3 karta"/>
          <p:cNvSpPr/>
          <p:nvPr/>
        </p:nvSpPr>
        <p:spPr>
          <a:xfrm>
            <a:off x="6035040" y="1737360"/>
            <a:ext cx="2651760" cy="2011680"/>
          </a:xfrm>
          <a:prstGeom prst="rect">
            <a:avLst/>
          </a:prstGeom>
          <a:solidFill>
            <a:schemeClr val="bg2"/>
          </a:solidFill>
          <a:ln w="12700">
            <a:solidFill>
              <a:schemeClr val="bg2"/>
            </a:solidFill>
            <a:prstDash val="solid"/>
          </a:ln>
        </p:spPr>
      </p:sp>
      <p:sp>
        <p:nvSpPr>
          <p:cNvPr id="16" name="Warstwa 3 tytuł"/>
          <p:cNvSpPr txBox="1"/>
          <p:nvPr/>
        </p:nvSpPr>
        <p:spPr>
          <a:xfrm>
            <a:off x="6172200" y="1828800"/>
            <a:ext cx="2377440" cy="594360"/>
          </a:xfrm>
          <a:prstGeom prst="rect">
            <a:avLst/>
          </a:prstGeom>
          <a:noFill/>
          <a:ln/>
        </p:spPr>
        <p:txBody>
          <a:bodyPr wrap="square" lIns="0" tIns="0" rIns="0" bIns="0" rtlCol="0" anchor="t"/>
          <a:lstStyle/>
          <a:p>
            <a:pPr indent="0" marL="0">
              <a:buNone/>
            </a:pPr>
            <a:r>
              <a:rPr lang="en-US" sz="1600" b="1" dirty="0">
                <a:solidFill>
                  <a:schemeClr val="tx1"/>
                </a:solidFill>
              </a:rPr>
              <a:t>Mały model ocenia pytanie</a:t>
            </a:r>
            <a:endParaRPr lang="en-US" sz="1600" dirty="0"/>
          </a:p>
        </p:txBody>
      </p:sp>
      <p:sp>
        <p:nvSpPr>
          <p:cNvPr id="17" name="Warstwa 3 opis"/>
          <p:cNvSpPr txBox="1"/>
          <p:nvPr/>
        </p:nvSpPr>
        <p:spPr>
          <a:xfrm>
            <a:off x="6172200" y="2468880"/>
            <a:ext cx="2377440" cy="1188720"/>
          </a:xfrm>
          <a:prstGeom prst="rect">
            <a:avLst/>
          </a:prstGeom>
          <a:noFill/>
          <a:ln/>
        </p:spPr>
        <p:txBody>
          <a:bodyPr wrap="square" lIns="0" tIns="0" rIns="0" bIns="0" rtlCol="0" anchor="t"/>
          <a:lstStyle/>
          <a:p>
            <a:pPr indent="0" marL="0">
              <a:buNone/>
            </a:pPr>
            <a:r>
              <a:rPr lang="en-US" sz="1400" dirty="0">
                <a:solidFill>
                  <a:schemeClr val="tx2"/>
                </a:solidFill>
              </a:rPr>
              <a:t>Tylko w strefie niepewności warstwy 2, po teście go/no-go. Jeszcze nie w rdzeniu.</a:t>
            </a:r>
            <a:endParaRPr lang="en-US" sz="1400" dirty="0"/>
          </a:p>
        </p:txBody>
      </p:sp>
      <p:sp>
        <p:nvSpPr>
          <p:cNvPr id="18" name="Decyzja i awaria"/>
          <p:cNvSpPr/>
          <p:nvPr/>
        </p:nvSpPr>
        <p:spPr>
          <a:xfrm>
            <a:off x="457200" y="3931920"/>
            <a:ext cx="8229600" cy="640080"/>
          </a:xfrm>
          <a:prstGeom prst="rect">
            <a:avLst/>
          </a:prstGeom>
          <a:solidFill>
            <a:schemeClr val="bg2"/>
          </a:solidFill>
          <a:ln w="12700">
            <a:solidFill>
              <a:schemeClr val="bg2"/>
            </a:solidFill>
            <a:prstDash val="solid"/>
          </a:ln>
        </p:spPr>
      </p:sp>
      <p:sp>
        <p:nvSpPr>
          <p:cNvPr id="19" name="Decyzja tekst"/>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400" dirty="0">
                <a:solidFill>
                  <a:schemeClr val="tx1"/>
                </a:solidFill>
              </a:rPr>
              <a:t>Wynik 0–1 porównywany z progiem administratora. Awaria klasyfikatora lub błąd małego modelu: duży model.</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BB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B1F2A"/>
                </a:solidFill>
              </a:rPr>
              <a:t>Dlaczego embeddingi i kNN</a:t>
            </a:r>
            <a:endParaRPr lang="en-US" sz="3200" dirty="0"/>
          </a:p>
        </p:txBody>
      </p:sp>
      <p:sp>
        <p:nvSpPr>
          <p:cNvPr id="3" name="Kolumna 1 karta"/>
          <p:cNvSpPr/>
          <p:nvPr/>
        </p:nvSpPr>
        <p:spPr>
          <a:xfrm>
            <a:off x="457200" y="1143000"/>
            <a:ext cx="4023360" cy="1920240"/>
          </a:xfrm>
          <a:prstGeom prst="rect">
            <a:avLst/>
          </a:prstGeom>
          <a:solidFill>
            <a:schemeClr val="bg2"/>
          </a:solidFill>
          <a:ln w="12700">
            <a:solidFill>
              <a:schemeClr val="bg2"/>
            </a:solidFill>
            <a:prstDash val="solid"/>
          </a:ln>
        </p:spPr>
      </p:sp>
      <p:sp>
        <p:nvSpPr>
          <p:cNvPr id="4" name="Kolumna 1 tytuł"/>
          <p:cNvSpPr txBox="1"/>
          <p:nvPr/>
        </p:nvSpPr>
        <p:spPr>
          <a:xfrm>
            <a:off x="640080" y="1234440"/>
            <a:ext cx="3657600" cy="365760"/>
          </a:xfrm>
          <a:prstGeom prst="rect">
            <a:avLst/>
          </a:prstGeom>
          <a:noFill/>
          <a:ln/>
        </p:spPr>
        <p:txBody>
          <a:bodyPr wrap="square" lIns="0" tIns="0" rIns="0" bIns="0" rtlCol="0" anchor="t"/>
          <a:lstStyle/>
          <a:p>
            <a:pPr indent="0" marL="0">
              <a:buNone/>
            </a:pPr>
            <a:r>
              <a:rPr lang="en-US" sz="1600" b="1" dirty="0">
                <a:solidFill>
                  <a:schemeClr val="accent2"/>
                </a:solidFill>
              </a:rPr>
              <a:t>Embedding: pytanie na liczby</a:t>
            </a:r>
            <a:endParaRPr lang="en-US" sz="1600" dirty="0"/>
          </a:p>
        </p:txBody>
      </p:sp>
      <p:sp>
        <p:nvSpPr>
          <p:cNvPr id="5" name="Kolumna 1 lista"/>
          <p:cNvSpPr txBox="1"/>
          <p:nvPr/>
        </p:nvSpPr>
        <p:spPr>
          <a:xfrm>
            <a:off x="640080" y="1645920"/>
            <a:ext cx="365760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Tekst zamieniam na 768 liczb</a:t>
            </a:r>
            <a:endParaRPr lang="en-US" sz="1400" dirty="0"/>
          </a:p>
          <a:p>
            <a:pPr marL="342900" indent="-342900">
              <a:spcAft>
                <a:spcPts val="600"/>
              </a:spcAft>
              <a:buSzPct val="100000"/>
              <a:buChar char="•"/>
            </a:pPr>
            <a:r>
              <a:rPr lang="en-US" sz="1400" dirty="0">
                <a:solidFill>
                  <a:schemeClr val="tx1"/>
                </a:solidFill>
              </a:rPr>
              <a:t>Podobne pytania mają bliskie wektory</a:t>
            </a:r>
            <a:endParaRPr lang="en-US" sz="1400" dirty="0"/>
          </a:p>
          <a:p>
            <a:pPr marL="342900" indent="-342900">
              <a:spcAft>
                <a:spcPts val="600"/>
              </a:spcAft>
              <a:buSzPct val="100000"/>
              <a:buChar char="•"/>
            </a:pPr>
            <a:r>
              <a:rPr lang="en-US" sz="1400" dirty="0">
                <a:solidFill>
                  <a:schemeClr val="tx1"/>
                </a:solidFill>
              </a:rPr>
              <a:t>Model lokalny, ok. 20 ms, dane zostają na serwerze</a:t>
            </a:r>
            <a:endParaRPr lang="en-US" sz="1400" dirty="0"/>
          </a:p>
        </p:txBody>
      </p:sp>
      <p:sp>
        <p:nvSpPr>
          <p:cNvPr id="6" name="Kolumna 2 karta"/>
          <p:cNvSpPr/>
          <p:nvPr/>
        </p:nvSpPr>
        <p:spPr>
          <a:xfrm>
            <a:off x="4663440" y="1143000"/>
            <a:ext cx="4023360" cy="1920240"/>
          </a:xfrm>
          <a:prstGeom prst="rect">
            <a:avLst/>
          </a:prstGeom>
          <a:solidFill>
            <a:schemeClr val="bg2"/>
          </a:solidFill>
          <a:ln w="12700">
            <a:solidFill>
              <a:schemeClr val="bg2"/>
            </a:solidFill>
            <a:prstDash val="solid"/>
          </a:ln>
        </p:spPr>
      </p:sp>
      <p:sp>
        <p:nvSpPr>
          <p:cNvPr id="7" name="Kolumna 2 tytuł"/>
          <p:cNvSpPr txBox="1"/>
          <p:nvPr/>
        </p:nvSpPr>
        <p:spPr>
          <a:xfrm>
            <a:off x="4846320" y="1234440"/>
            <a:ext cx="3657600" cy="365760"/>
          </a:xfrm>
          <a:prstGeom prst="rect">
            <a:avLst/>
          </a:prstGeom>
          <a:noFill/>
          <a:ln/>
        </p:spPr>
        <p:txBody>
          <a:bodyPr wrap="square" lIns="0" tIns="0" rIns="0" bIns="0" rtlCol="0" anchor="t"/>
          <a:lstStyle/>
          <a:p>
            <a:pPr indent="0" marL="0">
              <a:buNone/>
            </a:pPr>
            <a:r>
              <a:rPr lang="en-US" sz="1600" b="1" dirty="0">
                <a:solidFill>
                  <a:schemeClr val="accent1"/>
                </a:solidFill>
              </a:rPr>
              <a:t>kNN: podobne pytania</a:t>
            </a:r>
            <a:endParaRPr lang="en-US" sz="1600" dirty="0"/>
          </a:p>
        </p:txBody>
      </p:sp>
      <p:sp>
        <p:nvSpPr>
          <p:cNvPr id="8" name="Kolumna 2 lista"/>
          <p:cNvSpPr txBox="1"/>
          <p:nvPr/>
        </p:nvSpPr>
        <p:spPr>
          <a:xfrm>
            <a:off x="4846320" y="1645920"/>
            <a:ext cx="365760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Wynik = odsetek COMPLEX wśród 20 najbliższych pytań</a:t>
            </a:r>
            <a:endParaRPr lang="en-US" sz="1400" dirty="0"/>
          </a:p>
          <a:p>
            <a:pPr marL="342900" indent="-342900">
              <a:spcAft>
                <a:spcPts val="600"/>
              </a:spcAft>
              <a:buSzPct val="100000"/>
              <a:buChar char="•"/>
            </a:pPr>
            <a:r>
              <a:rPr lang="en-US" sz="1400" dirty="0">
                <a:solidFill>
                  <a:schemeClr val="tx1"/>
                </a:solidFill>
              </a:rPr>
              <a:t>Bez uczenia (jak SW Ranking, RouteLLM)</a:t>
            </a:r>
            <a:endParaRPr lang="en-US" sz="1400" dirty="0"/>
          </a:p>
          <a:p>
            <a:pPr marL="342900" indent="-342900">
              <a:spcAft>
                <a:spcPts val="600"/>
              </a:spcAft>
              <a:buSzPct val="100000"/>
              <a:buChar char="•"/>
            </a:pPr>
            <a:r>
              <a:rPr lang="en-US" sz="1400" dirty="0">
                <a:solidFill>
                  <a:schemeClr val="tx1"/>
                </a:solidFill>
              </a:rPr>
              <a:t>Żadna inna metoda nie była istotnie lepsza</a:t>
            </a:r>
            <a:endParaRPr lang="en-US" sz="1400" dirty="0"/>
          </a:p>
        </p:txBody>
      </p:sp>
      <p:sp>
        <p:nvSpPr>
          <p:cNvPr id="9" name="Alternatywy karta"/>
          <p:cNvSpPr/>
          <p:nvPr/>
        </p:nvSpPr>
        <p:spPr>
          <a:xfrm>
            <a:off x="457200" y="3200400"/>
            <a:ext cx="8229600" cy="1463040"/>
          </a:xfrm>
          <a:prstGeom prst="rect">
            <a:avLst/>
          </a:prstGeom>
          <a:solidFill>
            <a:schemeClr val="bg2"/>
          </a:solidFill>
          <a:ln w="12700">
            <a:solidFill>
              <a:schemeClr val="bg2"/>
            </a:solidFill>
            <a:prstDash val="solid"/>
          </a:ln>
        </p:spPr>
      </p:sp>
      <p:sp>
        <p:nvSpPr>
          <p:cNvPr id="10" name="Alternatywy tekst"/>
          <p:cNvSpPr txBox="1"/>
          <p:nvPr/>
        </p:nvSpPr>
        <p:spPr>
          <a:xfrm>
            <a:off x="640080" y="3273552"/>
            <a:ext cx="7863840" cy="132588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Sprawdzone alternatywy</a:t>
            </a:r>
            <a:endParaRPr lang="en-US" sz="1400" dirty="0"/>
          </a:p>
          <a:p>
            <a:pPr indent="0" marL="0">
              <a:spcAft>
                <a:spcPts val="400"/>
              </a:spcAft>
              <a:buNone/>
            </a:pPr>
            <a:r>
              <a:rPr lang="en-US" sz="1400" dirty="0">
                <a:solidFill>
                  <a:schemeClr val="tx1"/>
                </a:solidFill>
              </a:rPr>
              <a:t>Embeddery: 4 sprawdzone (AUROC 0,679–0,709). Najlepszy, qwen3, jest 3× wolniejszy (52 ms wobec 17,6 ms), a jego przewaga niewielka.</a:t>
            </a:r>
            <a:endParaRPr lang="en-US" sz="1400" dirty="0"/>
          </a:p>
          <a:p>
            <a:pPr indent="0" marL="0">
              <a:buNone/>
            </a:pPr>
            <a:r>
              <a:rPr lang="en-US" sz="1400" dirty="0">
                <a:solidFill>
                  <a:schemeClr val="tx1"/>
                </a:solidFill>
              </a:rPr>
              <a:t>Klasyfikatory: 9 konfiguracji (regresja logistyczna, SVM, sieć MLP, boosting i inne), AUROC 0,662–0,691, żadna istotnie lepsza od kNN.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BB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B1F2A"/>
                </a:solidFill>
              </a:rPr>
              <a:t>Wyniki routera</a:t>
            </a:r>
            <a:endParaRPr lang="en-US" sz="3200" dirty="0"/>
          </a:p>
        </p:txBody>
      </p:sp>
      <p:pic>
        <p:nvPicPr>
          <p:cNvPr id="3" name="Wykres auroc" descr="Wykres słupkowy: AUROC losowego, sama długość, samo źródło i router kNN">    </p:cNvPr>
          <p:cNvPicPr>
            <a:picLocks noChangeAspect="1"/>
          </p:cNvPicPr>
          <p:nvPr/>
        </p:nvPicPr>
        <p:blipFill>
          <a:blip r:embed="rId1"/>
          <a:stretch>
            <a:fillRect/>
          </a:stretch>
        </p:blipFill>
        <p:spPr>
          <a:xfrm>
            <a:off x="365760" y="1143000"/>
            <a:ext cx="4754880" cy="3383280"/>
          </a:xfrm>
          <a:prstGeom prst="rect">
            <a:avLst/>
          </a:prstGeom>
        </p:spPr>
      </p:pic>
      <p:sp>
        <p:nvSpPr>
          <p:cNvPr id="4" name="Wnioski wyniki"/>
          <p:cNvSpPr txBox="1"/>
          <p:nvPr/>
        </p:nvSpPr>
        <p:spPr>
          <a:xfrm>
            <a:off x="5394960" y="1280160"/>
            <a:ext cx="3383280" cy="31089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Wyraźnie lepszy od losowego i od długości pytania</a:t>
            </a:r>
            <a:endParaRPr lang="en-US" sz="1600" dirty="0"/>
          </a:p>
          <a:p>
            <a:pPr marL="342900" indent="-342900">
              <a:spcAft>
                <a:spcPts val="800"/>
              </a:spcAft>
              <a:buSzPct val="100000"/>
              <a:buChar char="•"/>
            </a:pPr>
            <a:r>
              <a:rPr lang="en-US" sz="1600" dirty="0">
                <a:solidFill>
                  <a:schemeClr val="tx1"/>
                </a:solidFill>
              </a:rPr>
              <a:t>Od samego źródła tylko skromnie: APGR 0,605 wobec 0,582 (+0,023, istotnie)</a:t>
            </a:r>
            <a:endParaRPr lang="en-US" sz="1600" dirty="0"/>
          </a:p>
          <a:p>
            <a:pPr marL="342900" indent="-342900">
              <a:buSzPct val="100000"/>
              <a:buChar char="•"/>
            </a:pPr>
            <a:r>
              <a:rPr lang="en-US" sz="1600" dirty="0">
                <a:solidFill>
                  <a:schemeClr val="tx1"/>
                </a:solidFill>
              </a:rPr>
              <a:t>Heurystyki (warstwa 1) nie dodają nic do kNN, a wybór k i embeddera nie zmienia wyniku</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BB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B1F2A"/>
                </a:solidFill>
              </a:rPr>
              <a:t>Co to daje w praktyce</a:t>
            </a:r>
            <a:endParaRPr lang="en-US" sz="3200" dirty="0"/>
          </a:p>
        </p:txBody>
      </p:sp>
      <p:pic>
        <p:nvPicPr>
          <p:cNvPr id="3" name="Wykres jakosc_udzial" descr="Wykres liniowy: jakość a udział zapytań do dużego modelu, router i losowe wysyłanie">    </p:cNvPr>
          <p:cNvPicPr>
            <a:picLocks noChangeAspect="1"/>
          </p:cNvPicPr>
          <p:nvPr/>
        </p:nvPicPr>
        <p:blipFill>
          <a:blip r:embed="rId1"/>
          <a:stretch>
            <a:fillRect/>
          </a:stretch>
        </p:blipFill>
        <p:spPr>
          <a:xfrm>
            <a:off x="365760" y="1143000"/>
            <a:ext cx="4937760" cy="3429000"/>
          </a:xfrm>
          <a:prstGeom prst="rect">
            <a:avLst/>
          </a:prstGeom>
        </p:spPr>
      </p:pic>
      <p:sp>
        <p:nvSpPr>
          <p:cNvPr id="4" name="Próg 0,3"/>
          <p:cNvSpPr txBox="1"/>
          <p:nvPr/>
        </p:nvSpPr>
        <p:spPr>
          <a:xfrm>
            <a:off x="5486400" y="1143000"/>
            <a:ext cx="3200400" cy="10972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To obraz APGR: pomarańczowa nad szarą (0,605 wobec 0,5).</a:t>
            </a:r>
            <a:endParaRPr lang="en-US" sz="1400" dirty="0"/>
          </a:p>
          <a:p>
            <a:pPr indent="0" marL="0">
              <a:buNone/>
            </a:pPr>
            <a:r>
              <a:rPr lang="en-US" sz="1400" dirty="0">
                <a:solidFill>
                  <a:schemeClr val="tx1"/>
                </a:solidFill>
              </a:rPr>
              <a:t>Próg 0,3: 54% do dużego, jakość 0,777.</a:t>
            </a:r>
            <a:endParaRPr lang="en-US" sz="1400" dirty="0"/>
          </a:p>
        </p:txBody>
      </p:sp>
      <p:sp>
        <p:nvSpPr>
          <p:cNvPr id="5" name="Tabela ryzyka karta"/>
          <p:cNvSpPr/>
          <p:nvPr/>
        </p:nvSpPr>
        <p:spPr>
          <a:xfrm>
            <a:off x="5486400" y="2331720"/>
            <a:ext cx="3200400" cy="2331720"/>
          </a:xfrm>
          <a:prstGeom prst="rect">
            <a:avLst/>
          </a:prstGeom>
          <a:solidFill>
            <a:schemeClr val="bg2"/>
          </a:solidFill>
          <a:ln w="12700">
            <a:solidFill>
              <a:schemeClr val="bg2"/>
            </a:solidFill>
            <a:prstDash val="solid"/>
          </a:ln>
        </p:spPr>
      </p:sp>
      <p:sp>
        <p:nvSpPr>
          <p:cNvPr id="6" name="Tabela ryzyka tytuł"/>
          <p:cNvSpPr txBox="1"/>
          <p:nvPr/>
        </p:nvSpPr>
        <p:spPr>
          <a:xfrm>
            <a:off x="5623560" y="2395728"/>
            <a:ext cx="2926080" cy="320040"/>
          </a:xfrm>
          <a:prstGeom prst="rect">
            <a:avLst/>
          </a:prstGeom>
          <a:noFill/>
          <a:ln/>
        </p:spPr>
        <p:txBody>
          <a:bodyPr wrap="square" lIns="0" tIns="0" rIns="0" bIns="0" rtlCol="0" anchor="t"/>
          <a:lstStyle/>
          <a:p>
            <a:pPr indent="0" marL="0">
              <a:buNone/>
            </a:pPr>
            <a:r>
              <a:rPr lang="en-US" sz="1400" b="1" dirty="0">
                <a:solidFill>
                  <a:schemeClr val="tx1"/>
                </a:solidFill>
              </a:rPr>
              <a:t>Ryzyko: poważne błędy</a:t>
            </a:r>
            <a:endParaRPr lang="en-US" sz="1400" dirty="0"/>
          </a:p>
        </p:txBody>
      </p:sp>
      <p:graphicFrame>
        <p:nvGraphicFramePr>
          <p:cNvPr id="12" name="Tabela ryzyka"/>
          <p:cNvGraphicFramePr>
            <a:graphicFrameLocks noGrp="1"/>
          </p:cNvGraphicFramePr>
          <p:nvPr>
            <p:extLst>
              <p:ext uri="{D42A27DB-BD31-4B8C-83A1-F6EECF244321}">
                <p14:modId xmlns:p14="http://schemas.microsoft.com/office/powerpoint/2010/main" val="1579011935"/>
              </p:ext>
            </p:extLst>
          </p:nvPr>
        </p:nvGraphicFramePr>
        <p:xfrm>
          <a:off x="5623560" y="2743200"/>
          <a:ext cx="2926080" cy="914400"/>
        </p:xfrm>
        <a:graphic>
          <a:graphicData uri="http://schemas.openxmlformats.org/drawingml/2006/table">
            <a:tbl>
              <a:tblPr/>
              <a:tblGrid>
                <a:gridCol w="1280160"/>
                <a:gridCol w="1645920"/>
              </a:tblGrid>
              <a:tr h="347472">
                <a:tc>
                  <a:txBody>
                    <a:bodyPr/>
                    <a:lstStyle/>
                    <a:p>
                      <a:pPr indent="0" marL="0">
                        <a:buNone/>
                      </a:pPr>
                      <a:r>
                        <a:rPr lang="en-US" sz="1400" b="1" dirty="0">
                          <a:solidFill>
                            <a:srgbClr val="1B1F2A"/>
                          </a:solidFill>
                        </a:rPr>
                        <a:t>Błędów do</a:t>
                      </a:r>
                      <a:endParaRPr lang="en-US" sz="14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b="1" dirty="0">
                          <a:solidFill>
                            <a:srgbClr val="1B1F2A"/>
                          </a:solidFill>
                        </a:rPr>
                        <a:t>Do małego</a:t>
                      </a:r>
                      <a:endParaRPr lang="en-US" sz="1400" dirty="0"/>
                    </a:p>
                  </a:txBody>
                  <a:tcPr marL="91440" marR="91440" marT="45720" marB="45720">
                    <a:lnL w="0" cap="flat" cmpd="sng" algn="ctr">
                      <a:noFill/>
                    </a:lnL>
                    <a:lnR w="0" cap="flat" cmpd="sng" algn="ctr">
                      <a:noFill/>
                    </a:lnR>
                    <a:lnT w="0" cap="flat" cmpd="sng" algn="ctr">
                      <a:noFill/>
                    </a:lnT>
                    <a:lnB w="0" cap="flat" cmpd="sng" algn="ctr">
                      <a:noFill/>
                    </a:lnB>
                  </a:tcPr>
                </a:tc>
              </a:tr>
              <a:tr h="347472">
                <a:tc>
                  <a:txBody>
                    <a:bodyPr/>
                    <a:lstStyle/>
                    <a:p>
                      <a:pPr indent="0" marL="0">
                        <a:buNone/>
                      </a:pPr>
                      <a:r>
                        <a:rPr lang="en-US" sz="1400" dirty="0">
                          <a:solidFill>
                            <a:srgbClr val="1B1F2A"/>
                          </a:solidFill>
                        </a:rPr>
                        <a:t>10%</a:t>
                      </a:r>
                      <a:endParaRPr lang="en-US" sz="14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1F2A"/>
                          </a:solidFill>
                        </a:rPr>
                        <a:t>22% pytań</a:t>
                      </a:r>
                      <a:endParaRPr lang="en-US" sz="1400" dirty="0"/>
                    </a:p>
                  </a:txBody>
                  <a:tcPr marL="91440" marR="91440" marT="45720" marB="45720">
                    <a:lnL w="0" cap="flat" cmpd="sng" algn="ctr">
                      <a:noFill/>
                    </a:lnL>
                    <a:lnR w="0" cap="flat" cmpd="sng" algn="ctr">
                      <a:noFill/>
                    </a:lnR>
                    <a:lnT w="0" cap="flat" cmpd="sng" algn="ctr">
                      <a:noFill/>
                    </a:lnT>
                    <a:lnB w="0" cap="flat" cmpd="sng" algn="ctr">
                      <a:noFill/>
                    </a:lnB>
                  </a:tcPr>
                </a:tc>
              </a:tr>
              <a:tr h="347472">
                <a:tc>
                  <a:txBody>
                    <a:bodyPr/>
                    <a:lstStyle/>
                    <a:p>
                      <a:pPr indent="0" marL="0">
                        <a:buNone/>
                      </a:pPr>
                      <a:r>
                        <a:rPr lang="en-US" sz="1400" dirty="0">
                          <a:solidFill>
                            <a:srgbClr val="1B1F2A"/>
                          </a:solidFill>
                        </a:rPr>
                        <a:t>12%</a:t>
                      </a:r>
                      <a:endParaRPr lang="en-US" sz="14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1F2A"/>
                          </a:solidFill>
                        </a:rPr>
                        <a:t>47% pytań</a:t>
                      </a:r>
                      <a:endParaRPr lang="en-US" sz="1400" dirty="0"/>
                    </a:p>
                  </a:txBody>
                  <a:tcPr marL="91440" marR="91440" marT="45720" marB="45720">
                    <a:lnL w="0" cap="flat" cmpd="sng" algn="ctr">
                      <a:noFill/>
                    </a:lnL>
                    <a:lnR w="0" cap="flat" cmpd="sng" algn="ctr">
                      <a:noFill/>
                    </a:lnR>
                    <a:lnT w="0" cap="flat" cmpd="sng" algn="ctr">
                      <a:noFill/>
                    </a:lnT>
                    <a:lnB w="0" cap="flat" cmpd="sng" algn="ctr">
                      <a:noFill/>
                    </a:lnB>
                  </a:tcPr>
                </a:tc>
              </a:tr>
              <a:tr h="347472">
                <a:tc>
                  <a:txBody>
                    <a:bodyPr/>
                    <a:lstStyle/>
                    <a:p>
                      <a:pPr indent="0" marL="0">
                        <a:buNone/>
                      </a:pPr>
                      <a:r>
                        <a:rPr lang="en-US" sz="1400" dirty="0">
                          <a:solidFill>
                            <a:srgbClr val="1B1F2A"/>
                          </a:solidFill>
                        </a:rPr>
                        <a:t>15%</a:t>
                      </a:r>
                      <a:endParaRPr lang="en-US" sz="14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1F2A"/>
                          </a:solidFill>
                        </a:rPr>
                        <a:t>90% pytań</a:t>
                      </a:r>
                      <a:endParaRPr lang="en-US" sz="1400" dirty="0"/>
                    </a:p>
                  </a:txBody>
                  <a:tcPr marL="91440" marR="91440" marT="45720" marB="45720">
                    <a:lnL w="0" cap="flat" cmpd="sng" algn="ctr">
                      <a:noFill/>
                    </a:lnL>
                    <a:lnR w="0" cap="flat" cmpd="sng" algn="ctr">
                      <a:noFill/>
                    </a:lnR>
                    <a:lnT w="0" cap="flat" cmpd="sng" algn="ctr">
                      <a:noFill/>
                    </a:lnT>
                    <a:lnB w="0" cap="flat" cmpd="sng" algn="ctr">
                      <a:noFill/>
                    </a:lnB>
                  </a:tcPr>
                </a:tc>
              </a:tr>
              <a:tr h="347472">
                <a:tc>
                  <a:txBody>
                    <a:bodyPr/>
                    <a:lstStyle/>
                    <a:p>
                      <a:pPr indent="0" marL="0">
                        <a:buNone/>
                      </a:pPr>
                      <a:r>
                        <a:rPr lang="en-US" sz="1400" dirty="0">
                          <a:solidFill>
                            <a:srgbClr val="1B1F2A"/>
                          </a:solidFill>
                        </a:rPr>
                        <a:t>8% i mniej</a:t>
                      </a:r>
                      <a:endParaRPr lang="en-US" sz="1400" dirty="0"/>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1B1F2A"/>
                          </a:solidFill>
                        </a:rPr>
                        <a:t>brak progu</a:t>
                      </a:r>
                      <a:endParaRPr lang="en-US" sz="1400" dirty="0"/>
                    </a:p>
                  </a:txBody>
                  <a:tcPr marL="91440" marR="91440" marT="45720" marB="45720">
                    <a:lnL w="0" cap="flat" cmpd="sng" algn="ctr">
                      <a:noFill/>
                    </a:lnL>
                    <a:lnR w="0" cap="flat" cmpd="sng" algn="ctr">
                      <a:noFill/>
                    </a:lnR>
                    <a:lnT w="0" cap="flat" cmpd="sng" algn="ctr">
                      <a:noFill/>
                    </a:lnT>
                    <a:lnB w="0" cap="flat" cmpd="sng" algn="ctr">
                      <a:noFill/>
                    </a:lnB>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BB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B1F2A"/>
                </a:solidFill>
              </a:rPr>
              <a:t>Gdzie router się myli</a:t>
            </a:r>
            <a:endParaRPr lang="en-US" sz="3200" dirty="0"/>
          </a:p>
        </p:txBody>
      </p:sp>
      <p:pic>
        <p:nvPicPr>
          <p:cNvPr id="3" name="Wykres bledy_krytyczne" descr="Wykres słupkowy: odsetek pytań krytycznych wysłanych do małego modelu wg źródła">    </p:cNvPr>
          <p:cNvPicPr>
            <a:picLocks noChangeAspect="1"/>
          </p:cNvPicPr>
          <p:nvPr/>
        </p:nvPicPr>
        <p:blipFill>
          <a:blip r:embed="rId1"/>
          <a:stretch>
            <a:fillRect/>
          </a:stretch>
        </p:blipFill>
        <p:spPr>
          <a:xfrm>
            <a:off x="365760" y="1143000"/>
            <a:ext cx="4937760" cy="3383280"/>
          </a:xfrm>
          <a:prstGeom prst="rect">
            <a:avLst/>
          </a:prstGeom>
        </p:spPr>
      </p:pic>
      <p:sp>
        <p:nvSpPr>
          <p:cNvPr id="4" name="Wyjaśnienie błędów"/>
          <p:cNvSpPr txBox="1"/>
          <p:nvPr/>
        </p:nvSpPr>
        <p:spPr>
          <a:xfrm>
            <a:off x="5486400" y="1280160"/>
            <a:ext cx="3200400" cy="3200400"/>
          </a:xfrm>
          <a:prstGeom prst="rect">
            <a:avLst/>
          </a:prstGeom>
          <a:noFill/>
          <a:ln/>
        </p:spPr>
        <p:txBody>
          <a:bodyPr wrap="square" lIns="0" tIns="0" rIns="0" bIns="0" rtlCol="0" anchor="t"/>
          <a:lstStyle/>
          <a:p>
            <a:pPr indent="0" marL="0">
              <a:spcAft>
                <a:spcPts val="1000"/>
              </a:spcAft>
              <a:buNone/>
            </a:pPr>
            <a:r>
              <a:rPr lang="en-US" sz="1400" b="1" dirty="0">
                <a:solidFill>
                  <a:schemeClr val="tx1"/>
                </a:solidFill>
              </a:rPr>
              <a:t>Router widzi tylko tekst pytania, nie wie, co zna mały model</a:t>
            </a:r>
            <a:endParaRPr lang="en-US" sz="1400" dirty="0"/>
          </a:p>
          <a:p>
            <a:pPr marL="342900" indent="-342900">
              <a:spcAft>
                <a:spcPts val="800"/>
              </a:spcAft>
              <a:buSzPct val="100000"/>
              <a:buChar char="•"/>
            </a:pPr>
            <a:r>
              <a:rPr lang="en-US" sz="1400" dirty="0">
                <a:solidFill>
                  <a:schemeClr val="tx1"/>
                </a:solidFill>
              </a:rPr>
              <a:t>Dwa pytania o fakty wyglądają podobnie, a mały model zna jedną odpowiedź i nie zna drugiej</a:t>
            </a:r>
            <a:endParaRPr lang="en-US" sz="1400" dirty="0"/>
          </a:p>
          <a:p>
            <a:pPr marL="342900" indent="-342900">
              <a:spcAft>
                <a:spcPts val="800"/>
              </a:spcAft>
              <a:buSzPct val="100000"/>
              <a:buChar char="•"/>
            </a:pPr>
            <a:r>
              <a:rPr lang="en-US" sz="1400" dirty="0">
                <a:solidFill>
                  <a:schemeClr val="tx1"/>
                </a:solidFill>
              </a:rPr>
              <a:t>Podobnie z kodem: opisy funkcji są do siebie podobne</a:t>
            </a:r>
            <a:endParaRPr lang="en-US" sz="1400" dirty="0"/>
          </a:p>
          <a:p>
            <a:pPr indent="0" marL="0">
              <a:buNone/>
            </a:pPr>
            <a:r>
              <a:rPr lang="en-US" sz="1400" dirty="0">
                <a:solidFill>
                  <a:schemeClr val="tx1"/>
                </a:solidFill>
              </a:rPr>
              <a:t>Próbki małe: 42 pytania TriviaQA, 19 HumanEval</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BB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B1F2A"/>
                </a:solidFill>
              </a:rPr>
              <a:t>Test na prawdziwych modelach</a:t>
            </a:r>
            <a:endParaRPr lang="en-US" sz="3200" dirty="0"/>
          </a:p>
        </p:txBody>
      </p:sp>
      <p:graphicFrame>
        <p:nvGraphicFramePr>
          <p:cNvPr id="14" name="Tabela testów"/>
          <p:cNvGraphicFramePr>
            <a:graphicFrameLocks noGrp="1"/>
          </p:cNvGraphicFramePr>
          <p:nvPr>
            <p:extLst>
              <p:ext uri="{D42A27DB-BD31-4B8C-83A1-F6EECF244321}">
                <p14:modId xmlns:p14="http://schemas.microsoft.com/office/powerpoint/2010/main" val="1579011935"/>
              </p:ext>
            </p:extLst>
          </p:nvPr>
        </p:nvGraphicFramePr>
        <p:xfrm>
          <a:off x="457200" y="1188720"/>
          <a:ext cx="5577840" cy="914400"/>
        </p:xfrm>
        <a:graphic>
          <a:graphicData uri="http://schemas.openxmlformats.org/drawingml/2006/table">
            <a:tbl>
              <a:tblPr/>
              <a:tblGrid>
                <a:gridCol w="2286000"/>
                <a:gridCol w="1097280"/>
                <a:gridCol w="914400"/>
                <a:gridCol w="1280160"/>
              </a:tblGrid>
              <a:tr h="502920">
                <a:tc>
                  <a:txBody>
                    <a:bodyPr/>
                    <a:lstStyle/>
                    <a:p>
                      <a:pPr indent="0" marL="0">
                        <a:buNone/>
                      </a:pPr>
                      <a:r>
                        <a:rPr lang="en-US" sz="1300" b="1" dirty="0">
                          <a:solidFill>
                            <a:srgbClr val="1B1F2A"/>
                          </a:solidFill>
                        </a:rPr>
                        <a:t>Zapytanie</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solidFill>
                      <a:srgbClr val="F1F3F6"/>
                    </a:solidFill>
                  </a:tcPr>
                </a:tc>
                <a:tc>
                  <a:txBody>
                    <a:bodyPr/>
                    <a:lstStyle/>
                    <a:p>
                      <a:pPr indent="0" marL="0">
                        <a:buNone/>
                      </a:pPr>
                      <a:r>
                        <a:rPr lang="en-US" sz="1300" b="1" dirty="0">
                          <a:solidFill>
                            <a:srgbClr val="1B1F2A"/>
                          </a:solidFill>
                        </a:rPr>
                        <a:t>Warstwa</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solidFill>
                      <a:srgbClr val="F1F3F6"/>
                    </a:solidFill>
                  </a:tcPr>
                </a:tc>
                <a:tc>
                  <a:txBody>
                    <a:bodyPr/>
                    <a:lstStyle/>
                    <a:p>
                      <a:pPr indent="0" marL="0">
                        <a:buNone/>
                      </a:pPr>
                      <a:r>
                        <a:rPr lang="en-US" sz="1300" b="1" dirty="0">
                          <a:solidFill>
                            <a:srgbClr val="1B1F2A"/>
                          </a:solidFill>
                        </a:rPr>
                        <a:t>Model</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solidFill>
                      <a:srgbClr val="F1F3F6"/>
                    </a:solidFill>
                  </a:tcPr>
                </a:tc>
                <a:tc>
                  <a:txBody>
                    <a:bodyPr/>
                    <a:lstStyle/>
                    <a:p>
                      <a:pPr indent="0" marL="0">
                        <a:buNone/>
                      </a:pPr>
                      <a:r>
                        <a:rPr lang="en-US" sz="1300" b="1" dirty="0">
                          <a:solidFill>
                            <a:srgbClr val="1B1F2A"/>
                          </a:solidFill>
                        </a:rPr>
                        <a:t>Wynik kNN</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solidFill>
                      <a:srgbClr val="F1F3F6"/>
                    </a:solidFill>
                  </a:tcPr>
                </a:tc>
              </a:tr>
              <a:tr h="502920">
                <a:tc>
                  <a:txBody>
                    <a:bodyPr/>
                    <a:lstStyle/>
                    <a:p>
                      <a:pPr indent="0" marL="0">
                        <a:buNone/>
                      </a:pPr>
                      <a:r>
                        <a:rPr lang="en-US" sz="1300" dirty="0">
                          <a:solidFill>
                            <a:srgbClr val="1B1F2A"/>
                          </a:solidFill>
                        </a:rPr>
                        <a:t>Stolica Francji</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tcPr>
                </a:tc>
                <a:tc>
                  <a:txBody>
                    <a:bodyPr/>
                    <a:lstStyle/>
                    <a:p>
                      <a:pPr indent="0" marL="0">
                        <a:buNone/>
                      </a:pPr>
                      <a:r>
                        <a:rPr lang="en-US" sz="1300" dirty="0">
                          <a:solidFill>
                            <a:srgbClr val="1B1F2A"/>
                          </a:solidFill>
                        </a:rPr>
                        <a:t>kNN</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tcPr>
                </a:tc>
                <a:tc>
                  <a:txBody>
                    <a:bodyPr/>
                    <a:lstStyle/>
                    <a:p>
                      <a:pPr indent="0" marL="0">
                        <a:buNone/>
                      </a:pPr>
                      <a:r>
                        <a:rPr lang="en-US" sz="1300" dirty="0">
                          <a:solidFill>
                            <a:srgbClr val="1B1F2A"/>
                          </a:solidFill>
                        </a:rPr>
                        <a:t>mały</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tcPr>
                </a:tc>
                <a:tc>
                  <a:txBody>
                    <a:bodyPr/>
                    <a:lstStyle/>
                    <a:p>
                      <a:pPr indent="0" marL="0">
                        <a:buNone/>
                      </a:pPr>
                      <a:r>
                        <a:rPr lang="en-US" sz="1300" dirty="0">
                          <a:solidFill>
                            <a:srgbClr val="1B1F2A"/>
                          </a:solidFill>
                        </a:rPr>
                        <a:t>0,19</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tcPr>
                </a:tc>
              </a:tr>
              <a:tr h="502920">
                <a:tc>
                  <a:txBody>
                    <a:bodyPr/>
                    <a:lstStyle/>
                    <a:p>
                      <a:pPr indent="0" marL="0">
                        <a:buNone/>
                      </a:pPr>
                      <a:r>
                        <a:rPr lang="en-US" sz="1300" dirty="0">
                          <a:solidFill>
                            <a:srgbClr val="1B1F2A"/>
                          </a:solidFill>
                        </a:rPr>
                        <a:t>Opowiadanie: smok i rycerz</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tcPr>
                </a:tc>
                <a:tc>
                  <a:txBody>
                    <a:bodyPr/>
                    <a:lstStyle/>
                    <a:p>
                      <a:pPr indent="0" marL="0">
                        <a:buNone/>
                      </a:pPr>
                      <a:r>
                        <a:rPr lang="en-US" sz="1300" dirty="0">
                          <a:solidFill>
                            <a:srgbClr val="1B1F2A"/>
                          </a:solidFill>
                        </a:rPr>
                        <a:t>kNN</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tcPr>
                </a:tc>
                <a:tc>
                  <a:txBody>
                    <a:bodyPr/>
                    <a:lstStyle/>
                    <a:p>
                      <a:pPr indent="0" marL="0">
                        <a:buNone/>
                      </a:pPr>
                      <a:r>
                        <a:rPr lang="en-US" sz="1300" dirty="0">
                          <a:solidFill>
                            <a:srgbClr val="1B1F2A"/>
                          </a:solidFill>
                        </a:rPr>
                        <a:t>duży</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tcPr>
                </a:tc>
                <a:tc>
                  <a:txBody>
                    <a:bodyPr/>
                    <a:lstStyle/>
                    <a:p>
                      <a:pPr indent="0" marL="0">
                        <a:buNone/>
                      </a:pPr>
                      <a:r>
                        <a:rPr lang="en-US" sz="1300" dirty="0">
                          <a:solidFill>
                            <a:srgbClr val="1B1F2A"/>
                          </a:solidFill>
                        </a:rPr>
                        <a:t>0,70</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tcPr>
                </a:tc>
              </a:tr>
              <a:tr h="502920">
                <a:tc>
                  <a:txBody>
                    <a:bodyPr/>
                    <a:lstStyle/>
                    <a:p>
                      <a:pPr indent="0" marL="0">
                        <a:buNone/>
                      </a:pPr>
                      <a:r>
                        <a:rPr lang="en-US" sz="1300" dirty="0">
                          <a:solidFill>
                            <a:srgbClr val="1B1F2A"/>
                          </a:solidFill>
                        </a:rPr>
                        <a:t>Analizuj, porównaj, oceń kompromisy</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tcPr>
                </a:tc>
                <a:tc>
                  <a:txBody>
                    <a:bodyPr/>
                    <a:lstStyle/>
                    <a:p>
                      <a:pPr indent="0" marL="0">
                        <a:buNone/>
                      </a:pPr>
                      <a:r>
                        <a:rPr lang="en-US" sz="1300" dirty="0">
                          <a:solidFill>
                            <a:srgbClr val="1B1F2A"/>
                          </a:solidFill>
                        </a:rPr>
                        <a:t>heurystyki</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tcPr>
                </a:tc>
                <a:tc>
                  <a:txBody>
                    <a:bodyPr/>
                    <a:lstStyle/>
                    <a:p>
                      <a:pPr indent="0" marL="0">
                        <a:buNone/>
                      </a:pPr>
                      <a:r>
                        <a:rPr lang="en-US" sz="1300" dirty="0">
                          <a:solidFill>
                            <a:srgbClr val="1B1F2A"/>
                          </a:solidFill>
                        </a:rPr>
                        <a:t>duży</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tcPr>
                </a:tc>
                <a:tc>
                  <a:txBody>
                    <a:bodyPr/>
                    <a:lstStyle/>
                    <a:p>
                      <a:pPr indent="0" marL="0">
                        <a:buNone/>
                      </a:pPr>
                      <a:r>
                        <a:rPr lang="en-US" sz="1300" dirty="0">
                          <a:solidFill>
                            <a:srgbClr val="1B1F2A"/>
                          </a:solidFill>
                        </a:rPr>
                        <a:t>brak</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tcPr>
                </a:tc>
              </a:tr>
              <a:tr h="502920">
                <a:tc>
                  <a:txBody>
                    <a:bodyPr/>
                    <a:lstStyle/>
                    <a:p>
                      <a:pPr indent="0" marL="0">
                        <a:buNone/>
                      </a:pPr>
                      <a:r>
                        <a:rPr lang="en-US" sz="1300" dirty="0">
                          <a:solidFill>
                            <a:srgbClr val="1B1F2A"/>
                          </a:solidFill>
                        </a:rPr>
                        <a:t>Mnożenie 17·23 (strumień)</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tcPr>
                </a:tc>
                <a:tc>
                  <a:txBody>
                    <a:bodyPr/>
                    <a:lstStyle/>
                    <a:p>
                      <a:pPr indent="0" marL="0">
                        <a:buNone/>
                      </a:pPr>
                      <a:r>
                        <a:rPr lang="en-US" sz="1300" dirty="0">
                          <a:solidFill>
                            <a:srgbClr val="1B1F2A"/>
                          </a:solidFill>
                        </a:rPr>
                        <a:t>kNN</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tcPr>
                </a:tc>
                <a:tc>
                  <a:txBody>
                    <a:bodyPr/>
                    <a:lstStyle/>
                    <a:p>
                      <a:pPr indent="0" marL="0">
                        <a:buNone/>
                      </a:pPr>
                      <a:r>
                        <a:rPr lang="en-US" sz="1300" dirty="0">
                          <a:solidFill>
                            <a:srgbClr val="1B1F2A"/>
                          </a:solidFill>
                        </a:rPr>
                        <a:t>mały</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tcPr>
                </a:tc>
                <a:tc>
                  <a:txBody>
                    <a:bodyPr/>
                    <a:lstStyle/>
                    <a:p>
                      <a:pPr indent="0" marL="0">
                        <a:buNone/>
                      </a:pPr>
                      <a:r>
                        <a:rPr lang="en-US" sz="1300" dirty="0">
                          <a:solidFill>
                            <a:srgbClr val="1B1F2A"/>
                          </a:solidFill>
                        </a:rPr>
                        <a:t>0,10</a:t>
                      </a:r>
                      <a:endParaRPr lang="en-US" sz="1300" dirty="0"/>
                    </a:p>
                  </a:txBody>
                  <a:tcPr marL="91440" marR="91440" marT="45720" marB="45720" anchor="ctr">
                    <a:lnL w="6350" cap="flat" cmpd="sng" algn="ctr">
                      <a:solidFill>
                        <a:srgbClr val="C7CEDB"/>
                      </a:solidFill>
                      <a:prstDash val="solid"/>
                      <a:round/>
                      <a:headEnd type="none" w="med" len="med"/>
                      <a:tailEnd type="none" w="med" len="med"/>
                    </a:lnL>
                    <a:lnR w="6350" cap="flat" cmpd="sng" algn="ctr">
                      <a:solidFill>
                        <a:srgbClr val="C7CEDB"/>
                      </a:solidFill>
                      <a:prstDash val="solid"/>
                      <a:round/>
                      <a:headEnd type="none" w="med" len="med"/>
                      <a:tailEnd type="none" w="med" len="med"/>
                    </a:lnR>
                    <a:lnT w="6350" cap="flat" cmpd="sng" algn="ctr">
                      <a:solidFill>
                        <a:srgbClr val="C7CEDB"/>
                      </a:solidFill>
                      <a:prstDash val="solid"/>
                      <a:round/>
                      <a:headEnd type="none" w="med" len="med"/>
                      <a:tailEnd type="none" w="med" len="med"/>
                    </a:lnT>
                    <a:lnB w="6350" cap="flat" cmpd="sng" algn="ctr">
                      <a:solidFill>
                        <a:srgbClr val="C7CEDB"/>
                      </a:solidFill>
                      <a:prstDash val="solid"/>
                      <a:round/>
                      <a:headEnd type="none" w="med" len="med"/>
                      <a:tailEnd type="none" w="med" len="med"/>
                    </a:lnB>
                  </a:tcPr>
                </a:tc>
              </a:tr>
            </a:tbl>
          </a:graphicData>
        </a:graphic>
      </p:graphicFrame>
      <p:sp>
        <p:nvSpPr>
          <p:cNvPr id="4" name="Co zostało"/>
          <p:cNvSpPr txBox="1"/>
          <p:nvPr/>
        </p:nvSpPr>
        <p:spPr>
          <a:xfrm>
            <a:off x="457200" y="3840480"/>
            <a:ext cx="5577840" cy="640080"/>
          </a:xfrm>
          <a:prstGeom prst="rect">
            <a:avLst/>
          </a:prstGeom>
          <a:noFill/>
          <a:ln/>
        </p:spPr>
        <p:txBody>
          <a:bodyPr wrap="square" lIns="0" tIns="0" rIns="0" bIns="0" rtlCol="0" anchor="t"/>
          <a:lstStyle/>
          <a:p>
            <a:pPr indent="0" marL="0">
              <a:buNone/>
            </a:pPr>
            <a:r>
              <a:rPr lang="en-US" sz="1400" dirty="0">
                <a:solidFill>
                  <a:schemeClr val="tx2"/>
                </a:solidFill>
              </a:rPr>
              <a:t>Zostały do sprawdzenia: przełączenie na duży model przy awarii routera i restart usługi.</a:t>
            </a:r>
            <a:endParaRPr lang="en-US" sz="1400" dirty="0"/>
          </a:p>
        </p:txBody>
      </p:sp>
      <p:sp>
        <p:nvSpPr>
          <p:cNvPr id="5" name="Narzut routera karta"/>
          <p:cNvSpPr/>
          <p:nvPr/>
        </p:nvSpPr>
        <p:spPr>
          <a:xfrm>
            <a:off x="6309360" y="1188720"/>
            <a:ext cx="2377440" cy="1600200"/>
          </a:xfrm>
          <a:prstGeom prst="rect">
            <a:avLst/>
          </a:prstGeom>
          <a:solidFill>
            <a:schemeClr val="bg2"/>
          </a:solidFill>
          <a:ln w="12700">
            <a:solidFill>
              <a:schemeClr val="bg2"/>
            </a:solidFill>
            <a:prstDash val="solid"/>
          </a:ln>
        </p:spPr>
      </p:sp>
      <p:sp>
        <p:nvSpPr>
          <p:cNvPr id="6" name="Narzut routera liczba"/>
          <p:cNvSpPr txBox="1"/>
          <p:nvPr/>
        </p:nvSpPr>
        <p:spPr>
          <a:xfrm>
            <a:off x="6492240" y="1261872"/>
            <a:ext cx="2011680" cy="685800"/>
          </a:xfrm>
          <a:prstGeom prst="rect">
            <a:avLst/>
          </a:prstGeom>
          <a:noFill/>
          <a:ln/>
        </p:spPr>
        <p:txBody>
          <a:bodyPr wrap="square" lIns="0" tIns="0" rIns="0" bIns="0" rtlCol="0" anchor="ctr"/>
          <a:lstStyle/>
          <a:p>
            <a:pPr indent="0" marL="0">
              <a:buNone/>
            </a:pPr>
            <a:r>
              <a:rPr lang="en-US" sz="4400" b="1" dirty="0">
                <a:solidFill>
                  <a:schemeClr val="accent2"/>
                </a:solidFill>
              </a:rPr>
              <a:t>~13 ms</a:t>
            </a:r>
            <a:endParaRPr lang="en-US" sz="4400" dirty="0"/>
          </a:p>
        </p:txBody>
      </p:sp>
      <p:sp>
        <p:nvSpPr>
          <p:cNvPr id="7" name="Narzut routera opis"/>
          <p:cNvSpPr txBox="1"/>
          <p:nvPr/>
        </p:nvSpPr>
        <p:spPr>
          <a:xfrm>
            <a:off x="6492240" y="1965960"/>
            <a:ext cx="2011680" cy="731520"/>
          </a:xfrm>
          <a:prstGeom prst="rect">
            <a:avLst/>
          </a:prstGeom>
          <a:noFill/>
          <a:ln/>
        </p:spPr>
        <p:txBody>
          <a:bodyPr wrap="square" lIns="0" tIns="0" rIns="0" bIns="0" rtlCol="0" anchor="t"/>
          <a:lstStyle/>
          <a:p>
            <a:pPr indent="0" marL="0">
              <a:buNone/>
            </a:pPr>
            <a:r>
              <a:rPr lang="en-US" sz="1400" dirty="0">
                <a:solidFill>
                  <a:schemeClr val="tx2"/>
                </a:solidFill>
              </a:rPr>
              <a:t>narzut routera (średnio 0,376 s wobec 0,363 s bez niego)</a:t>
            </a:r>
            <a:endParaRPr lang="en-US" sz="1400" dirty="0"/>
          </a:p>
        </p:txBody>
      </p:sp>
      <p:sp>
        <p:nvSpPr>
          <p:cNvPr id="8" name="Cel opóźnienia karta"/>
          <p:cNvSpPr/>
          <p:nvPr/>
        </p:nvSpPr>
        <p:spPr>
          <a:xfrm>
            <a:off x="6309360" y="2926080"/>
            <a:ext cx="2377440" cy="1463040"/>
          </a:xfrm>
          <a:prstGeom prst="rect">
            <a:avLst/>
          </a:prstGeom>
          <a:solidFill>
            <a:schemeClr val="bg2"/>
          </a:solidFill>
          <a:ln w="12700">
            <a:solidFill>
              <a:schemeClr val="bg2"/>
            </a:solidFill>
            <a:prstDash val="solid"/>
          </a:ln>
        </p:spPr>
      </p:sp>
      <p:sp>
        <p:nvSpPr>
          <p:cNvPr id="9" name="Cel opóźnienia liczba"/>
          <p:cNvSpPr txBox="1"/>
          <p:nvPr/>
        </p:nvSpPr>
        <p:spPr>
          <a:xfrm>
            <a:off x="6492240" y="2999232"/>
            <a:ext cx="2011680" cy="685800"/>
          </a:xfrm>
          <a:prstGeom prst="rect">
            <a:avLst/>
          </a:prstGeom>
          <a:noFill/>
          <a:ln/>
        </p:spPr>
        <p:txBody>
          <a:bodyPr wrap="square" lIns="0" tIns="0" rIns="0" bIns="0" rtlCol="0" anchor="ctr"/>
          <a:lstStyle/>
          <a:p>
            <a:pPr indent="0" marL="0">
              <a:buNone/>
            </a:pPr>
            <a:r>
              <a:rPr lang="en-US" sz="4400" b="1" dirty="0">
                <a:solidFill>
                  <a:schemeClr val="tx1"/>
                </a:solidFill>
              </a:rPr>
              <a:t>&lt;50 ms</a:t>
            </a:r>
            <a:endParaRPr lang="en-US" sz="4400" dirty="0"/>
          </a:p>
        </p:txBody>
      </p:sp>
      <p:sp>
        <p:nvSpPr>
          <p:cNvPr id="10" name="Cel opóźnienia opis"/>
          <p:cNvSpPr txBox="1"/>
          <p:nvPr/>
        </p:nvSpPr>
        <p:spPr>
          <a:xfrm>
            <a:off x="6492240" y="3703320"/>
            <a:ext cx="2011680" cy="594360"/>
          </a:xfrm>
          <a:prstGeom prst="rect">
            <a:avLst/>
          </a:prstGeom>
          <a:noFill/>
          <a:ln/>
        </p:spPr>
        <p:txBody>
          <a:bodyPr wrap="square" lIns="0" tIns="0" rIns="0" bIns="0" rtlCol="0" anchor="t"/>
          <a:lstStyle/>
          <a:p>
            <a:pPr indent="0" marL="0">
              <a:buNone/>
            </a:pPr>
            <a:r>
              <a:rPr lang="en-US" sz="1400" dirty="0">
                <a:solidFill>
                  <a:schemeClr val="tx2"/>
                </a:solidFill>
              </a:rPr>
              <a:t>cel z planu pracy, spełniony</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BB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B1F2A"/>
                </a:solidFill>
              </a:rPr>
              <a:t>Implementacja i ograniczenia</a:t>
            </a:r>
            <a:endParaRPr lang="en-US" sz="3200" dirty="0"/>
          </a:p>
        </p:txBody>
      </p:sp>
      <p:sp>
        <p:nvSpPr>
          <p:cNvPr id="3" name="Implementacja karta"/>
          <p:cNvSpPr/>
          <p:nvPr/>
        </p:nvSpPr>
        <p:spPr>
          <a:xfrm>
            <a:off x="457200" y="1188720"/>
            <a:ext cx="4023360" cy="3291840"/>
          </a:xfrm>
          <a:prstGeom prst="rect">
            <a:avLst/>
          </a:prstGeom>
          <a:solidFill>
            <a:schemeClr val="bg2"/>
          </a:solidFill>
          <a:ln w="12700">
            <a:solidFill>
              <a:schemeClr val="bg2"/>
            </a:solidFill>
            <a:prstDash val="solid"/>
          </a:ln>
        </p:spPr>
      </p:sp>
      <p:sp>
        <p:nvSpPr>
          <p:cNvPr id="4" name="Implementacja tytuł"/>
          <p:cNvSpPr txBox="1"/>
          <p:nvPr/>
        </p:nvSpPr>
        <p:spPr>
          <a:xfrm>
            <a:off x="640080" y="1280160"/>
            <a:ext cx="3657600" cy="365760"/>
          </a:xfrm>
          <a:prstGeom prst="rect">
            <a:avLst/>
          </a:prstGeom>
          <a:noFill/>
          <a:ln/>
        </p:spPr>
        <p:txBody>
          <a:bodyPr wrap="square" lIns="0" tIns="0" rIns="0" bIns="0" rtlCol="0" anchor="t"/>
          <a:lstStyle/>
          <a:p>
            <a:pPr indent="0" marL="0">
              <a:buNone/>
            </a:pPr>
            <a:r>
              <a:rPr lang="en-US" sz="1800" b="1" dirty="0">
                <a:solidFill>
                  <a:schemeClr val="accent2"/>
                </a:solidFill>
              </a:rPr>
              <a:t>Implementacja</a:t>
            </a:r>
            <a:endParaRPr lang="en-US" sz="1800" dirty="0"/>
          </a:p>
        </p:txBody>
      </p:sp>
      <p:sp>
        <p:nvSpPr>
          <p:cNvPr id="5" name="Implementacja lista"/>
          <p:cNvSpPr txBox="1"/>
          <p:nvPr/>
        </p:nvSpPr>
        <p:spPr>
          <a:xfrm>
            <a:off x="640080" y="1691640"/>
            <a:ext cx="3657600" cy="27432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RouterService w DeepFellow Infra v0.34.0</a:t>
            </a:r>
            <a:endParaRPr lang="en-US" sz="1400" dirty="0"/>
          </a:p>
          <a:p>
            <a:pPr marL="342900" indent="-342900">
              <a:spcAft>
                <a:spcPts val="400"/>
              </a:spcAft>
              <a:buSzPct val="100000"/>
              <a:buChar char="•"/>
            </a:pPr>
            <a:r>
              <a:rPr lang="en-US" sz="1400" dirty="0">
                <a:solidFill>
                  <a:schemeClr val="tx1"/>
                </a:solidFill>
              </a:rPr>
              <a:t>57 nowych testów, cały zestaw (5157) zielony</a:t>
            </a:r>
            <a:endParaRPr lang="en-US" sz="1400" dirty="0"/>
          </a:p>
          <a:p>
            <a:pPr marL="342900" indent="-342900">
              <a:spcAft>
                <a:spcPts val="400"/>
              </a:spcAft>
              <a:buSzPct val="100000"/>
              <a:buChar char="•"/>
            </a:pPr>
            <a:r>
              <a:rPr lang="en-US" sz="1400" dirty="0">
                <a:solidFill>
                  <a:schemeClr val="tx1"/>
                </a:solidFill>
              </a:rPr>
              <a:t>Test end-to-end z modelami Gemini: routing, nagłówki, streaming, fallback</a:t>
            </a:r>
            <a:endParaRPr lang="en-US" sz="1400" dirty="0"/>
          </a:p>
          <a:p>
            <a:pPr marL="342900" indent="-342900">
              <a:spcAft>
                <a:spcPts val="400"/>
              </a:spcAft>
              <a:buSzPct val="100000"/>
              <a:buChar char="•"/>
            </a:pPr>
            <a:r>
              <a:rPr lang="en-US" sz="1400" dirty="0">
                <a:solidFill>
                  <a:schemeClr val="tx1"/>
                </a:solidFill>
              </a:rPr>
              <a:t>Opóźnienie warstw 1+2: mediana 20,6 ms</a:t>
            </a:r>
            <a:endParaRPr lang="en-US" sz="1400" dirty="0"/>
          </a:p>
          <a:p>
            <a:pPr marL="342900" indent="-342900">
              <a:spcAft>
                <a:spcPts val="400"/>
              </a:spcAft>
              <a:buSzPct val="100000"/>
              <a:buChar char="•"/>
            </a:pPr>
            <a:r>
              <a:rPr lang="en-US" sz="1400" dirty="0">
                <a:solidFill>
                  <a:schemeClr val="tx1"/>
                </a:solidFill>
              </a:rPr>
              <a:t>Zmiana decyzji po literówkach i parafrazach: 6–10% pytań</a:t>
            </a:r>
            <a:endParaRPr lang="en-US" sz="1400" dirty="0"/>
          </a:p>
          <a:p>
            <a:pPr marL="342900" indent="-342900">
              <a:buSzPct val="100000"/>
              <a:buChar char="•"/>
            </a:pPr>
            <a:r>
              <a:rPr lang="en-US" sz="1400" dirty="0">
                <a:solidFill>
                  <a:schemeClr val="tx1"/>
                </a:solidFill>
              </a:rPr>
              <a:t>Z Qwenem 8B/27B: pierwszy test udany, brakuje awarii i restartu</a:t>
            </a:r>
            <a:endParaRPr lang="en-US" sz="1400" dirty="0"/>
          </a:p>
        </p:txBody>
      </p:sp>
      <p:sp>
        <p:nvSpPr>
          <p:cNvPr id="6" name="Ograniczenia karta"/>
          <p:cNvSpPr/>
          <p:nvPr/>
        </p:nvSpPr>
        <p:spPr>
          <a:xfrm>
            <a:off x="4663440" y="1188720"/>
            <a:ext cx="4023360" cy="3291840"/>
          </a:xfrm>
          <a:prstGeom prst="rect">
            <a:avLst/>
          </a:prstGeom>
          <a:solidFill>
            <a:schemeClr val="bg2"/>
          </a:solidFill>
          <a:ln w="12700">
            <a:solidFill>
              <a:schemeClr val="bg2"/>
            </a:solidFill>
            <a:prstDash val="solid"/>
          </a:ln>
        </p:spPr>
      </p:sp>
      <p:sp>
        <p:nvSpPr>
          <p:cNvPr id="7" name="Ograniczenia tytuł"/>
          <p:cNvSpPr txBox="1"/>
          <p:nvPr/>
        </p:nvSpPr>
        <p:spPr>
          <a:xfrm>
            <a:off x="4846320" y="1280160"/>
            <a:ext cx="3657600" cy="365760"/>
          </a:xfrm>
          <a:prstGeom prst="rect">
            <a:avLst/>
          </a:prstGeom>
          <a:noFill/>
          <a:ln/>
        </p:spPr>
        <p:txBody>
          <a:bodyPr wrap="square" lIns="0" tIns="0" rIns="0" bIns="0" rtlCol="0" anchor="t"/>
          <a:lstStyle/>
          <a:p>
            <a:pPr indent="0" marL="0">
              <a:buNone/>
            </a:pPr>
            <a:r>
              <a:rPr lang="en-US" sz="1800" b="1" dirty="0">
                <a:solidFill>
                  <a:schemeClr val="accent1"/>
                </a:solidFill>
              </a:rPr>
              <a:t>Ograniczenia</a:t>
            </a:r>
            <a:endParaRPr lang="en-US" sz="1800" dirty="0"/>
          </a:p>
        </p:txBody>
      </p:sp>
      <p:sp>
        <p:nvSpPr>
          <p:cNvPr id="8" name="Ograniczenia lista"/>
          <p:cNvSpPr txBox="1"/>
          <p:nvPr/>
        </p:nvSpPr>
        <p:spPr>
          <a:xfrm>
            <a:off x="4846320" y="1691640"/>
            <a:ext cx="365760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Jedna para modeli i jeden sędzia</a:t>
            </a:r>
            <a:endParaRPr lang="en-US" sz="1400" dirty="0"/>
          </a:p>
          <a:p>
            <a:pPr marL="342900" indent="-342900">
              <a:spcAft>
                <a:spcPts val="600"/>
              </a:spcAft>
              <a:buSzPct val="100000"/>
              <a:buChar char="•"/>
            </a:pPr>
            <a:r>
              <a:rPr lang="en-US" sz="1400" dirty="0">
                <a:solidFill>
                  <a:schemeClr val="tx1"/>
                </a:solidFill>
              </a:rPr>
              <a:t>Dane mało „firmowe”: 63% to czaty (Arena, WildChat)</a:t>
            </a:r>
            <a:endParaRPr lang="en-US" sz="1400" dirty="0"/>
          </a:p>
          <a:p>
            <a:pPr marL="342900" indent="-342900">
              <a:spcAft>
                <a:spcPts val="600"/>
              </a:spcAft>
              <a:buSzPct val="100000"/>
              <a:buChar char="•"/>
            </a:pPr>
            <a:r>
              <a:rPr lang="en-US" sz="1400" dirty="0">
                <a:solidFill>
                  <a:schemeClr val="tx1"/>
                </a:solidFill>
              </a:rPr>
              <a:t>Duży model ma jedną próbkę na pytanie</a:t>
            </a:r>
            <a:endParaRPr lang="en-US" sz="1400" dirty="0"/>
          </a:p>
          <a:p>
            <a:pPr marL="342900" indent="-342900">
              <a:buSzPct val="100000"/>
              <a:buChar char="•"/>
            </a:pPr>
            <a:r>
              <a:rPr lang="en-US" sz="1400" dirty="0">
                <a:solidFill>
                  <a:schemeClr val="tx1"/>
                </a:solidFill>
              </a:rPr>
              <a:t>Wiedza i kod słabo wykrywane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BB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rgbClr val="1B1F2A"/>
                </a:solidFill>
              </a:rPr>
              <a:t>Plan i prośba</a:t>
            </a:r>
            <a:endParaRPr lang="en-US" sz="3200" dirty="0"/>
          </a:p>
        </p:txBody>
      </p:sp>
      <p:sp>
        <p:nvSpPr>
          <p:cNvPr id="3" name="Plan numer 1"/>
          <p:cNvSpPr/>
          <p:nvPr/>
        </p:nvSpPr>
        <p:spPr>
          <a:xfrm>
            <a:off x="457200" y="1234440"/>
            <a:ext cx="457200" cy="457200"/>
          </a:xfrm>
          <a:prstGeom prst="ellipse">
            <a:avLst/>
          </a:prstGeom>
          <a:solidFill>
            <a:schemeClr val="accent4"/>
          </a:solidFill>
          <a:ln w="12700">
            <a:solidFill>
              <a:schemeClr val="accent4"/>
            </a:solidFill>
            <a:prstDash val="solid"/>
          </a:ln>
        </p:spPr>
      </p:sp>
      <p:sp>
        <p:nvSpPr>
          <p:cNvPr id="4" name="Plan numer tekst 1"/>
          <p:cNvSpPr txBox="1"/>
          <p:nvPr/>
        </p:nvSpPr>
        <p:spPr>
          <a:xfrm>
            <a:off x="45720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Plan krok 1"/>
          <p:cNvSpPr txBox="1"/>
          <p:nvPr/>
        </p:nvSpPr>
        <p:spPr>
          <a:xfrm>
            <a:off x="1097280" y="1179576"/>
            <a:ext cx="3749040" cy="566928"/>
          </a:xfrm>
          <a:prstGeom prst="rect">
            <a:avLst/>
          </a:prstGeom>
          <a:noFill/>
          <a:ln/>
        </p:spPr>
        <p:txBody>
          <a:bodyPr wrap="square" lIns="0" tIns="0" rIns="0" bIns="0" rtlCol="0" anchor="ctr"/>
          <a:lstStyle/>
          <a:p>
            <a:pPr indent="0" marL="0">
              <a:buNone/>
            </a:pPr>
            <a:r>
              <a:rPr lang="en-US" sz="1600" dirty="0">
                <a:solidFill>
                  <a:schemeClr val="tx1"/>
                </a:solidFill>
              </a:rPr>
              <a:t>Dokończenie testu z Qwen 8B/27B (awaria, restart)</a:t>
            </a:r>
            <a:endParaRPr lang="en-US" sz="1600" dirty="0"/>
          </a:p>
        </p:txBody>
      </p:sp>
      <p:sp>
        <p:nvSpPr>
          <p:cNvPr id="6" name="Plan numer 2"/>
          <p:cNvSpPr/>
          <p:nvPr/>
        </p:nvSpPr>
        <p:spPr>
          <a:xfrm>
            <a:off x="457200" y="1947672"/>
            <a:ext cx="457200" cy="457200"/>
          </a:xfrm>
          <a:prstGeom prst="ellipse">
            <a:avLst/>
          </a:prstGeom>
          <a:solidFill>
            <a:schemeClr val="accent4"/>
          </a:solidFill>
          <a:ln w="12700">
            <a:solidFill>
              <a:schemeClr val="accent4"/>
            </a:solidFill>
            <a:prstDash val="solid"/>
          </a:ln>
        </p:spPr>
      </p:sp>
      <p:sp>
        <p:nvSpPr>
          <p:cNvPr id="7" name="Plan numer tekst 2"/>
          <p:cNvSpPr txBox="1"/>
          <p:nvPr/>
        </p:nvSpPr>
        <p:spPr>
          <a:xfrm>
            <a:off x="457200" y="19476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Plan krok 2"/>
          <p:cNvSpPr txBox="1"/>
          <p:nvPr/>
        </p:nvSpPr>
        <p:spPr>
          <a:xfrm>
            <a:off x="1097280" y="1892808"/>
            <a:ext cx="3749040" cy="566928"/>
          </a:xfrm>
          <a:prstGeom prst="rect">
            <a:avLst/>
          </a:prstGeom>
          <a:noFill/>
          <a:ln/>
        </p:spPr>
        <p:txBody>
          <a:bodyPr wrap="square" lIns="0" tIns="0" rIns="0" bIns="0" rtlCol="0" anchor="ctr"/>
          <a:lstStyle/>
          <a:p>
            <a:pPr indent="0" marL="0">
              <a:buNone/>
            </a:pPr>
            <a:r>
              <a:rPr lang="en-US" sz="1600" dirty="0">
                <a:solidFill>
                  <a:schemeClr val="tx1"/>
                </a:solidFill>
              </a:rPr>
              <a:t>Test warstwy 3 (go/no-go) w strefie niepewności</a:t>
            </a:r>
            <a:endParaRPr lang="en-US" sz="1600" dirty="0"/>
          </a:p>
        </p:txBody>
      </p:sp>
      <p:sp>
        <p:nvSpPr>
          <p:cNvPr id="9" name="Plan numer 3"/>
          <p:cNvSpPr/>
          <p:nvPr/>
        </p:nvSpPr>
        <p:spPr>
          <a:xfrm>
            <a:off x="457200" y="2660904"/>
            <a:ext cx="457200" cy="457200"/>
          </a:xfrm>
          <a:prstGeom prst="ellipse">
            <a:avLst/>
          </a:prstGeom>
          <a:solidFill>
            <a:schemeClr val="accent4"/>
          </a:solidFill>
          <a:ln w="12700">
            <a:solidFill>
              <a:schemeClr val="accent4"/>
            </a:solidFill>
            <a:prstDash val="solid"/>
          </a:ln>
        </p:spPr>
      </p:sp>
      <p:sp>
        <p:nvSpPr>
          <p:cNvPr id="10" name="Plan numer tekst 3"/>
          <p:cNvSpPr txBox="1"/>
          <p:nvPr/>
        </p:nvSpPr>
        <p:spPr>
          <a:xfrm>
            <a:off x="457200" y="26609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Plan krok 3"/>
          <p:cNvSpPr txBox="1"/>
          <p:nvPr/>
        </p:nvSpPr>
        <p:spPr>
          <a:xfrm>
            <a:off x="1097280" y="2606040"/>
            <a:ext cx="3749040" cy="566928"/>
          </a:xfrm>
          <a:prstGeom prst="rect">
            <a:avLst/>
          </a:prstGeom>
          <a:noFill/>
          <a:ln/>
        </p:spPr>
        <p:txBody>
          <a:bodyPr wrap="square" lIns="0" tIns="0" rIns="0" bIns="0" rtlCol="0" anchor="ctr"/>
          <a:lstStyle/>
          <a:p>
            <a:pPr indent="0" marL="0">
              <a:buNone/>
            </a:pPr>
            <a:r>
              <a:rPr lang="en-US" sz="1600" dirty="0">
                <a:solidFill>
                  <a:schemeClr val="tx1"/>
                </a:solidFill>
              </a:rPr>
              <a:t>Dodatkowe dane bliższe wdrożeniu</a:t>
            </a:r>
            <a:endParaRPr lang="en-US" sz="1600" dirty="0"/>
          </a:p>
        </p:txBody>
      </p:sp>
      <p:sp>
        <p:nvSpPr>
          <p:cNvPr id="12" name="Plan numer 4"/>
          <p:cNvSpPr/>
          <p:nvPr/>
        </p:nvSpPr>
        <p:spPr>
          <a:xfrm>
            <a:off x="457200" y="3374136"/>
            <a:ext cx="457200" cy="457200"/>
          </a:xfrm>
          <a:prstGeom prst="ellipse">
            <a:avLst/>
          </a:prstGeom>
          <a:solidFill>
            <a:schemeClr val="accent4"/>
          </a:solidFill>
          <a:ln w="12700">
            <a:solidFill>
              <a:schemeClr val="accent4"/>
            </a:solidFill>
            <a:prstDash val="solid"/>
          </a:ln>
        </p:spPr>
      </p:sp>
      <p:sp>
        <p:nvSpPr>
          <p:cNvPr id="13" name="Plan numer tekst 4"/>
          <p:cNvSpPr txBox="1"/>
          <p:nvPr/>
        </p:nvSpPr>
        <p:spPr>
          <a:xfrm>
            <a:off x="457200" y="33741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Plan krok 4"/>
          <p:cNvSpPr txBox="1"/>
          <p:nvPr/>
        </p:nvSpPr>
        <p:spPr>
          <a:xfrm>
            <a:off x="1097280" y="3319272"/>
            <a:ext cx="3749040" cy="566928"/>
          </a:xfrm>
          <a:prstGeom prst="rect">
            <a:avLst/>
          </a:prstGeom>
          <a:noFill/>
          <a:ln/>
        </p:spPr>
        <p:txBody>
          <a:bodyPr wrap="square" lIns="0" tIns="0" rIns="0" bIns="0" rtlCol="0" anchor="ctr"/>
          <a:lstStyle/>
          <a:p>
            <a:pPr indent="0" marL="0">
              <a:buNone/>
            </a:pPr>
            <a:r>
              <a:rPr lang="en-US" sz="1600" dirty="0">
                <a:solidFill>
                  <a:schemeClr val="tx1"/>
                </a:solidFill>
              </a:rPr>
              <a:t>Jednorazowe otwarcie zbioru testowego</a:t>
            </a:r>
            <a:endParaRPr lang="en-US" sz="1600" dirty="0"/>
          </a:p>
        </p:txBody>
      </p:sp>
      <p:sp>
        <p:nvSpPr>
          <p:cNvPr id="15" name="Prośba karta"/>
          <p:cNvSpPr/>
          <p:nvPr/>
        </p:nvSpPr>
        <p:spPr>
          <a:xfrm>
            <a:off x="5120640" y="1234440"/>
            <a:ext cx="3566160" cy="3200400"/>
          </a:xfrm>
          <a:prstGeom prst="rect">
            <a:avLst/>
          </a:prstGeom>
          <a:solidFill>
            <a:schemeClr val="tx1"/>
          </a:solidFill>
          <a:ln w="12700">
            <a:solidFill>
              <a:schemeClr val="tx1"/>
            </a:solidFill>
            <a:prstDash val="solid"/>
          </a:ln>
        </p:spPr>
      </p:sp>
      <p:sp>
        <p:nvSpPr>
          <p:cNvPr id="16" name="Prośba tytuł"/>
          <p:cNvSpPr txBox="1"/>
          <p:nvPr/>
        </p:nvSpPr>
        <p:spPr>
          <a:xfrm>
            <a:off x="5349240" y="1371600"/>
            <a:ext cx="3108960" cy="365760"/>
          </a:xfrm>
          <a:prstGeom prst="rect">
            <a:avLst/>
          </a:prstGeom>
          <a:noFill/>
          <a:ln/>
        </p:spPr>
        <p:txBody>
          <a:bodyPr wrap="square" lIns="0" tIns="0" rIns="0" bIns="0" rtlCol="0" anchor="t"/>
          <a:lstStyle/>
          <a:p>
            <a:pPr indent="0" marL="0">
              <a:buNone/>
            </a:pPr>
            <a:r>
              <a:rPr lang="en-US" sz="1800" b="1" dirty="0">
                <a:solidFill>
                  <a:schemeClr val="accent3"/>
                </a:solidFill>
              </a:rPr>
              <a:t>Proszę o decyzję</a:t>
            </a:r>
            <a:endParaRPr lang="en-US" sz="1800" dirty="0"/>
          </a:p>
        </p:txBody>
      </p:sp>
      <p:sp>
        <p:nvSpPr>
          <p:cNvPr id="17" name="Prośba tekst"/>
          <p:cNvSpPr txBox="1"/>
          <p:nvPr/>
        </p:nvSpPr>
        <p:spPr>
          <a:xfrm>
            <a:off x="5349240" y="1828800"/>
            <a:ext cx="3108960" cy="2468880"/>
          </a:xfrm>
          <a:prstGeom prst="rect">
            <a:avLst/>
          </a:prstGeom>
          <a:noFill/>
          <a:ln/>
        </p:spPr>
        <p:txBody>
          <a:bodyPr wrap="square" lIns="0" tIns="0" rIns="0" bIns="0" rtlCol="0" anchor="t"/>
          <a:lstStyle/>
          <a:p>
            <a:pPr indent="0" marL="0">
              <a:buNone/>
            </a:pPr>
            <a:r>
              <a:rPr lang="en-US" sz="1600" dirty="0">
                <a:solidFill>
                  <a:schemeClr val="bg1"/>
                </a:solidFill>
              </a:rPr>
              <a:t>Zatwierdzenie celów liczbowych przed otwarciem zbioru testowego. Po otwarciu testu nie wolno ich zmieniać, a wyniki raportuję niezależnie od tego, czy cele są spełnione.</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9BB5"/>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Router">
  <a:themeElements>
    <a:clrScheme name="Router">
      <a:dk1>
        <a:srgbClr val="1B1F2A"/>
      </a:dk1>
      <a:lt1>
        <a:srgbClr val="FFFFFF"/>
      </a:lt1>
      <a:dk2>
        <a:srgbClr val="2B3347"/>
      </a:dk2>
      <a:lt2>
        <a:srgbClr val="F1F3F6"/>
      </a:lt2>
      <a:accent1>
        <a:srgbClr val="E4572E"/>
      </a:accent1>
      <a:accent2>
        <a:srgbClr val="1F8A8A"/>
      </a:accent2>
      <a:accent3>
        <a:srgbClr val="F2B134"/>
      </a:accent3>
      <a:accent4>
        <a:srgbClr val="5B6B8C"/>
      </a:accent4>
      <a:accent5>
        <a:srgbClr val="8C9BB5"/>
      </a:accent5>
      <a:accent6>
        <a:srgbClr val="C7CEDB"/>
      </a:accent6>
      <a:hlink>
        <a:srgbClr val="1F8A8A"/>
      </a:hlink>
      <a:folHlink>
        <a:srgbClr val="5B6B8C"/>
      </a:folHlink>
    </a:clrScheme>
    <a:fontScheme name="Rou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Routing zapytań według złożoności – postępy pracy</dc:title>
  <dc:subject>PptxGenJS Presentation</dc:subject>
  <dc:creator>Philip Melkowski</dc:creator>
  <cp:lastModifiedBy>Philip Melkowski</cp:lastModifiedBy>
  <cp:revision>1</cp:revision>
  <dcterms:created xsi:type="dcterms:W3CDTF">2026-10-20T16:49:48Z</dcterms:created>
  <dcterms:modified xsi:type="dcterms:W3CDTF">2026-10-20T16:49:48Z</dcterms:modified>
</cp:coreProperties>
</file>