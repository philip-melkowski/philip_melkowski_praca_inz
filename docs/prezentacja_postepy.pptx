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Wprowadzenie" id="{5b73faa2-94d1-ff0d-ed4a-e4eaf61b8ec3}">
          <p14:sldIdLst>
            <p14:sldId id="256"/>
            <p14:sldId id="257"/>
            <p14:sldId id="258"/>
            <p14:sldId id="259"/>
          </p14:sldIdLst>
        </p14:section>
        <p14:section name="Dane i etykiety" id="{5fbde4c6-2486-1199-59a4-4731b2107ca7}">
          <p14:sldIdLst>
            <p14:sldId id="260"/>
            <p14:sldId id="261"/>
            <p14:sldId id="262"/>
          </p14:sldIdLst>
        </p14:section>
        <p14:section name="Router" id="{27d8018a-ce91-d467-4477-4e170f760aaa}">
          <p14:sldIdLst>
            <p14:sldId id="263"/>
            <p14:sldId id="264"/>
          </p14:sldIdLst>
        </p14:section>
        <p14:section name="Wyniki" id="{94ebdcf2-c325-e5b8-eebc-5f205868baa4}">
          <p14:sldIdLst>
            <p14:sldId id="265"/>
            <p14:sldId id="266"/>
            <p14:sldId id="267"/>
            <p14:sldId id="268"/>
          </p14:sldIdLst>
        </p14:section>
        <p14:section name="Dalej" id="{953df87f-aa75-c0c6-ef0c-27f6aa9855cf}">
          <p14:sldIdLst>
            <p14:sldId id="269"/>
            <p14:sldId id="270"/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Temat: routing zapytań do modeli językowych według ich trudności.
</a:t>
            </a:r>
          </a:p>
          <a:p>
            <a:r>
              <a:rPr lang="pl-PL" sz="1400"/>
              <a:t>• Mam dwa modele: mały (qwen3:8b) i duży (Qwen3.8-27B). Duży odpowiada lepiej, ale kosztuje więcej czasu i mocy.
</a:t>
            </a:r>
          </a:p>
          <a:p>
            <a:r>
              <a:rPr lang="pl-PL" sz="1400"/>
              <a:t>• System czyta pytanie i zanim ktokolwiek odpowie, wybiera model. Działa jako nowa usługa w DeepFellow Infra.
</a:t>
            </a:r>
          </a:p>
          <a:p>
            <a:r>
              <a:rPr lang="pl-PL" sz="1400"/>
              <a:t>• Plan: problem i zmiana podejścia, jak mierzę trudność, jak działa router, wyniki, ograniczenia i prośba o decyzję.
</a:t>
            </a:r>
          </a:p>
          <a:p>
            <a:endParaRPr lang="pl-PL" sz="1400"/>
          </a:p>
          <a:p>
            <a:r>
              <a:rPr lang="pl-PL" sz="1400" b="1"/>
              <a:t>WARTO WIEDZIEĆ
</a:t>
            </a:r>
          </a:p>
          <a:p>
            <a:r>
              <a:rPr lang="pl-PL" sz="1400"/>
              <a:t>• 8 i 27 to miliardy parametrów, czyli rozmiar modelu.
</a:t>
            </a:r>
          </a:p>
          <a:p>
            <a:r>
              <a:rPr lang="pl-PL" sz="1400"/>
              <a:t>• „Pytanie trudne” = duży model odpowiada na nie wyraźnie lepiej niż mały. „Łatwe” = mały wystarcza.
</a:t>
            </a:r>
          </a:p>
          <a:p>
            <a:r>
              <a:rPr lang="pl-PL" sz="1400"/>
              <a:t>• Czas: ok. 20–25 minut.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Duży model: lepsze odpowiedzi, ale wolniejszy i wymaga mocniejszego sprzętu. Mały: szybki, ale słabszy przy trudnych pytaniach.
</a:t>
            </a:r>
          </a:p>
          <a:p>
            <a:r>
              <a:rPr lang="pl-PL" sz="1400"/>
              <a:t>• Dziś administrator ma dwa wyjścia: wszystko do dużego (drogo) albo wszystko do małego (gorsza jakość tam, gdzie była potrzebna).
</a:t>
            </a:r>
          </a:p>
          <a:p>
            <a:r>
              <a:rPr lang="pl-PL" sz="1400"/>
              <a:t>• Router wybiera osobno dla każdego pytania: proste do małego (qwen3:8b), trudne do dużego (Qwen 27B). Na rysunku pytanie wchodzi do routera i idzie w jedną z dwóch stron. Dla użytkownika to po prostu model o nazwie router.
</a:t>
            </a:r>
          </a:p>
          <a:p>
            <a:r>
              <a:rPr lang="pl-PL" sz="1400"/>
              <a:t>• Trudność: router decyduje, zanim model odpowie, więc widzi tylko tekst pytania. Praca sprawdza, ile o trudności da się wywnioskować z samego tekstu.
</a:t>
            </a:r>
          </a:p>
          <a:p>
            <a:r>
              <a:rPr lang="pl-PL" sz="1400"/>
              <a:t>• Cel: jak najwięcej pytań do małego modelu przy prawie niezmienionej jakości.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Dlaczego nie zawsze duży? To najdroższe rozwiązanie. Pokażę, ile da się zaoszczędzić i jakim kosztem.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Etykiety (pytanie łatwe lub trudne) brałem z gotowych danych: z głosowań w Chatbot Arena (ludzie wybierają lepszą z dwóch odpowiedzi) i z pytań wygenerowanych przez Gemini.
</a:t>
            </a:r>
          </a:p>
          <a:p>
            <a:r>
              <a:rPr lang="pl-PL" sz="1400"/>
              <a:t>• Trzy warstwy (heurystyki, porównanie z podobnymi pytaniami, mały model) zostają, opisuję je na slajdzie 8. Z rdzenia wypadły: konfiguracja w YAML, kategorie tematyczne i podział złożonych zadań na części (Map-Reduce).
</a:t>
            </a:r>
          </a:p>
          <a:p>
            <a:r>
              <a:rPr lang="pl-PL" sz="1400"/>
              <a:t>• Odpowiedzi miałem oceniać m.in. miarą ROUGE.
</a:t>
            </a:r>
          </a:p>
          <a:p>
            <a:r>
              <a:rPr lang="pl-PL" sz="1400"/>
              <a:t>• Plan był rozsądny, bo RouteLLM uczy się na głosach z Areny. Miał jednak jeden słaby punkt, pokazany na następnym slajdzie.
</a:t>
            </a:r>
          </a:p>
          <a:p>
            <a:endParaRPr lang="pl-PL" sz="1400"/>
          </a:p>
          <a:p>
            <a:r>
              <a:rPr lang="pl-PL" sz="1400" b="1"/>
              <a:t>DEFINICJE
</a:t>
            </a:r>
          </a:p>
          <a:p>
            <a:r>
              <a:rPr lang="pl-PL" sz="1400" b="1"/>
              <a:t>ROUGE: </a:t>
            </a:r>
            <a:r>
              <a:rPr lang="pl-PL" sz="1400"/>
              <a:t>liczy, ile słów wspólnych ma odpowiedź modelu z odpowiedzią wzorcową.
</a:t>
            </a:r>
          </a:p>
          <a:p>
            <a:r>
              <a:rPr lang="pl-PL" sz="1400"/>
              <a:t>• Zrezygnowałem z niej, bo zbieżność słów nie mówi o poprawności: dobra odpowiedź może być napisana innymi słowami, a zła może mieć wiele wspólnych.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Zmieniłem podejście: zamiast cudzych etykiet mierzę trudność sam, na swoich modelach. Dla każdego pytania liczę, o ile duży model odpowiedział lepiej niż mały. Tę przewagę oznaczam Δ (delta). Jak ją liczę, pokażę na następnym slajdzie.
</a:t>
            </a:r>
          </a:p>
          <a:p>
            <a:r>
              <a:rPr lang="pl-PL" sz="1400"/>
              <a:t>• Najpierw sprawdziłem, czy stare etykiety z Areny pasują do tej zmierzonej przewagi.
</a:t>
            </a:r>
          </a:p>
          <a:p>
            <a:r>
              <a:rPr lang="pl-PL" sz="1400"/>
              <a:t>• Stara etykieta: pytanie jest „trudne”, jeśli w głosowaniu wygrał mocniejszy model.
</a:t>
            </a:r>
          </a:p>
          <a:p>
            <a:r>
              <a:rPr lang="pl-PL" sz="1400"/>
              <a:t>• Porównanie dla 1723 pytań: AUROC = 0,55, czyli prawie rzut monetą (0,5).
</a:t>
            </a:r>
          </a:p>
          <a:p>
            <a:r>
              <a:rPr lang="pl-PL" sz="1400"/>
              <a:t>• Dlaczego: Arena porównywała inne modele z innej epoki. Gdy gpt-4 wygrywa ze słabym modelem, to bez względu na pytanie. Stara etykieta mówi więcej o różnicy między modelami niż o trudności pytania.
</a:t>
            </a:r>
          </a:p>
          <a:p>
            <a:r>
              <a:rPr lang="pl-PL" sz="1400"/>
              <a:t>• Wniosek: trudność zależy od konkretnej pary modeli, więc mierzę ją sam.
</a:t>
            </a:r>
          </a:p>
          <a:p>
            <a:endParaRPr lang="pl-PL" sz="1400"/>
          </a:p>
          <a:p>
            <a:r>
              <a:rPr lang="pl-PL" sz="1400" b="1"/>
              <a:t>DEFINICJE
</a:t>
            </a:r>
          </a:p>
          <a:p>
            <a:r>
              <a:rPr lang="pl-PL" sz="1400" b="1"/>
              <a:t>AUROC: </a:t>
            </a:r>
            <a:r>
              <a:rPr lang="pl-PL" sz="1400"/>
              <a:t>miara zgodności rankingu z prawdą, od 0 do 1.
</a:t>
            </a:r>
          </a:p>
          <a:p>
            <a:r>
              <a:rPr lang="pl-PL" sz="1400"/>
              <a:t>• Biorę losową parę pytań: jedno trudne, jedno łatwe.
</a:t>
            </a:r>
          </a:p>
          <a:p>
            <a:r>
              <a:rPr lang="pl-PL" sz="1400"/>
              <a:t>• Para = 1, gdy trudne dostało wyższy wynik niż łatwe. 0, gdy niższy. 0,5 przy dokładnie równym wyniku (remis). Żaden próg nie jest potrzebny.
</a:t>
            </a:r>
          </a:p>
          <a:p>
            <a:r>
              <a:rPr lang="pl-PL" sz="1400"/>
              <a:t>• AUROC to średnia z takich wyników po wszystkich parach, czyli odsetek par ułożonych dobrze.
</a:t>
            </a:r>
          </a:p>
          <a:p>
            <a:r>
              <a:rPr lang="pl-PL" sz="1400"/>
              <a:t>• 0,5 = losowo (50 par na 100 ułożonych dobrze), 1,0 = idealnie (100 na 100). Nasze 0,55 to 55 na 100.
</a:t>
            </a:r>
          </a:p>
          <a:p>
            <a:r>
              <a:rPr lang="pl-PL" sz="1400"/>
              <a:t>• Tu „wynik” to zmierzona przewaga dużego modelu (Δ), a „trudne” to stare trudne wg Areny. Później w ten sam sposób ocenię router.
</a:t>
            </a:r>
          </a:p>
          <a:p>
            <a:endParaRPr lang="pl-PL" sz="1400"/>
          </a:p>
          <a:p>
            <a:r>
              <a:rPr lang="pl-PL" sz="1400" b="1"/>
              <a:t>UWAGA
</a:t>
            </a:r>
          </a:p>
          <a:p>
            <a:r>
              <a:rPr lang="pl-PL" sz="1400"/>
              <a:t>• To analiza, a nie dowód, że moje etykiety są lepsze. Pokazuje tylko, że stare nie pasują do tych modeli.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Czy 0,55 to przypadek? Pytań było 1723, a wynik jest blisko 0,5, więc wniosek jest ostrożny: stara etykieta słabo przewiduje wyniki naszych modeli.
</a:t>
            </a:r>
          </a:p>
          <a:p>
            <a:r>
              <a:rPr lang="pl-PL" sz="1400"/>
              <a:t>• Ile jest remisów? Ok. 10% par (9,7%).
</a:t>
            </a:r>
          </a:p>
          <a:p>
            <a:r>
              <a:rPr lang="pl-PL" sz="1400"/>
              <a:t>• Dlaczego nie zwykły odsetek zgodności? Stara etykieta ma dwie wartości, a moja miara jest liczbą. Porównanie par nie wymaga wybierania progu.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Mam 4313 pytań z ośmiu źródeł. Każde przechodzi cztery kroki.
</a:t>
            </a:r>
          </a:p>
          <a:p>
            <a:r>
              <a:rPr lang="pl-PL" sz="1400"/>
              <a:t>• Krok 1: wysyłam pytanie do obu modeli, do małego 3 razy, do dużego raz. Odpowiedzi są losowe, więc jedna próbka małego byłaby za mało pewna.
</a:t>
            </a:r>
          </a:p>
          <a:p>
            <a:r>
              <a:rPr lang="pl-PL" sz="1400"/>
              <a:t>• Krok 2: ocena. Gdy znana jest poprawna odpowiedź (np. wynik zadania), sprawdza automat. W pozostałych przypadkach ocenia Gemini w skali 1–5, dostając pytanie i odpowiedzi w losowej kolejności i bez nazw modeli.
</a:t>
            </a:r>
          </a:p>
          <a:p>
            <a:r>
              <a:rPr lang="pl-PL" sz="1400"/>
              <a:t>• Krok 3: liczę różnicę Δ = ocena dużego minus średnia ocena małego.
</a:t>
            </a:r>
          </a:p>
          <a:p>
            <a:r>
              <a:rPr lang="pl-PL" sz="1400"/>
              <a:t>• Krok 4: Δ &gt; 0,25 (czyli ponad 1 punkt w skali 1–5) = TRUDNE (COMPLEX). W przeciwnym razie ŁATWE (SIMPLE).
</a:t>
            </a:r>
          </a:p>
          <a:p>
            <a:r>
              <a:rPr lang="pl-PL" sz="1400"/>
              <a:t>• Gdy oba modele odpowiedziały źle, pytanie zostaje łatwe, bo duży nic by nie dał.
</a:t>
            </a:r>
          </a:p>
          <a:p>
            <a:endParaRPr lang="pl-PL" sz="1400"/>
          </a:p>
          <a:p>
            <a:r>
              <a:rPr lang="pl-PL" sz="1400" b="1"/>
              <a:t>DEFINICJE
</a:t>
            </a:r>
          </a:p>
          <a:p>
            <a:r>
              <a:rPr lang="pl-PL" sz="1400"/>
              <a:t>Δ (delta): przewaga dużego modelu = ocena dużego minus średnia ocena małego, w skali 0–1 (oceny przeliczone wzorem (ocena − 1) / 4).
</a:t>
            </a:r>
          </a:p>
          <a:p>
            <a:r>
              <a:rPr lang="pl-PL" sz="1400" b="1"/>
              <a:t>PRÓG TRUDNOŚCI: </a:t>
            </a:r>
            <a:r>
              <a:rPr lang="pl-PL" sz="1400"/>
              <a:t>Δ &gt; 0,25, czyli 1 punkt w skali 1–5. Nie mylić z progiem routera, o którym będzie dalej.
</a:t>
            </a:r>
          </a:p>
          <a:p>
            <a:endParaRPr lang="pl-PL" sz="1400"/>
          </a:p>
          <a:p>
            <a:r>
              <a:rPr lang="pl-PL" sz="1400" b="1"/>
              <a:t>PRZYKŁAD Z RYSUNKU
</a:t>
            </a:r>
          </a:p>
          <a:p>
            <a:r>
              <a:rPr lang="pl-PL" sz="1400"/>
              <a:t>• Duży dostał 5 (1,00), mały 3, 3 i 4 (średnio 0,58). Δ = 0,42, więc pytanie jest trudne.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Dlaczego 3 próbki małego? Jedna próbka dałaby tę samą klasę co trzy tylko w 74% pytań otwartych. Średnia z trzech zmniejsza szum.
</a:t>
            </a:r>
          </a:p>
          <a:p>
            <a:r>
              <a:rPr lang="pl-PL" sz="1400"/>
              <a:t>• Skąd próg 1 punkt? To mój wybór. Sprawdziłem też łagodniejszy i ostrzejszy (odsetek trudnych: 51,5%, 35,4% i 27,6%). Wnioski o routerze są te 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4313 pytań z ośmiu źródeł i 17 252 odpowiedzi obu modeli.
</a:t>
            </a:r>
          </a:p>
          <a:p>
            <a:r>
              <a:rPr lang="pl-PL" sz="1400"/>
              <a:t>• Źródła: prawdziwe rozmowy (Arena, WildChat), pytania wygenerowane przez Gemini, zbiory z matematyki, wiedzy i programowania. Są pytania otwarte i takie ze znaną poprawną odpowiedzią.
</a:t>
            </a:r>
          </a:p>
          <a:p>
            <a:r>
              <a:rPr lang="pl-PL" sz="1400"/>
              <a:t>• Podział: 50% do nauki routera, 20% do dostrajania, 30% do testu końcowego. Test jest zamknięty: otworzę go raz, na końcu.
</a:t>
            </a:r>
          </a:p>
          <a:p>
            <a:r>
              <a:rPr lang="pl-PL" sz="1400"/>
              <a:t>• Bardzo podobne pytania trafiają zawsze do jednej części. Inaczej router „znałby” pytania z testu, a wynik byłby zawyżony.
</a:t>
            </a:r>
          </a:p>
          <a:p>
            <a:r>
              <a:rPr lang="pl-PL" sz="1400"/>
              <a:t>• Wynik pomiaru: 35,4% pytań jest trudnych (liczone dla 4304 pytań z etykietą; 9 z 4313 zablokował sędzia z powodu treści, więc są poza analizą), ale zależnie od źródła: matematyka 4%, WildChat 48%. Mały model dobrze liczy, a rozmowy otwarte są dla niego trudniejsze.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Skąd te źródła? Chciałem mieszankę prawdziwych, niejednoznacznych rozmów i zadań, w których poprawność da się sprawdzić automatem.
</a:t>
            </a:r>
          </a:p>
          <a:p>
            <a:r>
              <a:rPr lang="pl-PL" sz="1400"/>
              <a:t>• Ograniczenie: to głównie publiczne czaty, brakuje zapytań z typowego użycia w firmie. Wracam do tego na końcu.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Etykiety ocenia model, więc sprawdziłem, ile można im ufać.
</a:t>
            </a:r>
          </a:p>
          <a:p>
            <a:r>
              <a:rPr lang="pl-PL" sz="1400"/>
              <a:t>• 90%: po zmianie kolejności odpowiedzi ten sam sędzia daje tę samą klasę (trudne lub łatwe) w 90% pytań.
</a:t>
            </a:r>
          </a:p>
          <a:p>
            <a:r>
              <a:rPr lang="pl-PL" sz="1400"/>
              <a:t>• 79%: drugi, mocniejszy sędzia (Gemini Pro) zgadza się z pierwszym co do klasy w 79% pytań.
</a:t>
            </a:r>
          </a:p>
          <a:p>
            <a:r>
              <a:rPr lang="pl-PL" sz="1400"/>
              <a:t>• Sam oceniłem 100 odpowiedzi, nie wiedząc, który model je napisał. Korelacja z sędzią 0,59 (1 = identyczne uporządkowanie ocen, 0 = brak związku). Identyczna ocena w 43% przypadków, różnica nie większa niż 1 punkt w 77%.
</a:t>
            </a:r>
          </a:p>
          <a:p>
            <a:r>
              <a:rPr lang="pl-PL" sz="1400"/>
              <a:t>• Sędzia jest surowszy ode mnie o 0,4 punktu (średnio 3,00 wobec 3,40).
</a:t>
            </a:r>
          </a:p>
          <a:p>
            <a:r>
              <a:rPr lang="pl-PL" sz="1400"/>
              <a:t>• Wniosek: etykiety są użyteczne, ale nie idealne. Stała surowość sędziego się znosi, bo etykieta to różnica ocen dwóch modeli.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Czy sędzia faworyzuje długie odpowiedzi? Korelacja z długością to 0,06, czyli prawie żadna.
</a:t>
            </a:r>
          </a:p>
          <a:p>
            <a:r>
              <a:rPr lang="pl-PL" sz="1400"/>
              <a:t>• Który sędzia jest lepszy? Nie rozstrzygam. Używam tańszego, drugi dostał tylko część pytań.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Router ma trzy warstwy, od najtańszej do najdroższej. Warstwa zostaje tylko wtedy, gdy pokaże zysk.
</a:t>
            </a:r>
          </a:p>
          <a:p>
            <a:r>
              <a:rPr lang="pl-PL" sz="1400"/>
              <a:t>• Warstwa 1, heurystyki: punkty za cechy tekstu. +1 za frazę z listy zadań trudnych, −1 za frazę z listy łatwych, +1 za długość powyżej 400 znaków, +1 powyżej 1500, −1 gdy ponad 10% znaków to cyfry, +1 za adres internetowy. Administrator może zmienić punkty.
</a:t>
            </a:r>
          </a:p>
          <a:p>
            <a:r>
              <a:rPr lang="pl-PL" sz="1400"/>
              <a:t>• Frazy pochodzą z literatury, nie z moich danych, żeby ich nie dopasować do wyników. Taksonomia Blooma (Anderson i Krathwohl, 2001, definicja niżej): „analyze”, „compare”, „design” to zadania trudniejsze, „what is”, „define” łatwiejsze. Lista z AgentBus, praktycznego systemu routingu: np. „debug”, „refactor”, „step by step”.
</a:t>
            </a:r>
          </a:p>
          <a:p>
            <a:r>
              <a:rPr lang="pl-PL" sz="1400"/>
              <a:t>• Suma punktów od progu (domyślnie 2) = pytanie idzie od razu do dużego, bez dalszych warstw. Tylko w tę stronę, bo pomyłka w stronę dużego kosztuje pieniądze, a nie jakość. Warstwa jest opcjonalna: bez pliku z parametrami jest wyłączona.
</a:t>
            </a:r>
          </a:p>
          <a:p>
            <a:r>
              <a:rPr lang="pl-PL" sz="1400"/>
              <a:t>• U nas próg 2 obejmuje 6% pytań, z których 52% jest naprawdę trudnych (wśród wszystkich 37%). Lepsze od zgadywania, ale obejmuje niewiele ruchu.
</a:t>
            </a:r>
          </a:p>
          <a:p>
            <a:r>
              <a:rPr lang="pl-PL" sz="1400"/>
              <a:t>• Warstwa 2: porównanie z podobnymi pytaniami (kNN) na embeddingach. Główna część rozwiązania, następny slajd.
</a:t>
            </a:r>
          </a:p>
          <a:p>
            <a:r>
              <a:rPr lang="pl-PL" sz="1400"/>
              <a:t>• Warstwa 3: mały model sam ocenia, czy pytanie jest trudne. Jeszcze jej nie ma. Wejdzie, jeśli test go/no-go pokaże zysk: jeśli pomaga, budujemy, jeśli nie, rezygnujemy. Wywołanie małego modelu trwa sekundy, więc tylko dla pytań, przy których warstwa 2 jest niepewna.
</a:t>
            </a:r>
          </a:p>
          <a:p>
            <a:r>
              <a:rPr lang="pl-PL" sz="1400"/>
              <a:t>• Na końcu router zwraca wynik od 0 do 1: im wyższy, tym bardziej pytanie wygląda na trudne. Administrator ustawia próg: powyżej idzie do dużego, poniżej do małego. Gdy cokolwiek zawiedzie, idzie do dużego, bo to bezpieczniejsze.
</a:t>
            </a:r>
          </a:p>
          <a:p>
            <a:endParaRPr lang="pl-PL" sz="1400"/>
          </a:p>
          <a:p>
            <a:r>
              <a:rPr lang="pl-PL" sz="1400" b="1"/>
              <a:t>DEFINICJE
</a:t>
            </a:r>
          </a:p>
          <a:p>
            <a:r>
              <a:rPr lang="pl-PL" sz="1400" b="1"/>
              <a:t>TAKSONOMIA BLOOMA: </a:t>
            </a:r>
            <a:r>
              <a:rPr lang="pl-PL" sz="1400"/>
              <a:t>podział celów uczenia na sześć poziomów myślenia, od najprostszego do najtrudniejszego. Używam wersji poprawionej (Anderson i Krathwohl, 2001).
</a:t>
            </a:r>
          </a:p>
          <a:p>
            <a:r>
              <a:rPr lang="pl-PL" sz="1400"/>
              <a:t>• Poziomy: zapamiętać (remember), zrozumieć (understand), zastosować (apply), analizować (analyze), oceniać (evaluate), tworzyć (create).
</a:t>
            </a:r>
          </a:p>
          <a:p>
            <a:r>
              <a:rPr lang="pl-PL" sz="1400"/>
              <a:t>• Do każdego poziomu pasują czasowniki, którymi zadaje się polecenia. Zapamiętać: „define”, „name”, „recall”, „what is”. Zrozumieć: „summarize”, „translate”, „paraphrase”. Zastosować: „solve”, „calculate”, „implement”. Analizować: „analyze”, „compare”, „contrast”. Oceniać: „evaluate”, „critique”, „justify”. Tworzyć: „design”, „compose”, „invent”.
</a:t>
            </a:r>
          </a:p>
          <a:p>
            <a:r>
              <a:rPr lang="pl-PL" sz="1400"/>
              <a:t>• Jak użyłem: czasowniki z czterech wyższych poziomów (zastosować, analizować, oceniać, tworzyć) to lista fraz TRUDNYCH (+1 punkt). Z dwóch niższych (zapamiętać, zrozumieć) to lista fraz ŁATWYCH (−1 punkt). Do listy trudnych doszły frazy z AgentBus, np. „debug”, „refactor”, „step by step”.
</a:t>
            </a:r>
          </a:p>
          <a:p>
            <a:r>
              <a:rPr lang="pl-PL" sz="1400"/>
              <a:t>• Założenie z literatury: polecenie, które wymaga wyższego poziomu myślenia, jest trudniejsze. U nas sama warstwa 1 wypada słabo (AUROC ok. 0,55), więc to założenie tylko częściowo pasuje do pary naszych modeli. Prawdopodobnie dlatego, że o trudności dla modelu decyduje też to, czy zna fakt, a tego z czasownika nie widać (hipoteza, niesprawdzona).
</a:t>
            </a:r>
          </a:p>
          <a:p>
            <a:r>
              <a:rPr lang="pl-PL" sz="1400" b="1"/>
              <a:t>STREFA NIEPEWNOŚCI: </a:t>
            </a:r>
            <a:r>
              <a:rPr lang="pl-PL" sz="1400"/>
              <a:t>wynik warstwy 2 w środku skali, między dwoma progami. Np. poniżej 0,2 do małego, powyżej 0,45 do dużego, pomiędzy decyduje warstwa 3. W naszych danych to ok. połowa pytań.
</a:t>
            </a:r>
          </a:p>
          <a:p>
            <a:r>
              <a:rPr lang="pl-PL" sz="1400"/>
              <a:t>• Granice dobiorę na danych do dostrajania tak, by jakość nie spadła poniżej ustalonego poziomu. Tego poziomu jeszcze nie ustaliłem.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Ile to trwa? Heurystyki ok. 0,3 ms, warstwa 2 ok. 20 ms. Warstwa 3 to sekundy, dlatego jest ostatnia i tylko w strefie niepewności.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Router dostaje tekst pytania, a zwraca liczbę od 0 do 1. Cztery kroki:
</a:t>
            </a:r>
          </a:p>
          <a:p>
            <a:r>
              <a:rPr lang="pl-PL" sz="1400"/>
              <a:t>• Krok 1: zamieniam pytanie na 768 liczb (embedding). Pytania o podobnym znaczeniu dostają podobne liczby, jak punkty blisko siebie na mapie.
</a:t>
            </a:r>
          </a:p>
          <a:p>
            <a:r>
              <a:rPr lang="pl-PL" sz="1400"/>
              <a:t>• Krok 2: szukam 20 najbardziej podobnych pytań w bazie, czyli takich, których trudność już zmierzyłem.
</a:t>
            </a:r>
          </a:p>
          <a:p>
            <a:r>
              <a:rPr lang="pl-PL" sz="1400"/>
              <a:t>• Krok 3: wynik to odsetek trudnych wśród tych 20, przy czym podobniejsze liczą się bardziej. Np. 14 z 20 trudnych = wynik wysoki = duży model.
</a:t>
            </a:r>
          </a:p>
          <a:p>
            <a:r>
              <a:rPr lang="pl-PL" sz="1400"/>
              <a:t>• Krok 4: porównuję wynik z progiem administratora.
</a:t>
            </a:r>
          </a:p>
          <a:p>
            <a:endParaRPr lang="pl-PL" sz="1400"/>
          </a:p>
          <a:p>
            <a:r>
              <a:rPr lang="pl-PL" sz="1400" b="1"/>
              <a:t>DEFINICJE
</a:t>
            </a:r>
          </a:p>
          <a:p>
            <a:r>
              <a:rPr lang="pl-PL" sz="1400" b="1"/>
              <a:t>EMBEDDING: </a:t>
            </a:r>
            <a:r>
              <a:rPr lang="pl-PL" sz="1400"/>
              <a:t>lista liczb (tu 768) opisująca znaczenie tekstu. Sama nie mówi, czy pytanie jest trudne.
</a:t>
            </a:r>
          </a:p>
          <a:p>
            <a:r>
              <a:rPr lang="pl-PL" sz="1400"/>
              <a:t>kNN: metoda, która z embeddingu robi wynik: ważony odsetek trudnych wśród k = 20 najbardziej podobnych pytań z bazy.
</a:t>
            </a:r>
          </a:p>
          <a:p>
            <a:endParaRPr lang="pl-PL" sz="1400"/>
          </a:p>
          <a:p>
            <a:r>
              <a:rPr lang="pl-PL" sz="1400" b="1"/>
              <a:t>DLACZEGO TAK
</a:t>
            </a:r>
          </a:p>
          <a:p>
            <a:r>
              <a:rPr lang="pl-PL" sz="1400"/>
              <a:t>• Bez trenowania: baza to zapisane pytania, nowe dane to dopisanie wierszy.
</a:t>
            </a:r>
          </a:p>
          <a:p>
            <a:r>
              <a:rPr lang="pl-PL" sz="1400"/>
              <a:t>• Wynik ma zrozumiałe znaczenie i można pokazać sąsiadów.
</a:t>
            </a:r>
          </a:p>
          <a:p>
            <a:r>
              <a:rPr lang="pl-PL" sz="1400"/>
              <a:t>• Liczy się lokalnie w ok. 20 ms, pytania nie opuszczają serwera.
</a:t>
            </a:r>
          </a:p>
          <a:p>
            <a:r>
              <a:rPr lang="pl-PL" sz="1400"/>
              <a:t>• Wzorem jest „Similarity-Weighted Ranking” z RouteLLM (Ong i in., 2024): embedding, podobieństwo do 80 tys. pytań z Areny, ważona suma głosów, bez trenowania. Inne metody z artykułu wymagają trenowania lub fine-tuningu.
</a:t>
            </a:r>
          </a:p>
          <a:p>
            <a:r>
              <a:rPr lang="pl-PL" sz="1400"/>
              <a:t>• Różnice: moje etykiety są zmierzone na własnych modelach, biorę 20 najbliższych, nie całą historię. Baza ma ok. 3 tys. wektorów i ok. 1 ms (oryginał ok. 39 USD za milion zapytań).
</a:t>
            </a:r>
          </a:p>
          <a:p>
            <a:endParaRPr lang="pl-PL" sz="1400"/>
          </a:p>
          <a:p>
            <a:r>
              <a:rPr lang="pl-PL" sz="1400" b="1"/>
              <a:t>CO SPRAWDZIŁEM
</a:t>
            </a:r>
          </a:p>
          <a:p>
            <a:r>
              <a:rPr lang="pl-PL" sz="1400"/>
              <a:t>• Walidacja krzyżowa: uczę na jednych częściach danych, oceniam na pozostałych. Miara AUROC jak na slajdzie 4.
</a:t>
            </a:r>
          </a:p>
          <a:p>
            <a:r>
              <a:rPr lang="pl-PL" sz="1400"/>
              <a:t>• 4 modele embeddingów: AUROC 0,679–0,709. Najlepszy (qwen3) jest 3× wolniejszy (52 ms wobec 17,6 ms), więc zostaje nomic.
</a:t>
            </a:r>
          </a:p>
          <a:p>
            <a:r>
              <a:rPr lang="pl-PL" sz="1400"/>
              <a:t>• 9 klasyfikatorów (regresja logistyczna, SVM, sieć MLP, boosting i inne): 0,662–0,691, żaden istotnie lepszy od kNN. Sufit informacji w embeddingach to ok. 0,68–0,69.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Dlaczego 20 sąsiadów? Przy 1: AUROC 0,590 (szum). Od ok. 20 stabilnie: 0,682 przy 20, 0,689 przy 40.
</a:t>
            </a:r>
          </a:p>
          <a:p>
            <a:r>
              <a:rPr lang="pl-PL" sz="1400"/>
              <a:t>• Czy ważenie pomaga? Trochę: równe wagi 0,677, ważenie podobieństwem 0,682. Ostrzejsze do 0,702, ale wybrane z 30 wariantów na tych samych danych, więc nie przyjmuję bez potwierdzenia.
</a:t>
            </a:r>
          </a:p>
          <a:p>
            <a:r>
              <a:rPr lang="pl-PL" sz="1400"/>
              <a:t>• Czy więcej danych pomoże? Niewiele: powyżej ok. 1200 pytań podwojenie bazy daje ok. +0,01.
</a:t>
            </a:r>
          </a:p>
          <a:p>
            <a:r>
              <a:rPr lang="pl-PL" sz="1400"/>
              <a:t>• Ograniczenie: model liczący wektory czyta do 2048 tokenów, dłuższe pytania liczy z samego początku.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DEFINICJE
</a:t>
            </a:r>
          </a:p>
          <a:p>
            <a:r>
              <a:rPr lang="pl-PL" sz="1400"/>
              <a:t>AUROC (ze slajdu 4): odsetek par (trudne, łatwe), w których router dał trudnemu wyższy wynik. Remis = 0,5. 0,5 to losowo, 1,0 to bezbłędny router. Nie zależy od progu.
</a:t>
            </a:r>
          </a:p>
          <a:p>
            <a:r>
              <a:rPr lang="pl-PL" sz="1400"/>
              <a:t>• Wynik routera to liczba 0–1 ze slajdu 9: im wyższa, tym bardziej pytanie wygląda na trudne.
</a:t>
            </a:r>
          </a:p>
          <a:p>
            <a:r>
              <a:rPr lang="pl-PL" sz="1400"/>
              <a:t>• Przykład pary: trudne dostało 0,70, łatwe 0,40, więc para = 1. U nas ok. 1130 trudnych i 1880 łatwych pytań, czyli ponad 2 miliony par.
</a:t>
            </a:r>
          </a:p>
          <a:p>
            <a:r>
              <a:rPr lang="pl-PL" sz="1400"/>
              <a:t>• AUROC ocenia sam wynik routera, bez wybierania progu. Drugą miarę, APGR, która pokazuje jakość odpowiedzi przy danym udziale dużego modelu, omawiam na następnym slajdzie.
</a:t>
            </a:r>
          </a:p>
          <a:p>
            <a:endParaRPr lang="pl-PL" sz="1400"/>
          </a:p>
          <a:p>
            <a:r>
              <a:rPr lang="pl-PL" sz="1400" b="1"/>
              <a:t>MÓW
</a:t>
            </a:r>
          </a:p>
          <a:p>
            <a:r>
              <a:rPr lang="pl-PL" sz="1400"/>
              <a:t>• Mój router ma AUROC 0,682, czyli w 68 parach na 100 ustawia pytania dobrze.
</a:t>
            </a:r>
          </a:p>
          <a:p>
            <a:r>
              <a:rPr lang="pl-PL" sz="1400"/>
              <a:t>• Słupki na wykresie to AUROC: losowy 0,5, sama długość pytania 0,525 (prawie nic nie mówi), „samo źródło” 0,631, router 0,682.
</a:t>
            </a:r>
          </a:p>
          <a:p>
            <a:r>
              <a:rPr lang="pl-PL" sz="1400"/>
              <a:t>• „Samo źródło”: router, który nie czyta pytania, tylko wie, z jakiego zbioru pochodzi, i daje wynik równy odsetkowi trudnych w tym zbiorze (matematyka 4%, WildChat 48%). W praktyce źródła nie znamy, to tylko poprzeczka.
</a:t>
            </a:r>
          </a:p>
          <a:p>
            <a:r>
              <a:rPr lang="pl-PL" sz="1400"/>
              <a:t>• Router wie coś więcej niż rodzaj pytania, ale niewiele: różnica 0,05 w AUROC (0,682 wobec 0,631).
</a:t>
            </a:r>
          </a:p>
          <a:p>
            <a:endParaRPr lang="pl-PL" sz="1400"/>
          </a:p>
          <a:p>
            <a:r>
              <a:rPr lang="pl-PL" sz="1400" b="1"/>
              <a:t>UWAGA
</a:t>
            </a:r>
          </a:p>
          <a:p>
            <a:r>
              <a:rPr lang="pl-PL" sz="1400"/>
              <a:t>• Liczby dotyczą warstwy 2 (kNN), bo tylko ona daje wynik 0–1 dla każdego pytania. Warstwa 1 osobno ok. 0,55, w kaskadzie z kNN jakość się nie zmienia. Warstwy 3 jeszcze nie ma. Cały router ocenię na zbiorze testowym.
</a:t>
            </a:r>
          </a:p>
          <a:p>
            <a:r>
              <a:rPr lang="pl-PL" sz="1400"/>
              <a:t>• Uczciwie: dużą część skuteczności daje samo rozpoznanie rodzaju pytania. Wewnątrz jednego źródła jest słabiej: Arena 0,60, TriviaQA ok. 0,50.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Czy da się lepiej? Z samego tekstu raczej nie, różne metody dają podobny wynik. Potrzebny byłby inny sygnał, np. warstwa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Ten slajd pokazuje drugą miarę. Po lewej APGR (wykres), po prawej ryzyko poważnych błędów (tabela). To dwa różne spojrzenia na ten sam router.
</a:t>
            </a:r>
          </a:p>
          <a:p>
            <a:endParaRPr lang="pl-PL" sz="1400"/>
          </a:p>
          <a:p>
            <a:r>
              <a:rPr lang="pl-PL" sz="1400" b="1"/>
              <a:t>DEFINICJE
</a:t>
            </a:r>
          </a:p>
          <a:p>
            <a:r>
              <a:rPr lang="pl-PL" sz="1400" b="1"/>
              <a:t>JAKOŚĆ: </a:t>
            </a:r>
            <a:r>
              <a:rPr lang="pl-PL" sz="1400"/>
              <a:t>średnia ocena odpowiedzi w skali 0–1 (dla każdego pytania ocena modelu, do którego poszło). Wszystko do małego 0,625, wszystko do dużego 0,846. Luka 0,221.
</a:t>
            </a:r>
          </a:p>
          <a:p>
            <a:r>
              <a:rPr lang="pl-PL" sz="1400"/>
              <a:t>APGR (średni odzyskany zysk): dla jednego progu odzyskany zysk = (jakość routera − 0,625) / 0,221. Np. jakość 0,777 daje 0,152 / 0,221 = 0,69.
</a:t>
            </a:r>
          </a:p>
          <a:p>
            <a:r>
              <a:rPr lang="pl-PL" sz="1400"/>
              <a:t>• APGR to średnia z tego po wszystkich progach, czyli jedna liczba opisująca cały router.
</a:t>
            </a:r>
          </a:p>
          <a:p>
            <a:r>
              <a:rPr lang="pl-PL" sz="1400"/>
              <a:t>• Losowe wysyłanie daje APGR 0,5, idealny router 0,89 (dla 3010 pytań). Mój router ma 0,605, a „samo źródło” 0,582 (różnica 0,023, istotna statystycznie).
</a:t>
            </a:r>
          </a:p>
          <a:p>
            <a:r>
              <a:rPr lang="pl-PL" sz="1400" b="1"/>
              <a:t>POWAŻNY BŁĄD: </a:t>
            </a:r>
            <a:r>
              <a:rPr lang="pl-PL" sz="1400"/>
              <a:t>pytanie, na które duży model odpowiedziałby wyraźnie lepiej (o ponad 2 punkty w skali 1–5, czyli Δ &gt; 0,5), a które poszło do małego. Takich pytań jest 15,9%.
</a:t>
            </a:r>
          </a:p>
          <a:p>
            <a:endParaRPr lang="pl-PL" sz="1400"/>
          </a:p>
          <a:p>
            <a:r>
              <a:rPr lang="pl-PL" sz="1400" b="1"/>
              <a:t>WYKRES (LEWA STRONA)
</a:t>
            </a:r>
          </a:p>
          <a:p>
            <a:r>
              <a:rPr lang="pl-PL" sz="1400"/>
              <a:t>• Oś pozioma: odsetek pytań wysyłanych do dużego modelu (0–100%). Oś pionowa: jakość.
</a:t>
            </a:r>
          </a:p>
          <a:p>
            <a:r>
              <a:rPr lang="pl-PL" sz="1400"/>
              <a:t>• Szara linia to wysyłanie losowe. Pomarańczowa to router: wyżej = lepsza jakość przy tym samym udziale dużego.
</a:t>
            </a:r>
          </a:p>
          <a:p>
            <a:r>
              <a:rPr lang="pl-PL" sz="1400"/>
              <a:t>• Punkty tej linii to te, z których APGR jest średnią. APGR (0,605 wobec 0,5 losowo) mierzy odstęp między liniami.
</a:t>
            </a:r>
          </a:p>
          <a:p>
            <a:r>
              <a:rPr lang="pl-PL" sz="1400"/>
              <a:t>• Przykład, próg 0,3: do dużego idzie 54% pytań, jakość 0,777. Odzyskuję 0,69 luki między 0,625 a 0,846 (losowo byłoby 0,54).
</a:t>
            </a:r>
          </a:p>
          <a:p>
            <a:r>
              <a:rPr lang="pl-PL" sz="1400"/>
              <a:t>• To ok. 46% mniej wywołań dużego modelu za ok. 8% niższą jakość (0,846 spada do 0,777). Uwaga: to odczyt z jednego punktu, nie APGR.
</a:t>
            </a:r>
          </a:p>
          <a:p>
            <a:endParaRPr lang="pl-PL" sz="1400"/>
          </a:p>
          <a:p>
            <a:r>
              <a:rPr lang="pl-PL" sz="1400" b="1"/>
              <a:t>TABELA (PRAWA STRONA)
</a:t>
            </a:r>
          </a:p>
          <a:p>
            <a:r>
              <a:rPr lang="pl-PL" sz="1400"/>
              <a:t>• To inna miara niż APGR. Jeśli akceptuję do 12% poważnych błędów wśród pytań wysłanych do małego, do małego idzie 47% pytań.
</a:t>
            </a:r>
          </a:p>
          <a:p>
            <a:r>
              <a:rPr lang="pl-PL" sz="1400"/>
              <a:t>• Przy 10% idzie 22% pytań, przy 15% aż 90%. Poniżej ok. 8% żaden próg nie daje gwarancji z 95% pewnością.
</a:t>
            </a:r>
          </a:p>
          <a:p>
            <a:endParaRPr lang="pl-PL" sz="1400"/>
          </a:p>
          <a:p>
            <a:r>
              <a:rPr lang="pl-PL" sz="1400" b="1"/>
              <a:t>JAK SIĘ MAJĄ DO SIEBIE
</a:t>
            </a:r>
          </a:p>
          <a:p>
            <a:r>
              <a:rPr lang="pl-PL" sz="1400"/>
              <a:t>• To ten sam router i te same progi, oglądane z dwóch stron. Wykres: ile średnio stracę na jakości. Tabela: jak często popełnię poważny błąd.
</a:t>
            </a:r>
          </a:p>
          <a:p>
            <a:r>
              <a:rPr lang="pl-PL" sz="1400"/>
              <a:t>• Np. próg 0,3: z wykresu 54% do dużego i jakość 0,777. Z tabeli: do małego idzie ok. 47% pytań, wśród nich ok. 11% to poważne błędy.
</a:t>
            </a:r>
          </a:p>
          <a:p>
            <a:r>
              <a:rPr lang="pl-PL" sz="1400"/>
              <a:t>• Do oceny routera służą AUROC i APGR (nie zależą od progu). Wykres i tabela pomagają wybrać jeden próg: wg kosztu (wykres) albo wg ryzyka (tabela).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Jak liczona jest tabela? Próg wyznaczam na jednej części danych, sprawdzam na drugiej. Pewność 95% liczę metodą Clopper–Pearsona.
</a:t>
            </a:r>
          </a:p>
          <a:p>
            <a:r>
              <a:rPr lang="pl-PL" sz="1400"/>
              <a:t>• Czy 46% oszczędności jest warte 8% jakości? To zależy od administratora, dlatego to on wybiera próg.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Poważny błąd (slajd 11): pytanie trudne wysłane do małego. Takich pytań jest 15,9%.
</a:t>
            </a:r>
          </a:p>
          <a:p>
            <a:r>
              <a:rPr lang="pl-PL" sz="1400"/>
              <a:t>• Przykład: 100 takich pytań. Przy progu 0,3 router wysyła 70 do dużego (dobrze) i 30 do małego (gorsza odpowiedź niż mogła być). Losowo, przy tym samym udziale pytań do małego (ok. 46% wszystkich), do małego trafiłoby 46. Router jest lepszy od losowania, ale nie bezbłędny.
</a:t>
            </a:r>
          </a:p>
          <a:p>
            <a:r>
              <a:rPr lang="pl-PL" sz="1400"/>
              <a:t>• Wykres: ile ze 100 trudnych pytań z danego źródła router wysłał do małego. Arena 25, WildChat 17, TriviaQA (fakty) 81, HumanEval (programowanie) 84.
</a:t>
            </a:r>
          </a:p>
          <a:p>
            <a:r>
              <a:rPr lang="pl-PL" sz="1400"/>
              <a:t>• Przy pytaniach otwartych router myli się rzadziej, przy faktach i kodzie prawie za każdym razem, gdy pytanie jest trudne.
</a:t>
            </a:r>
          </a:p>
          <a:p>
            <a:r>
              <a:rPr lang="pl-PL" sz="1400"/>
              <a:t>• Dlaczego: router widzi tylko tekst, a nie to, co wie mały model. Dwa pytania o fakty wyglądają podobnie, a mały zna odpowiedź na jedno i nie zna drugiej.
</a:t>
            </a:r>
          </a:p>
          <a:p>
            <a:r>
              <a:rPr lang="pl-PL" sz="1400"/>
              <a:t>• Kod: tylko 18% zadań jest trudnych, więc sąsiedzi nowego zadania są zwykle łatwi, wynik jest niski i zadanie idzie do małego. Trudne wyglądają jak łatwe.
</a:t>
            </a:r>
          </a:p>
          <a:p>
            <a:r>
              <a:rPr lang="pl-PL" sz="1400"/>
              <a:t>• To brak informacji w samym tekście, a nie błąd metody. Dlatego rozważam warstwę 3 (mały model może „czuć”, czy da radę). To hipoteza do sprawdzenia, nie obietnica.
</a:t>
            </a:r>
          </a:p>
          <a:p>
            <a:endParaRPr lang="pl-PL" sz="1400"/>
          </a:p>
          <a:p>
            <a:r>
              <a:rPr lang="pl-PL" sz="1400" b="1"/>
              <a:t>UWAGA
</a:t>
            </a:r>
          </a:p>
          <a:p>
            <a:r>
              <a:rPr lang="pl-PL" sz="1400"/>
              <a:t>• Próbki są małe: 42 pytania trudne z TriviaQA i 19 z HumanEval. Wnioski ostrożnie.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Czemu zadania z kodu rzadko są trudne? Mały model rozwiązuje 83% zadań, duży 94%. Różnica jest niewielka.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Pierwsze uruchomienie całego systemu na prawdziwych modelach: qwen3:8b (Ollama) i Qwen 27B (vLLM), oba przez DeepFellow. 20 października, komputer służbowy, 4 pytania do modelu router.
</a:t>
            </a:r>
          </a:p>
          <a:p>
            <a:r>
              <a:rPr lang="pl-PL" sz="1400"/>
              <a:t>• Router dopisuje do odpowiedzi nagłówki: który model, która warstwa, wynik kNN (liczba 0–1 ze slajdu 9).
</a:t>
            </a:r>
          </a:p>
          <a:p>
            <a:r>
              <a:rPr lang="pl-PL" sz="1400"/>
              <a:t>• Stolica Francji: wynik 0,19, poniżej progu 0,3, więc mały.
</a:t>
            </a:r>
          </a:p>
          <a:p>
            <a:r>
              <a:rPr lang="pl-PL" sz="1400"/>
              <a:t>• Opowiadanie o smoku i rycerzu: wynik 0,70, więc duży. Heurystyki dały tylko 1 punkt, więc decyzja przeszła do warstwy 2.
</a:t>
            </a:r>
          </a:p>
          <a:p>
            <a:r>
              <a:rPr lang="pl-PL" sz="1400"/>
              <a:t>• „Przeanalizuj i porównaj dwa projekty, oceń kompromisy krok po kroku”: 5 fraz z listy trudnych = 5 punktów przy progu 2. Decyduje warstwa 1, od razu duży, bez embeddingu, więc bez wyniku kNN.
</a:t>
            </a:r>
          </a:p>
          <a:p>
            <a:r>
              <a:rPr lang="pl-PL" sz="1400"/>
              <a:t>• Mnożenie 17 razy 23 w trybie strumieniowym (odpowiedź przychodzi kawałkami): wynik 0,10, mały. Nagłówki dochodzą przed pierwszym kawałkiem odpowiedzi.
</a:t>
            </a:r>
          </a:p>
          <a:p>
            <a:r>
              <a:rPr lang="pl-PL" sz="1400"/>
              <a:t>• Narzut routera: to samo proste pytanie 5 razy przez router i 5 razy bezpośrednio do małego. Średnio 0,376 s wobec 0,363 s, czyli ok. 13 ms. Cel z planu: poniżej 50 ms.
</a:t>
            </a:r>
          </a:p>
          <a:p>
            <a:r>
              <a:rPr lang="pl-PL" sz="1400"/>
              <a:t>• Jeszcze nie sprawdzone: przełączenie na duży model przy awarii routera i to, czy po restarcie DeepFellow usługa wraca sama.
</a:t>
            </a:r>
          </a:p>
          <a:p>
            <a:endParaRPr lang="pl-PL" sz="1400"/>
          </a:p>
          <a:p>
            <a:r>
              <a:rPr lang="pl-PL" sz="1400" b="1"/>
              <a:t>UWAGA
</a:t>
            </a:r>
          </a:p>
          <a:p>
            <a:r>
              <a:rPr lang="pl-PL" sz="1400"/>
              <a:t>• 5 pomiarów to mało, a czasy bezpośrednie wahają się o ok. 27 ms, więcej niż sama różnica. Wniosek: narzut to kilka do kilkunastu ms i na pewno poniżej 50, a nie dokładnie 13.
</a:t>
            </a:r>
          </a:p>
          <a:p>
            <a:r>
              <a:rPr lang="pl-PL" sz="1400"/>
              <a:t>• Cztery pytania pokazują, że mechanizm działa, a nie jak dobrze router wybiera. Jakość wyboru pokazują wyniki na zbiorze danych.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Czemu to nie to samo co 20,6 ms z następnego slajdu? To dwa pomiary: tamten dotyczył samej decyzji routera na moim komputerze, bez DeepFellow. Ten całej drogi przez DeepFellow na komputerze służbowym, jako różnica czasów. Obie liczby są poniżej 50 ms.
</a:t>
            </a:r>
          </a:p>
          <a:p>
            <a:r>
              <a:rPr lang="pl-PL" sz="1400"/>
              <a:t>• Jak rozumieć wynik 0,19? Mniej więcej jako odsetek trudnych wśród 20 podobnych pytań z bazy, z większą wagą dla bardziej podobnych.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RouterService działa w DeepFellow Infra v0.34. 57 nowych testów, cały zestaw (5157) przechodzi.
</a:t>
            </a:r>
          </a:p>
          <a:p>
            <a:r>
              <a:rPr lang="pl-PL" sz="1400"/>
              <a:t>• Sprawdziłem go od początku do końca na osobnej instancji z modelami Gemini: wybór modelu, nagłówki, strumieniowanie i przełączenie na duży model przy błędzie (po angielsku fallback). Test wykrył błąd: wycofany model zwracał 404 jako zwykłą odpowiedź i omijał przełączenie. Naprawiłem.
</a:t>
            </a:r>
          </a:p>
          <a:p>
            <a:r>
              <a:rPr lang="pl-PL" sz="1400"/>
              <a:t>• Z modelami Qwen 8B i 27B uruchomiłem go już na komputerze służbowym (poprzedni slajd). Zostały awaria i restart.
</a:t>
            </a:r>
          </a:p>
          <a:p>
            <a:r>
              <a:rPr lang="pl-PL" sz="1400"/>
              <a:t>• Czas: mediana 20,6 ms, 90% zapytań poniżej 65 ms (cel poniżej 50 ms spełniony dla mediany).
</a:t>
            </a:r>
          </a:p>
          <a:p>
            <a:r>
              <a:rPr lang="pl-PL" sz="1400"/>
              <a:t>• Odporność: po literówkach, parafrazach i synonimach decyzja zmienia się tylko w 6–10% pytań (losowo byłoby 42–48%).
</a:t>
            </a:r>
          </a:p>
          <a:p>
            <a:endParaRPr lang="pl-PL" sz="1400"/>
          </a:p>
          <a:p>
            <a:r>
              <a:rPr lang="pl-PL" sz="1400" b="1"/>
              <a:t>OGRANICZENIA
</a:t>
            </a:r>
          </a:p>
          <a:p>
            <a:r>
              <a:rPr lang="pl-PL" sz="1400"/>
              <a:t>• Jedna para modeli i jeden sędzia (zgodność z człowiekiem umiarkowana).
</a:t>
            </a:r>
          </a:p>
          <a:p>
            <a:r>
              <a:rPr lang="pl-PL" sz="1400"/>
              <a:t>• Duży model ma jedną próbkę na pytanie.
</a:t>
            </a:r>
          </a:p>
          <a:p>
            <a:r>
              <a:rPr lang="pl-PL" sz="1400"/>
              <a:t>• Dane mało „firmowe”: 63% to publiczne czaty.
</a:t>
            </a:r>
          </a:p>
          <a:p>
            <a:r>
              <a:rPr lang="pl-PL" sz="1400"/>
              <a:t>• Wiedza i kod są słabo wykrywane.
</a:t>
            </a:r>
          </a:p>
          <a:p>
            <a:r>
              <a:rPr lang="pl-PL" sz="1400"/>
              <a:t>• Warstwa 1 jest na naszych danych słaba (AUROC ok. 0,55), dlatego opcjonalna. Na danych firmowych może wypaść lepiej, ale to hipoteza do sprawdzenia.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Czy zadziała na innych modelach? Router tak, ale etykiety trzeba zmierzyć od nowa: ok. 1,5 doby generowania i ok. 8 USD za sędziego.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MÓW
</a:t>
            </a:r>
          </a:p>
          <a:p>
            <a:r>
              <a:rPr lang="pl-PL" sz="1400"/>
              <a:t>• Najsłabsza strona danych: niewiele przypominają użycie w firmie. 63% to publiczne czaty (Arena, WildChat), w dużej części zabawa i fikcja. Reszta to znane testy. Brakuje poleceń biurowych, SQL i prawdziwego kodu.
</a:t>
            </a:r>
          </a:p>
          <a:p>
            <a:r>
              <a:rPr lang="pl-PL" sz="1400"/>
              <a:t>• Hipoteza, nie wynik: przez to router słabo wykrywa trudny kod, a heurystyki mogły wypaść gorzej niż na danych z firmy.
</a:t>
            </a:r>
          </a:p>
          <a:p>
            <a:r>
              <a:rPr lang="pl-PL" sz="1400"/>
              <a:t>• Po prezentacji dołożę dane z publicznych zbiorów. Cztery kandydatki, ostateczny wybór przed pomiarem.
</a:t>
            </a:r>
          </a:p>
          <a:p>
            <a:endParaRPr lang="pl-PL" sz="1400"/>
          </a:p>
          <a:p>
            <a:r>
              <a:rPr lang="pl-PL" sz="1400" b="1"/>
              <a:t>ZBIORY (LICENCJE SPRAWDZONE NA KARTACH)
</a:t>
            </a:r>
          </a:p>
          <a:p>
            <a:r>
              <a:rPr lang="pl-PL" sz="1400"/>
              <a:t>• Dolly (CC BY-SA 3.0): ok. 15 tys. poleceń napisanych przez pracowników Databricks (streszczanie, wyciąganie informacji, pytania zamknięte). Najbliższe użyciu w firmie. Część ma fragmenty Wikipedii, usunę z nich numery przypisów.
</a:t>
            </a:r>
          </a:p>
          <a:p>
            <a:r>
              <a:rPr lang="pl-PL" sz="1400"/>
              <a:t>• CodeChat (ODC-By): ok. 83 tys. prawdziwych rozmów programistów z modelami, ponad 20 języków programowania. To część WildChat, więc usunę powtórzenia.
</a:t>
            </a:r>
          </a:p>
          <a:p>
            <a:r>
              <a:rPr lang="pl-PL" sz="1400"/>
              <a:t>• Spider (CC BY-SA 4.0): ok. 8 tys. pytań do baz danych z odpowiedzią w SQL (język zapytań do baz). Nowy rodzaj zadań. Pytania napisało 11 studentów Yale, nie prawdziwi użytkownicy. Najdroższy w ocenie, bo trzeba uruchamiać zapytania na bazach.
</a:t>
            </a:r>
          </a:p>
          <a:p>
            <a:r>
              <a:rPr lang="pl-PL" sz="1400"/>
              <a:t>• Arena 140k (CC BY 4.0 dla promptów): ok. 135 tys. prawdziwych rozmów na wielu tematach i w wielu językach, ze znacznikiem „kod”. Część pytań z Areny już mam, więc sprawdzę powtórzenia.
</a:t>
            </a:r>
          </a:p>
          <a:p>
            <a:endParaRPr lang="pl-PL" sz="1400"/>
          </a:p>
          <a:p>
            <a:r>
              <a:rPr lang="pl-PL" sz="1400" b="1"/>
              <a:t>CO Z KAŻDYM ZBIOREM
</a:t>
            </a:r>
          </a:p>
          <a:p>
            <a:r>
              <a:rPr lang="pl-PL" sz="1400"/>
              <a:t>• Tak jak z poprzednimi: odpowiedzi obu modeli (mały 3 razy, duży raz), sędzia, Δ. Zbiór testowy zostaje zamknięty, nowe dane trafią tylko do nauki i dostrajania.
</a:t>
            </a:r>
          </a:p>
          <a:p>
            <a:r>
              <a:rPr lang="pl-PL" sz="1400"/>
              <a:t>• Koszt sędziego (moje oszacowanie): ok. 1 USD na 500 pytań, z ok. 8 USD za całość. Płatne wywołania dopiero za zgodą na konkretną kwotę.
</a:t>
            </a:r>
          </a:p>
          <a:p>
            <a:r>
              <a:rPr lang="pl-PL" sz="1400"/>
              <a:t>• Licencje ShareAlike (Dolly, Spider) wymagają zachowania tej samej licencji, opiszę to w pracy. Używam tylko promptów, więc warunki dotyczące odpowiedzi modeli (Arena) mnie nie obejmują.
</a:t>
            </a:r>
          </a:p>
          <a:p>
            <a:endParaRPr lang="pl-PL" sz="1400"/>
          </a:p>
          <a:p>
            <a:r>
              <a:rPr lang="pl-PL" sz="1400" b="1"/>
              <a:t>UWAGA
</a:t>
            </a:r>
          </a:p>
          <a:p>
            <a:r>
              <a:rPr lang="pl-PL" sz="1400"/>
              <a:t>• To plan, nic z tego jeszcze nie zrobiłem. Nie wiem, czy nowe dane poprawią router.
</a:t>
            </a:r>
          </a:p>
          <a:p>
            <a:endParaRPr lang="pl-PL" sz="1400"/>
          </a:p>
          <a:p>
            <a:r>
              <a:rPr lang="pl-PL" sz="1400" b="1"/>
              <a:t>JEŚLI ZAPYTAJĄ
</a:t>
            </a:r>
          </a:p>
          <a:p>
            <a:r>
              <a:rPr lang="pl-PL" sz="1400"/>
              <a:t>• Czy jest zbiór prawdziwych zapytań firmowych? Nie znalazłem w otwartych zbiorach. Najbliższy jest Dolly.
</a:t>
            </a:r>
          </a:p>
          <a:p>
            <a:r>
              <a:rPr lang="pl-PL" sz="1400"/>
              <a:t>• Dlaczego nie Bitext (obsługa klienta)? Jest syntetyczny i szablonowy, pewnie prawie same pytania łatwe i bardzo podobne.
</a:t>
            </a:r>
          </a:p>
          <a:p>
            <a:r>
              <a:rPr lang="pl-PL" sz="1400"/>
              <a:t>• Dlaczego nie LMSYS-Chat-1M? Wymaga zgody na dostęp. Odrzuciłem go wcześniej.
</a:t>
            </a:r>
          </a:p>
          <a:p>
            <a:r>
              <a:rPr lang="pl-PL" sz="1400"/>
              <a:t>• Dlaczego nie RouterBench? Na jego karcie nie ma licencji, a pytania pochodzą ze znanych testów, więc nie dodaje nowych rodzajów.
</a:t>
            </a:r>
          </a:p>
          <a:p>
            <a:r>
              <a:rPr lang="pl-PL" sz="1400"/>
              <a:t>• Licencje: interpretacji prawnej nie robiłem, karty podają same licencje. Oficjalnej strony Spider poza kartą nie sprawdzałem.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sz="1400" b="1"/>
              <a:t>PLAN
</a:t>
            </a:r>
          </a:p>
          <a:p>
            <a:r>
              <a:rPr lang="pl-PL" sz="1400"/>
              <a:t>• 1. Dokończyć test z modelami Qwen 8B i 27B na komputerze służbowym: awaria i restart usługi, a opóźnienie zmierzyć dokładniej, na większej liczbie pomiarów.
</a:t>
            </a:r>
          </a:p>
          <a:p>
            <a:r>
              <a:rPr lang="pl-PL" sz="1400"/>
              <a:t>• 2. Sprawdzić warstwę 3 (test go/no-go): czy mały model oceniający pytanie poprawia router, i to tylko w strefie niepewności, czyli tam, gdzie warstwa 2 nie jest pewna. Granice strefy dobiorę tak, by jakość nie spadła poniżej ustalonego poziomu (jeszcze do ustalenia).
</a:t>
            </a:r>
          </a:p>
          <a:p>
            <a:r>
              <a:rPr lang="pl-PL" sz="1400"/>
              <a:t>• 3. Dodać dane bliższe wdrożeniu z poprzedniego slajdu (polecenia biurowe, kod, SQL). Wymaga to ponownego pomiaru, ale pozwoli też sprawdzić, czy heurystyki działają lepiej na takich danych.
</a:t>
            </a:r>
          </a:p>
          <a:p>
            <a:r>
              <a:rPr lang="pl-PL" sz="1400"/>
              <a:t>• 4. Otworzyć zbiór testowy raz i zrobić ocenę końcową.
</a:t>
            </a:r>
          </a:p>
          <a:p>
            <a:endParaRPr lang="pl-PL" sz="1400"/>
          </a:p>
          <a:p>
            <a:r>
              <a:rPr lang="pl-PL" sz="1400" b="1"/>
              <a:t>PROŚBA
</a:t>
            </a:r>
          </a:p>
          <a:p>
            <a:r>
              <a:rPr lang="pl-PL" sz="1400"/>
              <a:t>• Proszę o zatwierdzenie celów liczbowych przed otwarciem testu. Po otwarciu ich nie zmieniam, a wyniki podam niezależnie od tego, czy cele są spełnione. To zabezpiecza przed dopasowaniem wymagań do wyniku.
</a:t>
            </a:r>
          </a:p>
          <a:p>
            <a:endParaRPr lang="pl-PL" sz="1400"/>
          </a:p>
          <a:p>
            <a:r>
              <a:rPr lang="pl-PL" sz="1400" b="1"/>
              <a:t>PROPOZYCJA CELÓW
</a:t>
            </a:r>
          </a:p>
          <a:p>
            <a:r>
              <a:rPr lang="pl-PL" sz="1400"/>
              <a:t>• Router lepszy od „samego źródła” w sposób istotny statystycznie.
</a:t>
            </a:r>
          </a:p>
          <a:p>
            <a:r>
              <a:rPr lang="pl-PL" sz="1400"/>
              <a:t>• AUROC co najmniej 0,64 (w badaniach 0,68).
</a:t>
            </a:r>
          </a:p>
          <a:p>
            <a:r>
              <a:rPr lang="pl-PL" sz="1400"/>
              <a:t>• Żeby odzyskać 80% możliwego zysku jakości, wysyłam do dużego nie więcej niż 72% pytań (losowo byłoby 80%).
</a:t>
            </a:r>
          </a:p>
          <a:p>
            <a:r>
              <a:rPr lang="pl-PL" sz="1400"/>
              <a:t>• Po literówkach i parafrazach decyzja zmienia się w najwyżej 15% pytań.
</a:t>
            </a:r>
          </a:p>
          <a:p>
            <a:r>
              <a:rPr lang="pl-PL" sz="1400"/>
              <a:t>• Mediana czasu decyzji poniżej 50 ms.
</a:t>
            </a:r>
          </a:p>
          <a:p>
            <a:r>
              <a:rPr lang="pl-PL" sz="1400"/>
              <a:t>• Pytania spoza dziedziny (MMLU, MT-Bench) tylko raportuję, bez progu.
</a:t>
            </a:r>
          </a:p>
          <a:p>
            <a:endParaRPr lang="pl-PL" sz="1400"/>
          </a:p>
          <a:p>
            <a:r>
              <a:rPr lang="pl-PL" sz="1400" b="1"/>
              <a:t>PODSUMOWANIE
</a:t>
            </a:r>
          </a:p>
          <a:p>
            <a:r>
              <a:rPr lang="pl-PL" sz="1400"/>
              <a:t>• Etykiety mierzę z prawdziwych odpowiedzi modeli.
</a:t>
            </a:r>
          </a:p>
          <a:p>
            <a:r>
              <a:rPr lang="pl-PL" sz="1400"/>
              <a:t>• Router oparty na podobieństwie pytań daje realny, ale umiarkowany zysk, jest szybki i stabilny.
</a:t>
            </a:r>
          </a:p>
          <a:p>
            <a:r>
              <a:rPr lang="pl-PL" sz="1400"/>
              <a:t>• Nie przewidzi tylko tego, czy mały model zna konkretny fakt.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1B1F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017520"/>
            <a:ext cx="786384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C7CEDB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1B1F2A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640080" y="137160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Routing zapytań według złożoności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640080" y="3017520"/>
            <a:ext cx="78638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7CEDB"/>
                </a:solidFill>
              </a:rPr>
              <a:t>Praca inżynierska · RouterService w DeepFellow Infra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C7CEDB"/>
                </a:solidFill>
              </a:rPr>
              <a:t>Philip Melkowski · postępy pracy, październik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Problem i cel</a:t>
            </a:r>
            <a:endParaRPr lang="en-US" sz="3200" dirty="0"/>
          </a:p>
        </p:txBody>
      </p:sp>
      <p:sp>
        <p:nvSpPr>
          <p:cNvPr id="3" name="Opis problemu"/>
          <p:cNvSpPr txBox="1"/>
          <p:nvPr/>
        </p:nvSpPr>
        <p:spPr>
          <a:xfrm>
            <a:off x="457200" y="1280160"/>
            <a:ext cx="39319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Nie każde zapytanie wymaga dużego modelu, a jego użycie kosztuje czas i zasoby.</a:t>
            </a:r>
            <a:endParaRPr lang="en-US" sz="16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600" dirty="0">
                <a:solidFill>
                  <a:schemeClr val="tx1"/>
                </a:solidFill>
              </a:rPr>
              <a:t>Cel: wybierać model przed odpowiedzią i oszczędzić wywołania dużego modelu przy małej utracie jakości.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Realizacja: usługa w DeepFellow Infra, dostępna jako model=router w /v1/chat/completions.</a:t>
            </a:r>
            <a:endParaRPr lang="en-US" sz="1600" dirty="0"/>
          </a:p>
        </p:txBody>
      </p:sp>
      <p:sp>
        <p:nvSpPr>
          <p:cNvPr id="4" name="Zapytanie"/>
          <p:cNvSpPr/>
          <p:nvPr/>
        </p:nvSpPr>
        <p:spPr>
          <a:xfrm>
            <a:off x="4754880" y="2148840"/>
            <a:ext cx="1234440" cy="73152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5" name="Zapytanie tekst"/>
          <p:cNvSpPr txBox="1"/>
          <p:nvPr/>
        </p:nvSpPr>
        <p:spPr>
          <a:xfrm>
            <a:off x="4754880" y="2148840"/>
            <a:ext cx="1234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Zapytanie</a:t>
            </a:r>
            <a:endParaRPr lang="en-US" sz="1400" dirty="0"/>
          </a:p>
        </p:txBody>
      </p:sp>
      <p:sp>
        <p:nvSpPr>
          <p:cNvPr id="6" name="Strzałka 1"/>
          <p:cNvSpPr/>
          <p:nvPr/>
        </p:nvSpPr>
        <p:spPr>
          <a:xfrm>
            <a:off x="5989320" y="2514600"/>
            <a:ext cx="41148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7" name="Router"/>
          <p:cNvSpPr/>
          <p:nvPr/>
        </p:nvSpPr>
        <p:spPr>
          <a:xfrm>
            <a:off x="6400800" y="2148840"/>
            <a:ext cx="1097280" cy="731520"/>
          </a:xfrm>
          <a:prstGeom prst="roundRect">
            <a:avLst>
              <a:gd name="adj" fmla="val 10000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8" name="Router tekst"/>
          <p:cNvSpPr txBox="1"/>
          <p:nvPr/>
        </p:nvSpPr>
        <p:spPr>
          <a:xfrm>
            <a:off x="6400800" y="2148840"/>
            <a:ext cx="1097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Router</a:t>
            </a:r>
            <a:endParaRPr lang="en-US" sz="1400" dirty="0"/>
          </a:p>
        </p:txBody>
      </p:sp>
      <p:sp>
        <p:nvSpPr>
          <p:cNvPr id="9" name="Strzałka mały"/>
          <p:cNvSpPr/>
          <p:nvPr/>
        </p:nvSpPr>
        <p:spPr>
          <a:xfrm flipV="1">
            <a:off x="7498080" y="1737360"/>
            <a:ext cx="320040" cy="594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0" name="Strzałka duży"/>
          <p:cNvSpPr/>
          <p:nvPr/>
        </p:nvSpPr>
        <p:spPr>
          <a:xfrm>
            <a:off x="7498080" y="2697480"/>
            <a:ext cx="320040" cy="59436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1" name="Mały model"/>
          <p:cNvSpPr/>
          <p:nvPr/>
        </p:nvSpPr>
        <p:spPr>
          <a:xfrm>
            <a:off x="7818120" y="1325880"/>
            <a:ext cx="914400" cy="822960"/>
          </a:xfrm>
          <a:prstGeom prst="roundRect">
            <a:avLst>
              <a:gd name="adj" fmla="val 8889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Mały model tekst"/>
          <p:cNvSpPr txBox="1"/>
          <p:nvPr/>
        </p:nvSpPr>
        <p:spPr>
          <a:xfrm>
            <a:off x="7818120" y="13258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Mały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qwen3:8b</a:t>
            </a:r>
            <a:endParaRPr lang="en-US" sz="1200" dirty="0"/>
          </a:p>
        </p:txBody>
      </p:sp>
      <p:sp>
        <p:nvSpPr>
          <p:cNvPr id="13" name="Duży model"/>
          <p:cNvSpPr/>
          <p:nvPr/>
        </p:nvSpPr>
        <p:spPr>
          <a:xfrm>
            <a:off x="7818120" y="2880360"/>
            <a:ext cx="914400" cy="822960"/>
          </a:xfrm>
          <a:prstGeom prst="roundRect">
            <a:avLst>
              <a:gd name="adj" fmla="val 8889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Duży model tekst"/>
          <p:cNvSpPr txBox="1"/>
          <p:nvPr/>
        </p:nvSpPr>
        <p:spPr>
          <a:xfrm>
            <a:off x="7818120" y="28803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Duży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Qwen 27B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Jak było na początku</a:t>
            </a:r>
            <a:endParaRPr lang="en-US" sz="3200" dirty="0"/>
          </a:p>
        </p:txBody>
      </p:sp>
      <p:sp>
        <p:nvSpPr>
          <p:cNvPr id="3" name="Numer 1"/>
          <p:cNvSpPr/>
          <p:nvPr/>
        </p:nvSpPr>
        <p:spPr>
          <a:xfrm>
            <a:off x="457200" y="128016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Numer tekst 1"/>
          <p:cNvSpPr txBox="1"/>
          <p:nvPr/>
        </p:nvSpPr>
        <p:spPr>
          <a:xfrm>
            <a:off x="457200" y="12801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Wiersz tytuł 1"/>
          <p:cNvSpPr txBox="1"/>
          <p:nvPr/>
        </p:nvSpPr>
        <p:spPr>
          <a:xfrm>
            <a:off x="1234440" y="123444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Etykiety z cudzych danych</a:t>
            </a:r>
            <a:endParaRPr lang="en-US" sz="1800" dirty="0"/>
          </a:p>
        </p:txBody>
      </p:sp>
      <p:sp>
        <p:nvSpPr>
          <p:cNvPr id="6" name="Wiersz opis 1"/>
          <p:cNvSpPr txBox="1"/>
          <p:nvPr/>
        </p:nvSpPr>
        <p:spPr>
          <a:xfrm>
            <a:off x="1234440" y="155448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głosowania Chatbot Arena oraz pytania wygenerowane przez Gemini</a:t>
            </a:r>
            <a:endParaRPr lang="en-US" sz="1400" dirty="0"/>
          </a:p>
        </p:txBody>
      </p:sp>
      <p:sp>
        <p:nvSpPr>
          <p:cNvPr id="7" name="Numer 2"/>
          <p:cNvSpPr/>
          <p:nvPr/>
        </p:nvSpPr>
        <p:spPr>
          <a:xfrm>
            <a:off x="457200" y="214884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8" name="Numer tekst 2"/>
          <p:cNvSpPr txBox="1"/>
          <p:nvPr/>
        </p:nvSpPr>
        <p:spPr>
          <a:xfrm>
            <a:off x="457200" y="21488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Wiersz tytuł 2"/>
          <p:cNvSpPr txBox="1"/>
          <p:nvPr/>
        </p:nvSpPr>
        <p:spPr>
          <a:xfrm>
            <a:off x="1234440" y="210312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Trzy warstwy (zostają)</a:t>
            </a:r>
            <a:endParaRPr lang="en-US" sz="1800" dirty="0"/>
          </a:p>
        </p:txBody>
      </p:sp>
      <p:sp>
        <p:nvSpPr>
          <p:cNvPr id="10" name="Wiersz opis 2"/>
          <p:cNvSpPr txBox="1"/>
          <p:nvPr/>
        </p:nvSpPr>
        <p:spPr>
          <a:xfrm>
            <a:off x="1234440" y="242316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heurystyki, podobne pytania, mały model; opis dalej</a:t>
            </a:r>
            <a:endParaRPr lang="en-US" sz="1400" dirty="0"/>
          </a:p>
        </p:txBody>
      </p:sp>
      <p:sp>
        <p:nvSpPr>
          <p:cNvPr id="11" name="Numer 3"/>
          <p:cNvSpPr/>
          <p:nvPr/>
        </p:nvSpPr>
        <p:spPr>
          <a:xfrm>
            <a:off x="457200" y="301752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2" name="Numer tekst 3"/>
          <p:cNvSpPr txBox="1"/>
          <p:nvPr/>
        </p:nvSpPr>
        <p:spPr>
          <a:xfrm>
            <a:off x="457200" y="30175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Wiersz tytuł 3"/>
          <p:cNvSpPr txBox="1"/>
          <p:nvPr/>
        </p:nvSpPr>
        <p:spPr>
          <a:xfrm>
            <a:off x="1234440" y="297180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Rozbudowany system</a:t>
            </a:r>
            <a:endParaRPr lang="en-US" sz="1800" dirty="0"/>
          </a:p>
        </p:txBody>
      </p:sp>
      <p:sp>
        <p:nvSpPr>
          <p:cNvPr id="14" name="Wiersz opis 3"/>
          <p:cNvSpPr txBox="1"/>
          <p:nvPr/>
        </p:nvSpPr>
        <p:spPr>
          <a:xfrm>
            <a:off x="1234440" y="329184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konfiguracja w YAML, kategorie tematyczne, Map-Reduce w rdzeniu</a:t>
            </a:r>
            <a:endParaRPr lang="en-US" sz="1400" dirty="0"/>
          </a:p>
        </p:txBody>
      </p:sp>
      <p:sp>
        <p:nvSpPr>
          <p:cNvPr id="15" name="Numer 4"/>
          <p:cNvSpPr/>
          <p:nvPr/>
        </p:nvSpPr>
        <p:spPr>
          <a:xfrm>
            <a:off x="457200" y="3886200"/>
            <a:ext cx="548640" cy="54864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6" name="Numer tekst 4"/>
          <p:cNvSpPr txBox="1"/>
          <p:nvPr/>
        </p:nvSpPr>
        <p:spPr>
          <a:xfrm>
            <a:off x="457200" y="3886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Wiersz tytuł 4"/>
          <p:cNvSpPr txBox="1"/>
          <p:nvPr/>
        </p:nvSpPr>
        <p:spPr>
          <a:xfrm>
            <a:off x="1234440" y="3840480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Inne metryki</a:t>
            </a:r>
            <a:endParaRPr lang="en-US" sz="1800" dirty="0"/>
          </a:p>
        </p:txBody>
      </p:sp>
      <p:sp>
        <p:nvSpPr>
          <p:cNvPr id="18" name="Wiersz opis 4"/>
          <p:cNvSpPr txBox="1"/>
          <p:nvPr/>
        </p:nvSpPr>
        <p:spPr>
          <a:xfrm>
            <a:off x="1234440" y="41605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m.in. ROUGE do porównania odpowiedzi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Dlaczego zmieniłem podejście</a:t>
            </a:r>
            <a:endParaRPr lang="en-US" sz="3200" dirty="0"/>
          </a:p>
        </p:txBody>
      </p:sp>
      <p:sp>
        <p:nvSpPr>
          <p:cNvPr id="3" name="Karta statystyki"/>
          <p:cNvSpPr/>
          <p:nvPr/>
        </p:nvSpPr>
        <p:spPr>
          <a:xfrm>
            <a:off x="457200" y="1280160"/>
            <a:ext cx="3840480" cy="310896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Liczba 0,55"/>
          <p:cNvSpPr txBox="1"/>
          <p:nvPr/>
        </p:nvSpPr>
        <p:spPr>
          <a:xfrm>
            <a:off x="640080" y="155448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chemeClr val="accent1"/>
                </a:solidFill>
              </a:rPr>
              <a:t>0,55</a:t>
            </a:r>
            <a:endParaRPr lang="en-US" sz="7200" dirty="0"/>
          </a:p>
        </p:txBody>
      </p:sp>
      <p:sp>
        <p:nvSpPr>
          <p:cNvPr id="5" name="Opis 0,55"/>
          <p:cNvSpPr txBox="1"/>
          <p:nvPr/>
        </p:nvSpPr>
        <p:spPr>
          <a:xfrm>
            <a:off x="640080" y="2788920"/>
            <a:ext cx="347472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400" dirty="0">
                <a:solidFill>
                  <a:schemeClr val="tx2"/>
                </a:solidFill>
              </a:rPr>
              <a:t>Czy pytania trudne wg Areny są trudne też dla naszych modeli? Prawie nie.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AUROC 0,55 znaczy: w 55 z 100 losowych par (trudne i łatwe wg Areny) trudne ma też większą przewagę dużego modelu. Rzut monetą to 50.</a:t>
            </a:r>
            <a:endParaRPr lang="en-US" sz="1400" dirty="0"/>
          </a:p>
        </p:txBody>
      </p:sp>
      <p:sp>
        <p:nvSpPr>
          <p:cNvPr id="6" name="Wnioski"/>
          <p:cNvSpPr txBox="1"/>
          <p:nvPr/>
        </p:nvSpPr>
        <p:spPr>
          <a:xfrm>
            <a:off x="4663440" y="1371600"/>
            <a:ext cx="40233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Arena porównuje inne modele z innej epoki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Etykietę trzeba zmierzyć dla konkretnej pary modeli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</a:rPr>
              <a:t>Nowe podejście: mierzę trudność sam, z prawdziwych odpowiedzi obu modeli (Δ = przewaga dużego, następny slajd)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Jak mierzę trudność</a:t>
            </a:r>
            <a:endParaRPr lang="en-US" sz="3200" dirty="0"/>
          </a:p>
        </p:txBody>
      </p:sp>
      <p:sp>
        <p:nvSpPr>
          <p:cNvPr id="3" name="Krok 1"/>
          <p:cNvSpPr/>
          <p:nvPr/>
        </p:nvSpPr>
        <p:spPr>
          <a:xfrm>
            <a:off x="457200" y="1280160"/>
            <a:ext cx="1828800" cy="1554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Krok tytuł 1"/>
          <p:cNvSpPr txBox="1"/>
          <p:nvPr/>
        </p:nvSpPr>
        <p:spPr>
          <a:xfrm>
            <a:off x="59436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Pytanie</a:t>
            </a:r>
            <a:endParaRPr lang="en-US" sz="1800" dirty="0"/>
          </a:p>
        </p:txBody>
      </p:sp>
      <p:sp>
        <p:nvSpPr>
          <p:cNvPr id="5" name="Krok opis 1"/>
          <p:cNvSpPr txBox="1"/>
          <p:nvPr/>
        </p:nvSpPr>
        <p:spPr>
          <a:xfrm>
            <a:off x="594360" y="178308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4313 pytań z 8 źródeł</a:t>
            </a:r>
            <a:endParaRPr lang="en-US" sz="1400" dirty="0"/>
          </a:p>
        </p:txBody>
      </p:sp>
      <p:sp>
        <p:nvSpPr>
          <p:cNvPr id="6" name="Strzałka 1"/>
          <p:cNvSpPr/>
          <p:nvPr/>
        </p:nvSpPr>
        <p:spPr>
          <a:xfrm>
            <a:off x="2286000" y="2057400"/>
            <a:ext cx="3200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7" name="Krok 2"/>
          <p:cNvSpPr/>
          <p:nvPr/>
        </p:nvSpPr>
        <p:spPr>
          <a:xfrm>
            <a:off x="2606040" y="1280160"/>
            <a:ext cx="1828800" cy="1554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Krok tytuł 2"/>
          <p:cNvSpPr txBox="1"/>
          <p:nvPr/>
        </p:nvSpPr>
        <p:spPr>
          <a:xfrm>
            <a:off x="274320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Odpowiedzi</a:t>
            </a:r>
            <a:endParaRPr lang="en-US" sz="1800" dirty="0"/>
          </a:p>
        </p:txBody>
      </p:sp>
      <p:sp>
        <p:nvSpPr>
          <p:cNvPr id="9" name="Krok opis 2"/>
          <p:cNvSpPr txBox="1"/>
          <p:nvPr/>
        </p:nvSpPr>
        <p:spPr>
          <a:xfrm>
            <a:off x="2743200" y="178308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mały 3 razy, duży 1 raz</a:t>
            </a:r>
            <a:endParaRPr lang="en-US" sz="1400" dirty="0"/>
          </a:p>
        </p:txBody>
      </p:sp>
      <p:sp>
        <p:nvSpPr>
          <p:cNvPr id="10" name="Strzałka 2"/>
          <p:cNvSpPr/>
          <p:nvPr/>
        </p:nvSpPr>
        <p:spPr>
          <a:xfrm>
            <a:off x="4434840" y="2057400"/>
            <a:ext cx="3200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1" name="Krok 3"/>
          <p:cNvSpPr/>
          <p:nvPr/>
        </p:nvSpPr>
        <p:spPr>
          <a:xfrm>
            <a:off x="4754880" y="1280160"/>
            <a:ext cx="1828800" cy="1554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Krok tytuł 3"/>
          <p:cNvSpPr txBox="1"/>
          <p:nvPr/>
        </p:nvSpPr>
        <p:spPr>
          <a:xfrm>
            <a:off x="489204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Ocena</a:t>
            </a:r>
            <a:endParaRPr lang="en-US" sz="1800" dirty="0"/>
          </a:p>
        </p:txBody>
      </p:sp>
      <p:sp>
        <p:nvSpPr>
          <p:cNvPr id="13" name="Krok opis 3"/>
          <p:cNvSpPr txBox="1"/>
          <p:nvPr/>
        </p:nvSpPr>
        <p:spPr>
          <a:xfrm>
            <a:off x="4892040" y="178308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automat albo sędzia Gemini (skala 1–5)</a:t>
            </a:r>
            <a:endParaRPr lang="en-US" sz="1400" dirty="0"/>
          </a:p>
        </p:txBody>
      </p:sp>
      <p:sp>
        <p:nvSpPr>
          <p:cNvPr id="14" name="Strzałka 3"/>
          <p:cNvSpPr/>
          <p:nvPr/>
        </p:nvSpPr>
        <p:spPr>
          <a:xfrm>
            <a:off x="6583680" y="2057400"/>
            <a:ext cx="320040" cy="0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  <a:tailEnd type="triangle"/>
          </a:ln>
        </p:spPr>
      </p:sp>
      <p:sp>
        <p:nvSpPr>
          <p:cNvPr id="15" name="Krok 4"/>
          <p:cNvSpPr/>
          <p:nvPr/>
        </p:nvSpPr>
        <p:spPr>
          <a:xfrm>
            <a:off x="6903720" y="1280160"/>
            <a:ext cx="1828800" cy="15544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Krok tytuł 4"/>
          <p:cNvSpPr txBox="1"/>
          <p:nvPr/>
        </p:nvSpPr>
        <p:spPr>
          <a:xfrm>
            <a:off x="7040880" y="137160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Różnica Δ</a:t>
            </a:r>
            <a:endParaRPr lang="en-US" sz="1800" dirty="0"/>
          </a:p>
        </p:txBody>
      </p:sp>
      <p:sp>
        <p:nvSpPr>
          <p:cNvPr id="17" name="Krok opis 4"/>
          <p:cNvSpPr txBox="1"/>
          <p:nvPr/>
        </p:nvSpPr>
        <p:spPr>
          <a:xfrm>
            <a:off x="7040880" y="1783080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ocena dużego − średnia małego</a:t>
            </a:r>
            <a:endParaRPr lang="en-US" sz="1400" dirty="0"/>
          </a:p>
        </p:txBody>
      </p:sp>
      <p:sp>
        <p:nvSpPr>
          <p:cNvPr id="18" name="Przykład"/>
          <p:cNvSpPr/>
          <p:nvPr/>
        </p:nvSpPr>
        <p:spPr>
          <a:xfrm>
            <a:off x="457200" y="3108960"/>
            <a:ext cx="8229600" cy="13258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Przykład tekst"/>
          <p:cNvSpPr txBox="1"/>
          <p:nvPr/>
        </p:nvSpPr>
        <p:spPr>
          <a:xfrm>
            <a:off x="640080" y="3200400"/>
            <a:ext cx="78638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chemeClr val="tx1"/>
                </a:solidFill>
              </a:rPr>
              <a:t>COMPLEX gdy Δ &gt; 0,25, czyli duży lepszy o więcej niż 1 punkt w skali 1–5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Przykład: duży dostał 5 (1,00), mały 3, 3, 4 (średnio 0,58), więc Δ = 0,42 i pytanie jest COMPLEX. Gdy oba modele zawiodły, pytanie zostaje SIMPLE.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Dane i wynik pomiaru</a:t>
            </a:r>
            <a:endParaRPr lang="en-US" sz="3200" dirty="0"/>
          </a:p>
        </p:txBody>
      </p:sp>
      <p:pic>
        <p:nvPicPr>
          <p:cNvPr id="3" name="Wykres complex_zrodlo" descr="Wykres słupkowy: udział pytań COMPLEX wg źródł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4937760" cy="3383280"/>
          </a:xfrm>
          <a:prstGeom prst="rect">
            <a:avLst/>
          </a:prstGeom>
        </p:spPr>
      </p:pic>
      <p:sp>
        <p:nvSpPr>
          <p:cNvPr id="4" name="Statystyka pytania karta"/>
          <p:cNvSpPr/>
          <p:nvPr/>
        </p:nvSpPr>
        <p:spPr>
          <a:xfrm>
            <a:off x="5577840" y="1097280"/>
            <a:ext cx="3108960" cy="1097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Statystyka pytania liczba"/>
          <p:cNvSpPr txBox="1"/>
          <p:nvPr/>
        </p:nvSpPr>
        <p:spPr>
          <a:xfrm>
            <a:off x="5760720" y="117043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4313</a:t>
            </a:r>
            <a:endParaRPr lang="en-US" sz="3600" dirty="0"/>
          </a:p>
        </p:txBody>
      </p:sp>
      <p:sp>
        <p:nvSpPr>
          <p:cNvPr id="6" name="Statystyka pytania opis"/>
          <p:cNvSpPr txBox="1"/>
          <p:nvPr/>
        </p:nvSpPr>
        <p:spPr>
          <a:xfrm>
            <a:off x="576072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pytań z ośmiu źródeł</a:t>
            </a:r>
            <a:endParaRPr lang="en-US" sz="1400" dirty="0"/>
          </a:p>
        </p:txBody>
      </p:sp>
      <p:sp>
        <p:nvSpPr>
          <p:cNvPr id="7" name="Statystyka odpowiedzi karta"/>
          <p:cNvSpPr/>
          <p:nvPr/>
        </p:nvSpPr>
        <p:spPr>
          <a:xfrm>
            <a:off x="5577840" y="2377440"/>
            <a:ext cx="3108960" cy="1097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tatystyka odpowiedzi liczba"/>
          <p:cNvSpPr txBox="1"/>
          <p:nvPr/>
        </p:nvSpPr>
        <p:spPr>
          <a:xfrm>
            <a:off x="5760720" y="245059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tx1"/>
                </a:solidFill>
              </a:rPr>
              <a:t>17 252</a:t>
            </a:r>
            <a:endParaRPr lang="en-US" sz="3600" dirty="0"/>
          </a:p>
        </p:txBody>
      </p:sp>
      <p:sp>
        <p:nvSpPr>
          <p:cNvPr id="9" name="Statystyka odpowiedzi opis"/>
          <p:cNvSpPr txBox="1"/>
          <p:nvPr/>
        </p:nvSpPr>
        <p:spPr>
          <a:xfrm>
            <a:off x="5760720" y="3108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odpowiedzi obu modeli</a:t>
            </a:r>
            <a:endParaRPr lang="en-US" sz="1400" dirty="0"/>
          </a:p>
        </p:txBody>
      </p:sp>
      <p:sp>
        <p:nvSpPr>
          <p:cNvPr id="10" name="Statystyka COMPLEX karta"/>
          <p:cNvSpPr/>
          <p:nvPr/>
        </p:nvSpPr>
        <p:spPr>
          <a:xfrm>
            <a:off x="5577840" y="3657600"/>
            <a:ext cx="3108960" cy="10972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Statystyka COMPLEX liczba"/>
          <p:cNvSpPr txBox="1"/>
          <p:nvPr/>
        </p:nvSpPr>
        <p:spPr>
          <a:xfrm>
            <a:off x="5760720" y="3730752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35,4%</a:t>
            </a:r>
            <a:endParaRPr lang="en-US" sz="3600" dirty="0"/>
          </a:p>
        </p:txBody>
      </p:sp>
      <p:sp>
        <p:nvSpPr>
          <p:cNvPr id="12" name="Statystyka COMPLEX opis"/>
          <p:cNvSpPr txBox="1"/>
          <p:nvPr/>
        </p:nvSpPr>
        <p:spPr>
          <a:xfrm>
            <a:off x="5760720" y="4389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pytań to COMPLEX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Czy etykietom można ufać</a:t>
            </a:r>
            <a:endParaRPr lang="en-US" sz="3200" dirty="0"/>
          </a:p>
        </p:txBody>
      </p:sp>
      <p:sp>
        <p:nvSpPr>
          <p:cNvPr id="3" name="Stabilność sędziego karta"/>
          <p:cNvSpPr/>
          <p:nvPr/>
        </p:nvSpPr>
        <p:spPr>
          <a:xfrm>
            <a:off x="457200" y="1188720"/>
            <a:ext cx="3977640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abilność sędziego liczba"/>
          <p:cNvSpPr txBox="1"/>
          <p:nvPr/>
        </p:nvSpPr>
        <p:spPr>
          <a:xfrm>
            <a:off x="640080" y="126187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90%</a:t>
            </a:r>
            <a:endParaRPr lang="en-US" sz="4400" dirty="0"/>
          </a:p>
        </p:txBody>
      </p:sp>
      <p:sp>
        <p:nvSpPr>
          <p:cNvPr id="5" name="Stabilność sędziego opis"/>
          <p:cNvSpPr txBox="1"/>
          <p:nvPr/>
        </p:nvSpPr>
        <p:spPr>
          <a:xfrm>
            <a:off x="640080" y="196596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ta sama klasa po zmianie kolejności odpowiedzi dla sędziego</a:t>
            </a:r>
            <a:endParaRPr lang="en-US" sz="1400" dirty="0"/>
          </a:p>
        </p:txBody>
      </p:sp>
      <p:sp>
        <p:nvSpPr>
          <p:cNvPr id="6" name="Drugi sędzia karta"/>
          <p:cNvSpPr/>
          <p:nvPr/>
        </p:nvSpPr>
        <p:spPr>
          <a:xfrm>
            <a:off x="4709160" y="1188720"/>
            <a:ext cx="3977640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Drugi sędzia liczba"/>
          <p:cNvSpPr txBox="1"/>
          <p:nvPr/>
        </p:nvSpPr>
        <p:spPr>
          <a:xfrm>
            <a:off x="4892040" y="126187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79%</a:t>
            </a:r>
            <a:endParaRPr lang="en-US" sz="4400" dirty="0"/>
          </a:p>
        </p:txBody>
      </p:sp>
      <p:sp>
        <p:nvSpPr>
          <p:cNvPr id="8" name="Drugi sędzia opis"/>
          <p:cNvSpPr txBox="1"/>
          <p:nvPr/>
        </p:nvSpPr>
        <p:spPr>
          <a:xfrm>
            <a:off x="4892040" y="196596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zgodność klasy z drugim sędzią (Gemini Pro)</a:t>
            </a:r>
            <a:endParaRPr lang="en-US" sz="1400" dirty="0"/>
          </a:p>
        </p:txBody>
      </p:sp>
      <p:sp>
        <p:nvSpPr>
          <p:cNvPr id="9" name="Ocena człowieka karta"/>
          <p:cNvSpPr/>
          <p:nvPr/>
        </p:nvSpPr>
        <p:spPr>
          <a:xfrm>
            <a:off x="457200" y="2697480"/>
            <a:ext cx="3977640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Ocena człowieka liczba"/>
          <p:cNvSpPr txBox="1"/>
          <p:nvPr/>
        </p:nvSpPr>
        <p:spPr>
          <a:xfrm>
            <a:off x="640080" y="277063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0,59</a:t>
            </a:r>
            <a:endParaRPr lang="en-US" sz="4400" dirty="0"/>
          </a:p>
        </p:txBody>
      </p:sp>
      <p:sp>
        <p:nvSpPr>
          <p:cNvPr id="11" name="Ocena człowieka opis"/>
          <p:cNvSpPr txBox="1"/>
          <p:nvPr/>
        </p:nvSpPr>
        <p:spPr>
          <a:xfrm>
            <a:off x="640080" y="347472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korelacja sędziego z moją oceną 100 odpowiedzi</a:t>
            </a:r>
            <a:endParaRPr lang="en-US" sz="1400" dirty="0"/>
          </a:p>
        </p:txBody>
      </p:sp>
      <p:sp>
        <p:nvSpPr>
          <p:cNvPr id="12" name="Surowość sędziego karta"/>
          <p:cNvSpPr/>
          <p:nvPr/>
        </p:nvSpPr>
        <p:spPr>
          <a:xfrm>
            <a:off x="4709160" y="2697480"/>
            <a:ext cx="3977640" cy="14173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Surowość sędziego liczba"/>
          <p:cNvSpPr txBox="1"/>
          <p:nvPr/>
        </p:nvSpPr>
        <p:spPr>
          <a:xfrm>
            <a:off x="4892040" y="2770632"/>
            <a:ext cx="3611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−0,4</a:t>
            </a:r>
            <a:endParaRPr lang="en-US" sz="4400" dirty="0"/>
          </a:p>
        </p:txBody>
      </p:sp>
      <p:sp>
        <p:nvSpPr>
          <p:cNvPr id="14" name="Surowość sędziego opis"/>
          <p:cNvSpPr txBox="1"/>
          <p:nvPr/>
        </p:nvSpPr>
        <p:spPr>
          <a:xfrm>
            <a:off x="4892040" y="3474720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sędzia jest surowszy (średnia 3,00 wobec 3,40)</a:t>
            </a:r>
            <a:endParaRPr lang="en-US" sz="1400" dirty="0"/>
          </a:p>
        </p:txBody>
      </p:sp>
      <p:sp>
        <p:nvSpPr>
          <p:cNvPr id="15" name="Wniosek wiarygodność"/>
          <p:cNvSpPr txBox="1"/>
          <p:nvPr/>
        </p:nvSpPr>
        <p:spPr>
          <a:xfrm>
            <a:off x="457200" y="4297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Zgodność jest umiarkowana i tak ją opisuję w pracy.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Router: trzy warstwy</a:t>
            </a:r>
            <a:endParaRPr lang="en-US" sz="3200" dirty="0"/>
          </a:p>
        </p:txBody>
      </p:sp>
      <p:sp>
        <p:nvSpPr>
          <p:cNvPr id="3" name="Warstwa 1 nagłówek"/>
          <p:cNvSpPr/>
          <p:nvPr/>
        </p:nvSpPr>
        <p:spPr>
          <a:xfrm>
            <a:off x="457200" y="1234440"/>
            <a:ext cx="2651760" cy="502920"/>
          </a:xfrm>
          <a:prstGeom prst="rect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Warstwa 1 nagłówek tekst"/>
          <p:cNvSpPr txBox="1"/>
          <p:nvPr/>
        </p:nvSpPr>
        <p:spPr>
          <a:xfrm>
            <a:off x="457200" y="12344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Warstwa 1</a:t>
            </a:r>
            <a:endParaRPr lang="en-US" sz="1600" dirty="0"/>
          </a:p>
        </p:txBody>
      </p:sp>
      <p:sp>
        <p:nvSpPr>
          <p:cNvPr id="5" name="Warstwa 1 karta"/>
          <p:cNvSpPr/>
          <p:nvPr/>
        </p:nvSpPr>
        <p:spPr>
          <a:xfrm>
            <a:off x="457200" y="1737360"/>
            <a:ext cx="26517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Warstwa 1 tytuł"/>
          <p:cNvSpPr txBox="1"/>
          <p:nvPr/>
        </p:nvSpPr>
        <p:spPr>
          <a:xfrm>
            <a:off x="594360" y="1828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Heurystyki (opcjonalna)</a:t>
            </a:r>
            <a:endParaRPr lang="en-US" sz="1600" dirty="0"/>
          </a:p>
        </p:txBody>
      </p:sp>
      <p:sp>
        <p:nvSpPr>
          <p:cNvPr id="7" name="Warstwa 1 opis"/>
          <p:cNvSpPr txBox="1"/>
          <p:nvPr/>
        </p:nvSpPr>
        <p:spPr>
          <a:xfrm>
            <a:off x="594360" y="24688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Punkty za frazy z taksonomii Blooma (poziomy myślenia od zapamiętania do tworzenia) i cechy tekstu. Próg: duży model.</a:t>
            </a:r>
            <a:endParaRPr lang="en-US" sz="1400" dirty="0"/>
          </a:p>
        </p:txBody>
      </p:sp>
      <p:sp>
        <p:nvSpPr>
          <p:cNvPr id="8" name="Warstwa 2 nagłówek"/>
          <p:cNvSpPr/>
          <p:nvPr/>
        </p:nvSpPr>
        <p:spPr>
          <a:xfrm>
            <a:off x="3246120" y="1234440"/>
            <a:ext cx="2651760" cy="502920"/>
          </a:xfrm>
          <a:prstGeom prst="rect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Warstwa 2 nagłówek tekst"/>
          <p:cNvSpPr txBox="1"/>
          <p:nvPr/>
        </p:nvSpPr>
        <p:spPr>
          <a:xfrm>
            <a:off x="3246120" y="12344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Warstwa 2</a:t>
            </a:r>
            <a:endParaRPr lang="en-US" sz="1600" dirty="0"/>
          </a:p>
        </p:txBody>
      </p:sp>
      <p:sp>
        <p:nvSpPr>
          <p:cNvPr id="10" name="Warstwa 2 karta"/>
          <p:cNvSpPr/>
          <p:nvPr/>
        </p:nvSpPr>
        <p:spPr>
          <a:xfrm>
            <a:off x="3246120" y="1737360"/>
            <a:ext cx="26517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Warstwa 2 tytuł"/>
          <p:cNvSpPr txBox="1"/>
          <p:nvPr/>
        </p:nvSpPr>
        <p:spPr>
          <a:xfrm>
            <a:off x="3383280" y="1828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kNN na embeddingach</a:t>
            </a:r>
            <a:endParaRPr lang="en-US" sz="1600" dirty="0"/>
          </a:p>
        </p:txBody>
      </p:sp>
      <p:sp>
        <p:nvSpPr>
          <p:cNvPr id="12" name="Warstwa 2 opis"/>
          <p:cNvSpPr txBox="1"/>
          <p:nvPr/>
        </p:nvSpPr>
        <p:spPr>
          <a:xfrm>
            <a:off x="3383280" y="24688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20 najbardziej podobnych pytań, średnia ich etykiet. Rdzeń rozwiązania.</a:t>
            </a:r>
            <a:endParaRPr lang="en-US" sz="1400" dirty="0"/>
          </a:p>
        </p:txBody>
      </p:sp>
      <p:sp>
        <p:nvSpPr>
          <p:cNvPr id="13" name="Warstwa 3 nagłówek"/>
          <p:cNvSpPr/>
          <p:nvPr/>
        </p:nvSpPr>
        <p:spPr>
          <a:xfrm>
            <a:off x="6035040" y="1234440"/>
            <a:ext cx="2651760" cy="502920"/>
          </a:xfrm>
          <a:prstGeom prst="rect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4" name="Warstwa 3 nagłówek tekst"/>
          <p:cNvSpPr txBox="1"/>
          <p:nvPr/>
        </p:nvSpPr>
        <p:spPr>
          <a:xfrm>
            <a:off x="6035040" y="123444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Warstwa 3</a:t>
            </a:r>
            <a:endParaRPr lang="en-US" sz="1600" dirty="0"/>
          </a:p>
        </p:txBody>
      </p:sp>
      <p:sp>
        <p:nvSpPr>
          <p:cNvPr id="15" name="Warstwa 3 karta"/>
          <p:cNvSpPr/>
          <p:nvPr/>
        </p:nvSpPr>
        <p:spPr>
          <a:xfrm>
            <a:off x="6035040" y="1737360"/>
            <a:ext cx="2651760" cy="20116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Warstwa 3 tytuł"/>
          <p:cNvSpPr txBox="1"/>
          <p:nvPr/>
        </p:nvSpPr>
        <p:spPr>
          <a:xfrm>
            <a:off x="6172200" y="18288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Mały model ocenia pytanie</a:t>
            </a:r>
            <a:endParaRPr lang="en-US" sz="1600" dirty="0"/>
          </a:p>
        </p:txBody>
      </p:sp>
      <p:sp>
        <p:nvSpPr>
          <p:cNvPr id="17" name="Warstwa 3 opis"/>
          <p:cNvSpPr txBox="1"/>
          <p:nvPr/>
        </p:nvSpPr>
        <p:spPr>
          <a:xfrm>
            <a:off x="6172200" y="2468880"/>
            <a:ext cx="23774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Tylko w strefie niepewności warstwy 2, po teście go/no-go. Jeszcze nie w rdzeniu.</a:t>
            </a:r>
            <a:endParaRPr lang="en-US" sz="1400" dirty="0"/>
          </a:p>
        </p:txBody>
      </p:sp>
      <p:sp>
        <p:nvSpPr>
          <p:cNvPr id="18" name="Decyzja i awaria"/>
          <p:cNvSpPr/>
          <p:nvPr/>
        </p:nvSpPr>
        <p:spPr>
          <a:xfrm>
            <a:off x="457200" y="3931920"/>
            <a:ext cx="8229600" cy="64008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Decyzja tekst"/>
          <p:cNvSpPr txBox="1"/>
          <p:nvPr/>
        </p:nvSpPr>
        <p:spPr>
          <a:xfrm>
            <a:off x="640080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Wynik 0–1 porównywany z progiem administratora. Awaria klasyfikatora lub błąd małego modelu: duży model.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Dlaczego embeddingi i kNN</a:t>
            </a:r>
            <a:endParaRPr lang="en-US" sz="3200" dirty="0"/>
          </a:p>
        </p:txBody>
      </p:sp>
      <p:sp>
        <p:nvSpPr>
          <p:cNvPr id="3" name="Kolumna 1 karta"/>
          <p:cNvSpPr/>
          <p:nvPr/>
        </p:nvSpPr>
        <p:spPr>
          <a:xfrm>
            <a:off x="457200" y="1143000"/>
            <a:ext cx="4023360" cy="1920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Kolumna 1 tytuł"/>
          <p:cNvSpPr txBox="1"/>
          <p:nvPr/>
        </p:nvSpPr>
        <p:spPr>
          <a:xfrm>
            <a:off x="64008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</a:rPr>
              <a:t>Embedding: pytanie na liczby</a:t>
            </a:r>
            <a:endParaRPr lang="en-US" sz="1600" dirty="0"/>
          </a:p>
        </p:txBody>
      </p:sp>
      <p:sp>
        <p:nvSpPr>
          <p:cNvPr id="5" name="Kolumna 1 lista"/>
          <p:cNvSpPr txBox="1"/>
          <p:nvPr/>
        </p:nvSpPr>
        <p:spPr>
          <a:xfrm>
            <a:off x="640080" y="164592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Tekst zamieniam na 768 liczb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Podobne pytania mają bliskie wektory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Model lokalny, ok. 20 ms, dane zostają na serwerze</a:t>
            </a:r>
            <a:endParaRPr lang="en-US" sz="1400" dirty="0"/>
          </a:p>
        </p:txBody>
      </p:sp>
      <p:sp>
        <p:nvSpPr>
          <p:cNvPr id="6" name="Kolumna 2 karta"/>
          <p:cNvSpPr/>
          <p:nvPr/>
        </p:nvSpPr>
        <p:spPr>
          <a:xfrm>
            <a:off x="4663440" y="1143000"/>
            <a:ext cx="4023360" cy="19202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Kolumna 2 tytuł"/>
          <p:cNvSpPr txBox="1"/>
          <p:nvPr/>
        </p:nvSpPr>
        <p:spPr>
          <a:xfrm>
            <a:off x="4846320" y="12344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kNN: podobne pytania</a:t>
            </a:r>
            <a:endParaRPr lang="en-US" sz="1600" dirty="0"/>
          </a:p>
        </p:txBody>
      </p:sp>
      <p:sp>
        <p:nvSpPr>
          <p:cNvPr id="8" name="Kolumna 2 lista"/>
          <p:cNvSpPr txBox="1"/>
          <p:nvPr/>
        </p:nvSpPr>
        <p:spPr>
          <a:xfrm>
            <a:off x="4846320" y="164592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Wynik = odsetek COMPLEX wśród 20 najbliższych pytań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Bez uczenia (jak SW Ranking, RouteLLM)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Żadna inna metoda nie była istotnie lepsza</a:t>
            </a:r>
            <a:endParaRPr lang="en-US" sz="1400" dirty="0"/>
          </a:p>
        </p:txBody>
      </p:sp>
      <p:sp>
        <p:nvSpPr>
          <p:cNvPr id="9" name="Alternatywy karta"/>
          <p:cNvSpPr/>
          <p:nvPr/>
        </p:nvSpPr>
        <p:spPr>
          <a:xfrm>
            <a:off x="457200" y="3200400"/>
            <a:ext cx="8229600" cy="14630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Alternatywy tekst"/>
          <p:cNvSpPr txBox="1"/>
          <p:nvPr/>
        </p:nvSpPr>
        <p:spPr>
          <a:xfrm>
            <a:off x="640080" y="3273552"/>
            <a:ext cx="78638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Sprawdzone alternatywy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Embeddery: 4 sprawdzone (AUROC 0,679–0,709). Najlepszy, qwen3, jest 3× wolniejszy (52 ms wobec 17,6 ms), a jego przewaga niewielka.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Klasyfikatory: 9 konfiguracji (regresja logistyczna, SVM, sieć MLP, boosting i inne), AUROC 0,662–0,691, żadna istotnie lepsza od kNN.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Wyniki routera</a:t>
            </a:r>
            <a:endParaRPr lang="en-US" sz="3200" dirty="0"/>
          </a:p>
        </p:txBody>
      </p:sp>
      <p:pic>
        <p:nvPicPr>
          <p:cNvPr id="3" name="Wykres auroc" descr="Wykres słupkowy: AUROC losowego, sama długość, samo źródło i router kN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4754880" cy="3383280"/>
          </a:xfrm>
          <a:prstGeom prst="rect">
            <a:avLst/>
          </a:prstGeom>
        </p:spPr>
      </p:pic>
      <p:sp>
        <p:nvSpPr>
          <p:cNvPr id="4" name="Wnioski wyniki"/>
          <p:cNvSpPr txBox="1"/>
          <p:nvPr/>
        </p:nvSpPr>
        <p:spPr>
          <a:xfrm>
            <a:off x="5394960" y="128016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Wyraźnie lepszy od losowego i od długości pytania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Od samego źródła tylko skromnie: AUROC 0,682 wobec 0,631</a:t>
            </a:r>
            <a:endParaRPr lang="en-US" sz="1600" dirty="0"/>
          </a:p>
          <a:p>
            <a:pPr marL="342900" indent="-342900"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</a:rPr>
              <a:t>Heurystyki (warstwa 1) nie dodają nic do kNN, a wybór k i embeddera nie zmienia wyniku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Co to daje w praktyce</a:t>
            </a:r>
            <a:endParaRPr lang="en-US" sz="3200" dirty="0"/>
          </a:p>
        </p:txBody>
      </p:sp>
      <p:pic>
        <p:nvPicPr>
          <p:cNvPr id="3" name="Wykres jakosc_udzial" descr="Wykres liniowy: jakość a udział zapytań do dużego modelu, router i losowe wysyłani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4937760" cy="3429000"/>
          </a:xfrm>
          <a:prstGeom prst="rect">
            <a:avLst/>
          </a:prstGeom>
        </p:spPr>
      </p:pic>
      <p:sp>
        <p:nvSpPr>
          <p:cNvPr id="4" name="Próg 0,3"/>
          <p:cNvSpPr txBox="1"/>
          <p:nvPr/>
        </p:nvSpPr>
        <p:spPr>
          <a:xfrm>
            <a:off x="5486400" y="1143000"/>
            <a:ext cx="3200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chemeClr val="tx1"/>
                </a:solidFill>
              </a:rPr>
              <a:t>To obraz APGR: pomarańczowa nad szarą (0,605 wobec 0,5).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Próg 0,3: 54% do dużego, jakość 0,777.</a:t>
            </a:r>
            <a:endParaRPr lang="en-US" sz="1400" dirty="0"/>
          </a:p>
        </p:txBody>
      </p:sp>
      <p:sp>
        <p:nvSpPr>
          <p:cNvPr id="5" name="Tabela ryzyka karta"/>
          <p:cNvSpPr/>
          <p:nvPr/>
        </p:nvSpPr>
        <p:spPr>
          <a:xfrm>
            <a:off x="5486400" y="2331720"/>
            <a:ext cx="3200400" cy="233172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abela ryzyka tytuł"/>
          <p:cNvSpPr txBox="1"/>
          <p:nvPr/>
        </p:nvSpPr>
        <p:spPr>
          <a:xfrm>
            <a:off x="5623560" y="239572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Ryzyko: poważne błędy</a:t>
            </a:r>
            <a:endParaRPr lang="en-US" sz="1400" dirty="0"/>
          </a:p>
        </p:txBody>
      </p:sp>
      <p:graphicFrame>
        <p:nvGraphicFramePr>
          <p:cNvPr id="12" name="Tabela ryzyk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23560" y="2743200"/>
          <a:ext cx="292608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645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Błędów do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A"/>
                          </a:solidFill>
                        </a:rPr>
                        <a:t>Do małego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10%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22% pytań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12%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47% pytań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15%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90% pytań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8% i mniej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A"/>
                          </a:solidFill>
                        </a:rPr>
                        <a:t>brak progu</a:t>
                      </a:r>
                      <a:endParaRPr lang="en-US" sz="14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Gdzie router się myli</a:t>
            </a:r>
            <a:endParaRPr lang="en-US" sz="3200" dirty="0"/>
          </a:p>
        </p:txBody>
      </p:sp>
      <p:pic>
        <p:nvPicPr>
          <p:cNvPr id="3" name="Wykres bledy_krytyczne" descr="Wykres słupkowy: odsetek pytań krytycznych wysłanych do małego modelu wg źródł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143000"/>
            <a:ext cx="4937760" cy="3383280"/>
          </a:xfrm>
          <a:prstGeom prst="rect">
            <a:avLst/>
          </a:prstGeom>
        </p:spPr>
      </p:pic>
      <p:sp>
        <p:nvSpPr>
          <p:cNvPr id="4" name="Wyjaśnienie błędów"/>
          <p:cNvSpPr txBox="1"/>
          <p:nvPr/>
        </p:nvSpPr>
        <p:spPr>
          <a:xfrm>
            <a:off x="5486400" y="1280160"/>
            <a:ext cx="32004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10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Router widzi tylko tekst pytania, nie wie, co zna mały model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Dwa pytania o fakty wyglądają podobnie, a mały model zna jedną odpowiedź i nie zna drugiej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Podobnie z kodem: opisy funkcji są do siebie podobne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Próbki małe: 42 pytania TriviaQA, 19 HumanEval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Test na prawdziwych modelach</a:t>
            </a:r>
            <a:endParaRPr lang="en-US" sz="3200" dirty="0"/>
          </a:p>
        </p:txBody>
      </p:sp>
      <p:graphicFrame>
        <p:nvGraphicFramePr>
          <p:cNvPr id="14" name="Tabela testó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097280"/>
                <a:gridCol w="914400"/>
                <a:gridCol w="1280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Zapytanie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Warstwa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Model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Wynik kNN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Stolica Francji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kNN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mały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0,19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Opowiadanie: smok i rycerz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kNN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duży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0,70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Analizuj, porównaj, oceń kompromisy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heurystyki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duży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brak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Mnożenie 17·23 (strumień)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kNN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mały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0,10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Co zostało"/>
          <p:cNvSpPr txBox="1"/>
          <p:nvPr/>
        </p:nvSpPr>
        <p:spPr>
          <a:xfrm>
            <a:off x="457200" y="3840480"/>
            <a:ext cx="5577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Zostały do sprawdzenia: przełączenie na duży model przy awarii routera i restart usługi.</a:t>
            </a:r>
            <a:endParaRPr lang="en-US" sz="1400" dirty="0"/>
          </a:p>
        </p:txBody>
      </p:sp>
      <p:sp>
        <p:nvSpPr>
          <p:cNvPr id="5" name="Narzut routera karta"/>
          <p:cNvSpPr/>
          <p:nvPr/>
        </p:nvSpPr>
        <p:spPr>
          <a:xfrm>
            <a:off x="6309360" y="1188720"/>
            <a:ext cx="2377440" cy="160020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Narzut routera liczba"/>
          <p:cNvSpPr txBox="1"/>
          <p:nvPr/>
        </p:nvSpPr>
        <p:spPr>
          <a:xfrm>
            <a:off x="6492240" y="126187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~13 ms</a:t>
            </a:r>
            <a:endParaRPr lang="en-US" sz="4400" dirty="0"/>
          </a:p>
        </p:txBody>
      </p:sp>
      <p:sp>
        <p:nvSpPr>
          <p:cNvPr id="7" name="Narzut routera opis"/>
          <p:cNvSpPr txBox="1"/>
          <p:nvPr/>
        </p:nvSpPr>
        <p:spPr>
          <a:xfrm>
            <a:off x="6492240" y="1965960"/>
            <a:ext cx="2011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narzut routera (średnio 0,376 s wobec 0,363 s bez niego)</a:t>
            </a:r>
            <a:endParaRPr lang="en-US" sz="1400" dirty="0"/>
          </a:p>
        </p:txBody>
      </p:sp>
      <p:sp>
        <p:nvSpPr>
          <p:cNvPr id="8" name="Cel opóźnienia karta"/>
          <p:cNvSpPr/>
          <p:nvPr/>
        </p:nvSpPr>
        <p:spPr>
          <a:xfrm>
            <a:off x="6309360" y="2926080"/>
            <a:ext cx="2377440" cy="14630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Cel opóźnienia liczba"/>
          <p:cNvSpPr txBox="1"/>
          <p:nvPr/>
        </p:nvSpPr>
        <p:spPr>
          <a:xfrm>
            <a:off x="649224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tx1"/>
                </a:solidFill>
              </a:rPr>
              <a:t>&lt;50 ms</a:t>
            </a:r>
            <a:endParaRPr lang="en-US" sz="4400" dirty="0"/>
          </a:p>
        </p:txBody>
      </p:sp>
      <p:sp>
        <p:nvSpPr>
          <p:cNvPr id="10" name="Cel opóźnienia opis"/>
          <p:cNvSpPr txBox="1"/>
          <p:nvPr/>
        </p:nvSpPr>
        <p:spPr>
          <a:xfrm>
            <a:off x="6492240" y="3703320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cel z planu pracy, spełniony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Implementacja i ograniczenia</a:t>
            </a:r>
            <a:endParaRPr lang="en-US" sz="3200" dirty="0"/>
          </a:p>
        </p:txBody>
      </p:sp>
      <p:sp>
        <p:nvSpPr>
          <p:cNvPr id="3" name="Implementacja karta"/>
          <p:cNvSpPr/>
          <p:nvPr/>
        </p:nvSpPr>
        <p:spPr>
          <a:xfrm>
            <a:off x="457200" y="1188720"/>
            <a:ext cx="4023360" cy="329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Implementacja tytuł"/>
          <p:cNvSpPr txBox="1"/>
          <p:nvPr/>
        </p:nvSpPr>
        <p:spPr>
          <a:xfrm>
            <a:off x="64008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Implementacja</a:t>
            </a:r>
            <a:endParaRPr lang="en-US" sz="1800" dirty="0"/>
          </a:p>
        </p:txBody>
      </p:sp>
      <p:sp>
        <p:nvSpPr>
          <p:cNvPr id="5" name="Implementacja lista"/>
          <p:cNvSpPr txBox="1"/>
          <p:nvPr/>
        </p:nvSpPr>
        <p:spPr>
          <a:xfrm>
            <a:off x="640080" y="169164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RouterService w DeepFellow Infra v0.34.0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57 nowych testów, cały zestaw (5157) zielony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Test end-to-end z modelami Gemini: routing, nagłówki, streaming, fallback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Opóźnienie warstw 1+2: mediana 20,6 ms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Zmiana decyzji po literówkach i parafrazach: 6–10% pytań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Z Qwenem 8B/27B: pierwszy test udany, brakuje awarii i restartu</a:t>
            </a:r>
            <a:endParaRPr lang="en-US" sz="1400" dirty="0"/>
          </a:p>
        </p:txBody>
      </p:sp>
      <p:sp>
        <p:nvSpPr>
          <p:cNvPr id="6" name="Ograniczenia karta"/>
          <p:cNvSpPr/>
          <p:nvPr/>
        </p:nvSpPr>
        <p:spPr>
          <a:xfrm>
            <a:off x="4663440" y="1188720"/>
            <a:ext cx="4023360" cy="3291840"/>
          </a:xfrm>
          <a:prstGeom prst="rect">
            <a:avLst/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Ograniczenia tytuł"/>
          <p:cNvSpPr txBox="1"/>
          <p:nvPr/>
        </p:nvSpPr>
        <p:spPr>
          <a:xfrm>
            <a:off x="484632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1"/>
                </a:solidFill>
              </a:rPr>
              <a:t>Ograniczenia</a:t>
            </a:r>
            <a:endParaRPr lang="en-US" sz="1800" dirty="0"/>
          </a:p>
        </p:txBody>
      </p:sp>
      <p:sp>
        <p:nvSpPr>
          <p:cNvPr id="8" name="Ograniczenia lista"/>
          <p:cNvSpPr txBox="1"/>
          <p:nvPr/>
        </p:nvSpPr>
        <p:spPr>
          <a:xfrm>
            <a:off x="4846320" y="1691640"/>
            <a:ext cx="3657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Jedna para modeli i jeden sędzia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Dane mało „firmowe”: 63% to czaty (Arena, WildChat)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Duży model ma jedną próbkę na pytanie</a:t>
            </a:r>
            <a:endParaRPr lang="en-US" sz="1400" dirty="0"/>
          </a:p>
          <a:p>
            <a:pPr marL="342900" indent="-342900"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Wiedza i kod słabo wykrywane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Dodatkowe dane: plan</a:t>
            </a:r>
            <a:endParaRPr lang="en-US" sz="3200" dirty="0"/>
          </a:p>
        </p:txBody>
      </p:sp>
      <p:graphicFrame>
        <p:nvGraphicFramePr>
          <p:cNvPr id="16" name="Tabela zbiorów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82296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3200400"/>
                <a:gridCol w="2103120"/>
                <a:gridCol w="155448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Zbiór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Rodzaj pytań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Po co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1F2A"/>
                          </a:solidFill>
                        </a:rPr>
                        <a:t>Licencja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3F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Dolly 15k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Polecenia biurowe: streszczanie, wyciąganie informacji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Użycie bliższe firmie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CC BY-SA 3.0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CodeChat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Prawdziwe rozmowy programistów z modelami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Więcej prawdziwego kodu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ODC-By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Spider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Pytania do baz danych, odpowiedź w języku SQL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Nowy rodzaj zadań: SQL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CC BY-SA 4.0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Arena 140k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Ok. 135 tys. prawdziwych rozmów, część o kodzie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Więcej różnych pytań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B1F2A"/>
                          </a:solidFill>
                        </a:rPr>
                        <a:t>CC BY 4.0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7CE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Uwaga o pomiarze"/>
          <p:cNvSpPr txBox="1"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2"/>
                </a:solidFill>
              </a:rPr>
              <a:t>Każdy zbiór trzeba zmierzyć od zera: odpowiedzi obu modeli i sędzia. Zbiór testowy zostaje zamknięty. Licencje sprawdzone na kartach zbiorów.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B1F2A"/>
                </a:solidFill>
              </a:rPr>
              <a:t>Plan i prośba</a:t>
            </a:r>
            <a:endParaRPr lang="en-US" sz="3200" dirty="0"/>
          </a:p>
        </p:txBody>
      </p:sp>
      <p:sp>
        <p:nvSpPr>
          <p:cNvPr id="3" name="Plan numer 1"/>
          <p:cNvSpPr/>
          <p:nvPr/>
        </p:nvSpPr>
        <p:spPr>
          <a:xfrm>
            <a:off x="457200" y="1234440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Plan numer tekst 1"/>
          <p:cNvSpPr txBox="1"/>
          <p:nvPr/>
        </p:nvSpPr>
        <p:spPr>
          <a:xfrm>
            <a:off x="457200" y="12344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Plan krok 1"/>
          <p:cNvSpPr txBox="1"/>
          <p:nvPr/>
        </p:nvSpPr>
        <p:spPr>
          <a:xfrm>
            <a:off x="1097280" y="1179576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Dokończenie testu z Qwen 8B/27B (awaria, restart)</a:t>
            </a:r>
            <a:endParaRPr lang="en-US" sz="1600" dirty="0"/>
          </a:p>
        </p:txBody>
      </p:sp>
      <p:sp>
        <p:nvSpPr>
          <p:cNvPr id="6" name="Plan numer 2"/>
          <p:cNvSpPr/>
          <p:nvPr/>
        </p:nvSpPr>
        <p:spPr>
          <a:xfrm>
            <a:off x="457200" y="1947672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Plan numer tekst 2"/>
          <p:cNvSpPr txBox="1"/>
          <p:nvPr/>
        </p:nvSpPr>
        <p:spPr>
          <a:xfrm>
            <a:off x="457200" y="19476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Plan krok 2"/>
          <p:cNvSpPr txBox="1"/>
          <p:nvPr/>
        </p:nvSpPr>
        <p:spPr>
          <a:xfrm>
            <a:off x="1097280" y="1892808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Test warstwy 3 (go/no-go) w strefie niepewności</a:t>
            </a:r>
            <a:endParaRPr lang="en-US" sz="1600" dirty="0"/>
          </a:p>
        </p:txBody>
      </p:sp>
      <p:sp>
        <p:nvSpPr>
          <p:cNvPr id="9" name="Plan numer 3"/>
          <p:cNvSpPr/>
          <p:nvPr/>
        </p:nvSpPr>
        <p:spPr>
          <a:xfrm>
            <a:off x="457200" y="2660904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0" name="Plan numer tekst 3"/>
          <p:cNvSpPr txBox="1"/>
          <p:nvPr/>
        </p:nvSpPr>
        <p:spPr>
          <a:xfrm>
            <a:off x="457200" y="26609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Plan krok 3"/>
          <p:cNvSpPr txBox="1"/>
          <p:nvPr/>
        </p:nvSpPr>
        <p:spPr>
          <a:xfrm>
            <a:off x="1097280" y="260604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Dodatkowe dane bliższe wdrożeniu (poprzedni slajd)</a:t>
            </a:r>
            <a:endParaRPr lang="en-US" sz="1600" dirty="0"/>
          </a:p>
        </p:txBody>
      </p:sp>
      <p:sp>
        <p:nvSpPr>
          <p:cNvPr id="12" name="Plan numer 4"/>
          <p:cNvSpPr/>
          <p:nvPr/>
        </p:nvSpPr>
        <p:spPr>
          <a:xfrm>
            <a:off x="457200" y="3374136"/>
            <a:ext cx="457200" cy="45720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13" name="Plan numer tekst 4"/>
          <p:cNvSpPr txBox="1"/>
          <p:nvPr/>
        </p:nvSpPr>
        <p:spPr>
          <a:xfrm>
            <a:off x="457200" y="33741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14" name="Plan krok 4"/>
          <p:cNvSpPr txBox="1"/>
          <p:nvPr/>
        </p:nvSpPr>
        <p:spPr>
          <a:xfrm>
            <a:off x="1097280" y="3319272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Jednorazowe otwarcie zbioru testowego</a:t>
            </a:r>
            <a:endParaRPr lang="en-US" sz="1600" dirty="0"/>
          </a:p>
        </p:txBody>
      </p:sp>
      <p:sp>
        <p:nvSpPr>
          <p:cNvPr id="15" name="Prośba karta"/>
          <p:cNvSpPr/>
          <p:nvPr/>
        </p:nvSpPr>
        <p:spPr>
          <a:xfrm>
            <a:off x="5120640" y="1234440"/>
            <a:ext cx="3566160" cy="3200400"/>
          </a:xfrm>
          <a:prstGeom prst="rect">
            <a:avLst/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16" name="Prośba tytuł"/>
          <p:cNvSpPr txBox="1"/>
          <p:nvPr/>
        </p:nvSpPr>
        <p:spPr>
          <a:xfrm>
            <a:off x="5349240" y="137160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3"/>
                </a:solidFill>
              </a:rPr>
              <a:t>Proszę o decyzję</a:t>
            </a:r>
            <a:endParaRPr lang="en-US" sz="1800" dirty="0"/>
          </a:p>
        </p:txBody>
      </p:sp>
      <p:sp>
        <p:nvSpPr>
          <p:cNvPr id="17" name="Prośba tekst"/>
          <p:cNvSpPr txBox="1"/>
          <p:nvPr/>
        </p:nvSpPr>
        <p:spPr>
          <a:xfrm>
            <a:off x="5349240" y="1828800"/>
            <a:ext cx="31089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Zatwierdzenie celów liczbowych przed otwarciem zbioru testowego. Po otwarciu testu nie wolno ich zmieniać, a wyniki raportuję niezależnie od tego, czy cele są spełnione.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C9BB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Router">
  <a:themeElements>
    <a:clrScheme name="Router">
      <a:dk1>
        <a:srgbClr val="1B1F2A"/>
      </a:dk1>
      <a:lt1>
        <a:srgbClr val="FFFFFF"/>
      </a:lt1>
      <a:dk2>
        <a:srgbClr val="2B3347"/>
      </a:dk2>
      <a:lt2>
        <a:srgbClr val="F1F3F6"/>
      </a:lt2>
      <a:accent1>
        <a:srgbClr val="E4572E"/>
      </a:accent1>
      <a:accent2>
        <a:srgbClr val="1F8A8A"/>
      </a:accent2>
      <a:accent3>
        <a:srgbClr val="F2B134"/>
      </a:accent3>
      <a:accent4>
        <a:srgbClr val="5B6B8C"/>
      </a:accent4>
      <a:accent5>
        <a:srgbClr val="8C9BB5"/>
      </a:accent5>
      <a:accent6>
        <a:srgbClr val="C7CEDB"/>
      </a:accent6>
      <a:hlink>
        <a:srgbClr val="1F8A8A"/>
      </a:hlink>
      <a:folHlink>
        <a:srgbClr val="5B6B8C"/>
      </a:folHlink>
    </a:clrScheme>
    <a:fontScheme name="Router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Routing zapytań według złożoności – postępy pracy</dc:title>
  <dc:subject>PptxGenJS Presentation</dc:subject>
  <dc:creator>Philip Melkowski</dc:creator>
  <cp:lastModifiedBy>Philip Melkowski</cp:lastModifiedBy>
  <cp:revision>1</cp:revision>
  <dcterms:created xsi:type="dcterms:W3CDTF">2026-10-20T18:11:21Z</dcterms:created>
  <dcterms:modified xsi:type="dcterms:W3CDTF">2026-10-20T18:11:21Z</dcterms:modified>
</cp:coreProperties>
</file>